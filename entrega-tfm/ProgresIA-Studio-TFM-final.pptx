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971a2982a2c4267" Type="http://schemas.openxmlformats.org/officeDocument/2006/relationships/officeDocument" Target="ppt/presentation.xml"/><Relationship Id="Raebcdb7147d24516" Type="http://schemas.openxmlformats.org/officeDocument/2006/relationships/extended-properties" Target="docProps/app.xml"/><Relationship Id="Rcb92238ffc93446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cc5bb45fd4547"/>
  </p:sldMasterIdLst>
  <p:notesMasterIdLst>
    <p:notesMasterId xmlns:r="http://schemas.openxmlformats.org/officeDocument/2006/relationships" r:id="R9544a57391584c83"/>
  </p:notesMasterIdLst>
  <p:sldIdLst>
    <p:sldId xmlns:r="http://schemas.openxmlformats.org/officeDocument/2006/relationships" id="256" r:id="R390acd13c9de4443"/>
    <p:sldId xmlns:r="http://schemas.openxmlformats.org/officeDocument/2006/relationships" id="257" r:id="R3dbc32f20886468a"/>
    <p:sldId xmlns:r="http://schemas.openxmlformats.org/officeDocument/2006/relationships" id="258" r:id="R94d20b062c85463f"/>
    <p:sldId xmlns:r="http://schemas.openxmlformats.org/officeDocument/2006/relationships" id="259" r:id="Rfb2f8e01dc9b4c7d"/>
    <p:sldId xmlns:r="http://schemas.openxmlformats.org/officeDocument/2006/relationships" id="260" r:id="R04808c7d6099481d"/>
    <p:sldId xmlns:r="http://schemas.openxmlformats.org/officeDocument/2006/relationships" id="261" r:id="R14aa9e791ba84bae"/>
    <p:sldId xmlns:r="http://schemas.openxmlformats.org/officeDocument/2006/relationships" id="262" r:id="R277b80133f1e403a"/>
    <p:sldId xmlns:r="http://schemas.openxmlformats.org/officeDocument/2006/relationships" id="263" r:id="R308ba30bd8604785"/>
    <p:sldId xmlns:r="http://schemas.openxmlformats.org/officeDocument/2006/relationships" id="264" r:id="Rb221f10ca5a64ce2"/>
    <p:sldId xmlns:r="http://schemas.openxmlformats.org/officeDocument/2006/relationships" id="265" r:id="Re79fda4974f24a78"/>
    <p:sldId xmlns:r="http://schemas.openxmlformats.org/officeDocument/2006/relationships" id="266" r:id="R81183d96cba54fab"/>
    <p:sldId xmlns:r="http://schemas.openxmlformats.org/officeDocument/2006/relationships" id="267" r:id="Rdf9b971beb164db7"/>
    <p:sldId xmlns:r="http://schemas.openxmlformats.org/officeDocument/2006/relationships" id="268" r:id="R386adf46575049c7"/>
    <p:sldId xmlns:r="http://schemas.openxmlformats.org/officeDocument/2006/relationships" id="269" r:id="R3b2075660d0341a7"/>
    <p:sldId xmlns:r="http://schemas.openxmlformats.org/officeDocument/2006/relationships" id="270" r:id="R31ed0e95a1644ca2"/>
    <p:sldId xmlns:r="http://schemas.openxmlformats.org/officeDocument/2006/relationships" id="271" r:id="R13d492af1b3943e6"/>
    <p:sldId xmlns:r="http://schemas.openxmlformats.org/officeDocument/2006/relationships" id="272" r:id="R6cc8b5aa349b42e9"/>
    <p:sldId xmlns:r="http://schemas.openxmlformats.org/officeDocument/2006/relationships" id="273" r:id="R6d94daae79e84acd"/>
    <p:sldId xmlns:r="http://schemas.openxmlformats.org/officeDocument/2006/relationships" id="274" r:id="Rfb4517258fa544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808c7d6099481d" Type="http://schemas.openxmlformats.org/officeDocument/2006/relationships/slide" Target="slides/slide5.xml"/><Relationship Id="R13d492af1b3943e6" Type="http://schemas.openxmlformats.org/officeDocument/2006/relationships/slide" Target="slides/slide16.xml"/><Relationship Id="R14aa9e791ba84bae" Type="http://schemas.openxmlformats.org/officeDocument/2006/relationships/slide" Target="slides/slide6.xml"/><Relationship Id="R1ecce6ac47904c32" Type="http://schemas.openxmlformats.org/officeDocument/2006/relationships/theme" Target="theme/theme1.xml"/><Relationship Id="R277b80133f1e403a" Type="http://schemas.openxmlformats.org/officeDocument/2006/relationships/slide" Target="slides/slide7.xml"/><Relationship Id="R302ebc132e8b443f" Type="http://schemas.openxmlformats.org/officeDocument/2006/relationships/presProps" Target="presProps.xml"/><Relationship Id="R308ba30bd8604785" Type="http://schemas.openxmlformats.org/officeDocument/2006/relationships/slide" Target="slides/slide8.xml"/><Relationship Id="R31ed0e95a1644ca2" Type="http://schemas.openxmlformats.org/officeDocument/2006/relationships/slide" Target="slides/slide15.xml"/><Relationship Id="R386adf46575049c7" Type="http://schemas.openxmlformats.org/officeDocument/2006/relationships/slide" Target="slides/slide13.xml"/><Relationship Id="R390acd13c9de4443" Type="http://schemas.openxmlformats.org/officeDocument/2006/relationships/slide" Target="slides/slide1.xml"/><Relationship Id="R3b2075660d0341a7" Type="http://schemas.openxmlformats.org/officeDocument/2006/relationships/slide" Target="slides/slide14.xml"/><Relationship Id="R3dbc32f20886468a" Type="http://schemas.openxmlformats.org/officeDocument/2006/relationships/slide" Target="slides/slide2.xml"/><Relationship Id="R6cc8b5aa349b42e9" Type="http://schemas.openxmlformats.org/officeDocument/2006/relationships/slide" Target="slides/slide17.xml"/><Relationship Id="R6d94daae79e84acd" Type="http://schemas.openxmlformats.org/officeDocument/2006/relationships/slide" Target="slides/slide18.xml"/><Relationship Id="R81183d96cba54fab" Type="http://schemas.openxmlformats.org/officeDocument/2006/relationships/slide" Target="slides/slide11.xml"/><Relationship Id="R94d20b062c85463f" Type="http://schemas.openxmlformats.org/officeDocument/2006/relationships/slide" Target="slides/slide3.xml"/><Relationship Id="R9544a57391584c83" Type="http://schemas.openxmlformats.org/officeDocument/2006/relationships/notesMaster" Target="notesMasters/notesMaster1.xml"/><Relationship Id="Ra2ccc5bb45fd4547" Type="http://schemas.openxmlformats.org/officeDocument/2006/relationships/slideMaster" Target="slideMasters/slideMaster1.xml"/><Relationship Id="Rb221f10ca5a64ce2" Type="http://schemas.openxmlformats.org/officeDocument/2006/relationships/slide" Target="slides/slide9.xml"/><Relationship Id="Rdf9b971beb164db7" Type="http://schemas.openxmlformats.org/officeDocument/2006/relationships/slide" Target="slides/slide12.xml"/><Relationship Id="Re79fda4974f24a78" Type="http://schemas.openxmlformats.org/officeDocument/2006/relationships/slide" Target="slides/slide10.xml"/><Relationship Id="Rfb2f8e01dc9b4c7d" Type="http://schemas.openxmlformats.org/officeDocument/2006/relationships/slide" Target="slides/slide4.xml"/><Relationship Id="Rfb30abe9c3b74032" Type="http://schemas.openxmlformats.org/officeDocument/2006/relationships/tableStyles" Target="tableStyles.xml"/><Relationship Id="Rfb4517258fa54401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000eeba0acca44f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44e0c56318b4da8" Type="http://schemas.openxmlformats.org/officeDocument/2006/relationships/slide" Target="../slides/slide1.xml"/><Relationship Id="Ra5e73324c3924dc8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2ca5c177d37442b" Type="http://schemas.openxmlformats.org/officeDocument/2006/relationships/notesMaster" Target="../notesMasters/notesMaster1.xml"/><Relationship Id="Rffeb1369ba9c4c4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3ff26a458754ae1" Type="http://schemas.openxmlformats.org/officeDocument/2006/relationships/notesMaster" Target="../notesMasters/notesMaster1.xml"/><Relationship Id="Ra0926fd3f7064e9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9948ee9ce7249c6" Type="http://schemas.openxmlformats.org/officeDocument/2006/relationships/notesMaster" Target="../notesMasters/notesMaster1.xml"/><Relationship Id="Ra5030786d3c640c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e495c80fa0e24142" Type="http://schemas.openxmlformats.org/officeDocument/2006/relationships/notesMaster" Target="../notesMasters/notesMaster1.xml"/><Relationship Id="Rf6f00702d4a945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6783f5b319a4a75" Type="http://schemas.openxmlformats.org/officeDocument/2006/relationships/notesMaster" Target="../notesMasters/notesMaster1.xml"/><Relationship Id="R9ea72422795647d4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9405b65aaa44cc5" Type="http://schemas.openxmlformats.org/officeDocument/2006/relationships/notesMaster" Target="../notesMasters/notesMaster1.xml"/><Relationship Id="R68e48af95ddb4af4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601dc5e99c24936" Type="http://schemas.openxmlformats.org/officeDocument/2006/relationships/slide" Target="../slides/slide8.xml"/><Relationship Id="R870bfed931be4dc8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ae7c9986a5446a9" Type="http://schemas.openxmlformats.org/officeDocument/2006/relationships/notesMaster" Target="../notesMasters/notesMaster1.xml"/><Relationship Id="Re4c27a497ef941c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21476c95b8747a9" Type="http://schemas.openxmlformats.org/officeDocument/2006/relationships/notesMaster" Target="../notesMasters/notesMaster1.xml"/><Relationship Id="Ra27de340dc77418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d9b932632c564f8f" Type="http://schemas.openxmlformats.org/officeDocument/2006/relationships/notesMaster" Target="../notesMasters/notesMaster1.xml"/><Relationship Id="Re5daae91eb9c48a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ddc583ded4b44d3" Type="http://schemas.openxmlformats.org/officeDocument/2006/relationships/notesMaster" Target="../notesMasters/notesMaster1.xml"/><Relationship Id="Re6589e56f49f412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a65fb24b80104c28" Type="http://schemas.openxmlformats.org/officeDocument/2006/relationships/notesMaster" Target="../notesMasters/notesMaster1.xml"/><Relationship Id="Rcee796de9f064ee8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f6bb3b194584b42" Type="http://schemas.openxmlformats.org/officeDocument/2006/relationships/slide" Target="../slides/slide14.xml"/><Relationship Id="Rbbd9c3cccd414a2a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6d2f375300240f5" Type="http://schemas.openxmlformats.org/officeDocument/2006/relationships/slide" Target="../slides/slide15.xml"/><Relationship Id="Rf61686251fde4483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582230ad528497f" Type="http://schemas.openxmlformats.org/officeDocument/2006/relationships/notesMaster" Target="../notesMasters/notesMaster1.xml"/><Relationship Id="Rfd275ee4b1b84bfc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ffc584da7214e65" Type="http://schemas.openxmlformats.org/officeDocument/2006/relationships/slide" Target="../slides/slide17.xml"/><Relationship Id="Rac59dd2bd7134a4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d9edc098b5404954" Type="http://schemas.openxmlformats.org/officeDocument/2006/relationships/notesMaster" Target="../notesMasters/notesMaster1.xml"/><Relationship Id="Rfe2e8004da624045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e586097aa9d44b22" Type="http://schemas.openxmlformats.org/officeDocument/2006/relationships/slide" Target="../slides/slide19.xml"/><Relationship Id="Rf18eae736f1e485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c59db2a3b1f42e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eee1330837b4fee" Type="http://schemas.openxmlformats.org/officeDocument/2006/relationships/theme" Target="theme/theme2.xml"/><Relationship Id="R73619bf104494399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19bf1044943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d243dafb39d4456e" Type="http://schemas.openxmlformats.org/officeDocument/2006/relationships/slideLayout" Target="../slideLayouts/slideLayout1.xml"/><Relationship Id="Rf0a3dbb452d045a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a540e0f417143a2" Type="http://schemas.openxmlformats.org/officeDocument/2006/relationships/notesSlide" Target="../notesSlides/notesSlide2.xml"/><Relationship Id="Rb57d2ac14d9043c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7b1926c18cd422d" Type="http://schemas.openxmlformats.org/officeDocument/2006/relationships/notesSlide" Target="../notesSlides/notesSlide3.xml"/><Relationship Id="R9e600995fe49418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c441c1da2b5d4b0d" Type="http://schemas.openxmlformats.org/officeDocument/2006/relationships/slideLayout" Target="../slideLayouts/slideLayout1.xml"/><Relationship Id="Reb60d38a1aa74d5d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e2e0183b0e94d97" Type="http://schemas.openxmlformats.org/officeDocument/2006/relationships/slideLayout" Target="../slideLayouts/slideLayout1.xml"/><Relationship Id="Rb78b27007c27479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acc556329784686" Type="http://schemas.openxmlformats.org/officeDocument/2006/relationships/notesSlide" Target="../notesSlides/notesSlide6.xml"/><Relationship Id="R7936470ac2f744f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eefe6bfa67c4b39" Type="http://schemas.openxmlformats.org/officeDocument/2006/relationships/notesSlide" Target="../notesSlides/notesSlide7.xml"/><Relationship Id="Re95bcd4a57354cc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8569b8f069a544ae" Type="http://schemas.openxmlformats.org/officeDocument/2006/relationships/notesSlide" Target="../notesSlides/notesSlide8.xml"/><Relationship Id="Rddaedb438117434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810e1229b3a4580" Type="http://schemas.openxmlformats.org/officeDocument/2006/relationships/slideLayout" Target="../slideLayouts/slideLayout1.xml"/><Relationship Id="R91a471a908ea453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d8796778cfe4c21" Type="http://schemas.openxmlformats.org/officeDocument/2006/relationships/slideLayout" Target="../slideLayouts/slideLayout1.xml"/><Relationship Id="R4be20f831b6043ac" Type="http://schemas.openxmlformats.org/officeDocument/2006/relationships/image" Target="../media/image.jpeg"/><Relationship Id="R59b038dff528473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723349429194318" Type="http://schemas.openxmlformats.org/officeDocument/2006/relationships/notesSlide" Target="../notesSlides/notesSlide11.xml"/><Relationship Id="Re0883c62015d49c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12898f432bb4298" Type="http://schemas.openxmlformats.org/officeDocument/2006/relationships/slideLayout" Target="../slideLayouts/slideLayout1.xml"/><Relationship Id="Re965d105570b461c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b434a2a5b08448d" Type="http://schemas.openxmlformats.org/officeDocument/2006/relationships/notesSlide" Target="../notesSlides/notesSlide13.xml"/><Relationship Id="R836cdba8dd404e7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92d6e6b0a3144a8" Type="http://schemas.openxmlformats.org/officeDocument/2006/relationships/notesSlide" Target="../notesSlides/notesSlide14.xml"/><Relationship Id="Rec71b18b720a4e3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fe4d7a03cf14e60" Type="http://schemas.openxmlformats.org/officeDocument/2006/relationships/slideLayout" Target="../slideLayouts/slideLayout1.xml"/><Relationship Id="Rac8f0902eb0c483c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0fd8c4d1d8f4364" Type="http://schemas.openxmlformats.org/officeDocument/2006/relationships/slideLayout" Target="../slideLayouts/slideLayout1.xml"/><Relationship Id="Recb4bccc9e5e487d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6920d0e54ba448a" Type="http://schemas.openxmlformats.org/officeDocument/2006/relationships/notesSlide" Target="../notesSlides/notesSlide17.xml"/><Relationship Id="Rd2de23c653f649f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5359d9ba6bc74608" Type="http://schemas.openxmlformats.org/officeDocument/2006/relationships/notesSlide" Target="../notesSlides/notesSlide18.xml"/><Relationship Id="R992d6e13338f42c6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b6251ee329d471d" Type="http://schemas.openxmlformats.org/officeDocument/2006/relationships/slideLayout" Target="../slideLayouts/slideLayout1.xml"/><Relationship Id="R9c9971263a184f7a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band">
            <a:extLst xmlns:a="http://schemas.openxmlformats.org/drawingml/2006/main">
              <a:ext uri="{FF2B5EF4-FFF2-40B4-BE49-F238E27FC236}">
                <a16:creationId xmlns:a16="http://schemas.microsoft.com/office/drawing/2014/main" id="{FDB7A3EF-49BE-4922-87DB-A846B7E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C6DD9D-6215-4CCD-A156-EE72DAA3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PROYECTO FINAL DE MÁSTER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2CC0C4E-98BE-43B8-8A66-EC9311C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ProgresIA</a:t>
            </a:r>
          </a:p>
          <a:p xmlns:a="http://schemas.openxmlformats.org/drawingml/2006/main">
            <a:pPr algn="l"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Studio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38C48D-4542-4DE5-8B11-2950A54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De una idea a un MVP mediante desarrollo guiado por especificaciones e inteligencia artificial.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595459-D1CA-49DF-84A0-849D478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Roberto Manca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AEAF34-E011-4AB1-815D-685B6B64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Máster en Desarrollo de Software con IA · 2026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CEB020-CC84-424E-ACC0-005EF37E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52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701D8B-4FA8-4CAA-AE67-7B85696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06432"/>
                </a:solidFill>
              </a:defRPr>
            </a:pPr>
            <a:r>
              <a:rPr sz="2550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659ACB-44EF-4459-9B15-1EB8FB2E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ESPECIFICACIÓN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63768EB-16FB-49FC-8477-B933605E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06432"/>
                </a:solidFill>
              </a:defRPr>
            </a:pPr>
            <a:r>
              <a:rPr sz="2550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ADEEB8-F0F9-4858-A47B-08A1D39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9C1AEC-7DAA-4969-8879-BC883E4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Código · documentación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issues · tutorial · ZIP</a:t>
            </a:r>
          </a:p>
        </p:txBody>
      </p:sp>
    </p:spTree>
    <p:extLst>
      <p:ext uri="{BB962C8B-B14F-4D97-AF65-F5344CB8AC3E}">
        <p14:creationId xmlns:p14="http://schemas.microsoft.com/office/powerpoint/2010/main" val="749840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903093-015B-47BE-B13F-C1FBDC7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MOTIVACIÓN EDUCATIVA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4814109-A734-40F3-8103-1768393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Aprender software hoy exige algo más que aprender sintaxis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46B96D6-1AD4-4AE7-9AC1-06C9862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1B90C5-EE47-4938-B621-AE1AE028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3B694A-20CC-4D90-9FF3-0BDBD255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4AA22D-D658-40D7-804E-923BDBCC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55555"/>
                </a:solidFill>
              </a:defRPr>
            </a:pPr>
            <a:r>
              <a:rPr sz="2175" b="0">
                <a:solidFill>
                  <a:srgbClr val="555555"/>
                </a:solidFill>
              </a:rPr>
              <a:t>La IA reduce el coste de escribir código, pero aumenta la importancia de saber formular, decidir y verificar.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48DD6F3-C4EC-4C33-8416-CA96F161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B98C87-9439-4E76-870D-8015C8BD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234433-F7BF-4A8E-80D8-C9380A26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FORMULAR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768061F-9E59-4DBA-8A6A-F6FF9FC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Transformar una necesidad ambigua en requisitos comprobables.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22216A8-5C89-4539-89D9-D2C3B40F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14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5AB5EB3-3E78-4910-8D60-C92F658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AAD711-2926-4219-BEE1-6C2FD33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DECIDIR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D7B327-3A3D-40FE-8DA4-2DACE76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43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Elegir arquitectura y tecnología entendiendo sus compromisos.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6C08C030-EE19-4374-A0E1-CB95CA52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2A20AF-CA98-4330-936A-39F873F8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06432"/>
                </a:solidFill>
              </a:defRPr>
            </a:pPr>
            <a:r>
              <a:rPr sz="180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C93A79A-3B42-40AE-92B6-CEB5EA96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VERIFICAR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0AE2FB-8083-4E95-9DA6-D1421F2E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433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Revisar seguridad, pruebas, coherencia y mantenibilidad.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7D7471-AF1A-43E5-BBBE-41029C76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La competencia del futuro no será «pedir código», sino dirigir un proceso de ingeniería asistido por IA.</a:t>
            </a:r>
          </a:p>
        </p:txBody>
      </p:sp>
    </p:spTree>
    <p:extLst>
      <p:ext uri="{BB962C8B-B14F-4D97-AF65-F5344CB8AC3E}">
        <p14:creationId xmlns:p14="http://schemas.microsoft.com/office/powerpoint/2010/main" val="806207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EA2206-006C-4237-9B8C-8E7429EB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EL FUTURO DEL DESARROLLO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3AA524-95A4-4F2F-BA5F-95C089F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 escribir cada línea a diseñar sistemas con agentes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A1E4EB9D-269B-49E9-89D9-CA2C1ED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A27B72-0591-4DB7-AF1D-09502416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AYER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4A7E43-6A63-4248-81D5-9E00E24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Código manual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959EFA-DDE4-4DD3-8E82-F84D00E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La productividad dependía principalmente de dominar herramientas y sintaxis.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E5D6D1B-AF51-4D46-9E8C-1AF9ED50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431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4CCFA2-F6EF-4292-8FE9-942DBE02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HOY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B8A147-62B0-496F-B6DA-DEAD47BD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0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Copilotos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DB67D7F-3031-4D71-844C-CA2E10A2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623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La IA sugiere fragmentos, explica errores y acelera tareas concretas.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DCAF2D4-BB62-41E1-9306-B625217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EBEF1C-E84D-4644-8231-BC0D1718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MAÑANA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7773DB-1823-4803-9102-5229BA30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Agentes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6CD1C8-AB69-4315-9191-1137D17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Equipos humano-IA ejecutarán planes completos bajo especificaciones y controles.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4111665-0E33-43B1-94D4-DDF26C09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 especificación será el lenguaje común entre personas, modelos y herramientas.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39E24E1-DF19-4B9E-91A1-7119322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529C7E-6AE3-44C1-962B-49D410DB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FUTURO DE LA IA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3F7F813-F5E1-4A6E-A8DB-EC21B78A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7622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82C1238-7988-4912-881F-5F205D66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MODELO PEDAGÓGICO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F00DBC4-C562-447B-BB3D-A15A21E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La IA como tutor de proceso, no como caja negra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457F1BA9-92A0-497D-AE2C-172D164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9CE765-9295-4605-BAF2-81C9311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E79EE3-A5CF-4EDE-82E9-D59C437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35FCD1-ECB1-4E5B-9230-864A9FB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ProgresIA convierte cada decisión técnica en una oportunidad de aprendizaje transferible.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84E49AE-3606-4378-A485-979A6742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525C60-A683-4329-BB98-F74F6E4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BC6473-BB5E-43D9-AFDD-55D8827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76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Preguntar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C6D994-3153-47FD-9779-BEA0746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764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wizard obliga a concretar problema, usuarios, alcance y restricciones.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D6F51D3-E685-469C-8893-6A7B35D6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4760207-1A91-4A46-BD57-35353D11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DF89A9-A607-4A26-B1CB-716618C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Explicar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0612223-D121-4156-884E-03E521D1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956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Cada propuesta tecnológica muestra ventajas, límites y nivel de dificultad.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5C64020F-58FC-4D83-9FAF-03D63D15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CCD68B-9C5F-42FB-96D6-C73CF11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BB69F4-3915-4A05-A4A1-879D0B2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Practicar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AF522D-0569-4313-9954-EE1CC23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147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tutorial y el código base permiten ejecutar lo especificado.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C38BD3A2-8BB1-4497-9782-440EDEEC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FF3B5C4-18A8-4EBA-9C2D-ABD2BEF9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AE837EF-8B57-4123-963A-6B5C88DE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Reflexionar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40964C2-6B36-4354-A178-A6A6FFA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339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OpenSpec, ADR y criterios de aceptación dejan trazabilidad de las decisiones.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1F2720D3-1236-4256-B9F8-144963C8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8AE6BF3-584E-4DB4-8682-FED129C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8864B"/>
                </a:solidFill>
              </a:defRPr>
            </a:pPr>
            <a:r>
              <a:rPr sz="1425" b="1">
                <a:solidFill>
                  <a:srgbClr val="18864B"/>
                </a:solidFill>
              </a:rPr>
              <a:t>Resultado: el estudiante no solo obtiene un MVP; aprende una secuencia que puede reutilizar.</a:t>
            </a:r>
          </a:p>
        </p:txBody>
      </p:sp>
    </p:spTree>
    <p:extLst>
      <p:ext uri="{BB962C8B-B14F-4D97-AF65-F5344CB8AC3E}">
        <p14:creationId xmlns:p14="http://schemas.microsoft.com/office/powerpoint/2010/main" val="1369440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619DBFB-27FE-4F7F-8BD8-0959BE69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CONTEXTO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87114AB-9A11-4B53-AAE5-FD7F1C4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El problema no es generar código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135A7AD-2C5E-4863-9C96-195A2A0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00E174-2E8F-41BB-9FFD-FA955D8C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C07D24-0EEE-47CD-8D2A-B8020209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20AC05-53FA-4A45-940C-E5AC3EF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55555"/>
                </a:solidFill>
              </a:defRPr>
            </a:pPr>
            <a:r>
              <a:rPr sz="2175" b="0">
                <a:solidFill>
                  <a:srgbClr val="555555"/>
                </a:solidFill>
              </a:rPr>
              <a:t>Es generar código sin contexto, sin decisiones explícitas y sin una forma fiable de continuar.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2C4E0671-6A3B-464A-A653-A9D3E4B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5C951D-83F6-44FA-83D9-5A29703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EB0EEE-78AA-4497-A0B3-5C721C30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Especificación débil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45CE31-5A79-48B5-86B6-0B77B70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Los requisitos quedan en conversaciones dispersas y el alcance cambia mientras se programa.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79BD237-14E9-4B83-A5B3-E0C69269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808944-4C2D-48D9-86C3-C569D191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3A37C0-A44B-4D61-9077-F244161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IA sin memoria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BAD06BE-5690-421F-B407-41C66CCC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481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5D5D5"/>
                </a:solidFill>
              </a:defRPr>
            </a:pPr>
            <a:r>
              <a:rPr sz="1425" b="0">
                <a:solidFill>
                  <a:srgbClr val="D5D5D5"/>
                </a:solidFill>
              </a:rPr>
              <a:t>Cada sesión vuelve a interpretar el proyecto y produce decisiones incompatibles.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6CDB55A-F9CF-44BE-A1EF-25567883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0B348B-B4AF-40F2-9384-DB0CBAF5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06432"/>
                </a:solidFill>
              </a:defRPr>
            </a:pPr>
            <a:r>
              <a:rPr sz="225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C0DD58-8557-42B4-A010-6F1124BD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Aprendizaje invisible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A8B429A-DAED-426D-9F1D-690578B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481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El alumno recibe una respuesta, pero no una metodología reutilizable para construir el siguiente proyecto.</a:t>
            </a:r>
          </a:p>
        </p:txBody>
      </p:sp>
    </p:spTree>
    <p:extLst>
      <p:ext uri="{BB962C8B-B14F-4D97-AF65-F5344CB8AC3E}">
        <p14:creationId xmlns:p14="http://schemas.microsoft.com/office/powerpoint/2010/main" val="295667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AA2205-FE83-4E10-9E8E-40891494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PROPUESTA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ACF2E0E-6CB6-412C-878D-5BF52FC6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La solución: especificar antes de generar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2C2F95E-E384-4C5F-9EE8-AA3C9D6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2AC4D0-37BC-434A-9864-D801533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4F3147-C1C1-4F04-897B-33BB2F3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54227B-8F0D-434A-8CAF-B2E9E74D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ProgresIA Studio convierte la conversación inicial en una cadena de artefactos coherentes.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12211F78-B198-4D2C-8317-FE71A95A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BCFDEB-86EE-4485-8339-18B1F14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Guía al usuario mediante un wizard conversacional adaptado a su nivel técnico.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484DB382-0C0E-47BC-9C0E-9AC0862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2022E4-A8C5-42CF-AADB-90BF83AF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Convierte la idea en requisitos, arquitectura y un OpenSpec reutilizable.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5D0F783F-AFF4-4D8E-98C2-8C04339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A4A1173-DB98-45F6-835C-3D2B8CB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57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Genera issues, tutorial, código base, documentación y un ZIP validado.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0AF73F6E-8A72-477B-A909-313B339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E0FD428-45C6-495D-8F3D-7D4F3573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19625"/>
            <a:ext cx="659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Permite continuar el desarrollo con personas o asistentes de IA sin perder contexto.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E3B7525A-71A4-4714-9FBE-6F77506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4A674E-1E82-4998-9541-FD4053C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DIFERENCIADOR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A40AEA-BD0E-4BAD-89E0-3A06EEA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es solo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un generador.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D25A5B8-DB15-46F5-B611-F3AF269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D5D5"/>
                </a:solidFill>
              </a:defRPr>
            </a:pPr>
            <a:r>
              <a:rPr sz="1500" b="0">
                <a:solidFill>
                  <a:srgbClr val="D5D5D5"/>
                </a:solidFill>
              </a:rPr>
              <a:t>Es una metodología educativa convertida en producto software.</a:t>
            </a:r>
          </a:p>
        </p:txBody>
      </p:sp>
    </p:spTree>
    <p:extLst>
      <p:ext uri="{BB962C8B-B14F-4D97-AF65-F5344CB8AC3E}">
        <p14:creationId xmlns:p14="http://schemas.microsoft.com/office/powerpoint/2010/main" val="653945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BE3CA39-6C1B-4A1D-BDC6-9A49CF9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METODOLOGÍA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038640-30D9-43D6-A640-050584D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 pipeline SDD con una única fuente de verdad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84738D-D381-496F-AB7F-46EE43FA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62926D4-06C2-4E21-BC27-49645C99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8AED41F-B593-4B03-8B8C-71AA04F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1A3DC7BB-8599-416C-833D-8A6FAD4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E4E08A-663E-4FDF-9A5D-1EF056DC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9DDBD4-C528-478A-9905-3CD295D0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Idea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65B781-637C-408A-BA6A-690AE418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Conversación guiada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5B785D-2541-4352-933F-C2D4809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1EE12B65-50D3-4815-990D-B91AC5A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1CC085-F9AC-492D-A4B0-BBBFA61E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700AA9-AFD9-4E8D-B0CC-D659FAFB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Requisitos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5FBDCF-7ADC-4A1A-AAA4-61FFEAB6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RF, RNF y stories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21E986-0824-42CC-9506-7D68CB98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18E97914-B42D-4A06-B168-CF5E3D58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4F0147-6543-46BF-A830-E6F58B0B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89FA51-76B0-46A6-9606-F18326B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Arquitectura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51293DF-1216-4C49-914B-38C75FCC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Stack y decisiones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1FF7B7-9BC0-41E1-81C4-943DC9F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21" name="stage-4">
            <a:extLst xmlns:a="http://schemas.openxmlformats.org/drawingml/2006/main">
              <a:ext uri="{FF2B5EF4-FFF2-40B4-BE49-F238E27FC236}">
                <a16:creationId xmlns:a16="http://schemas.microsoft.com/office/drawing/2014/main" id="{3E546E80-F4C6-4EA9-9FC7-618FBFBB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D9E3889-ABD7-4924-BABC-28918ED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A41B5B6-9652-481E-A1A2-8AFA478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OpenSpec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B830D1-A461-4997-9403-AACF95C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Contrato central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084175B-6A21-40A8-901B-873F22A7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26" name="stage-5">
            <a:extLst xmlns:a="http://schemas.openxmlformats.org/drawingml/2006/main">
              <a:ext uri="{FF2B5EF4-FFF2-40B4-BE49-F238E27FC236}">
                <a16:creationId xmlns:a16="http://schemas.microsoft.com/office/drawing/2014/main" id="{9E3B3D2C-0CB7-40E0-B0DF-FD8E6642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9435026-FC77-43A1-99E7-A88F2D6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55A9B55-05F1-4398-9492-8B2DC26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Issues + tutorial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443033A-F38B-4C3D-B84E-6EB7301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Plan ejecutable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902B3E1-6ACA-440C-B511-6E68D4A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31" name="stage-6">
            <a:extLst xmlns:a="http://schemas.openxmlformats.org/drawingml/2006/main">
              <a:ext uri="{FF2B5EF4-FFF2-40B4-BE49-F238E27FC236}">
                <a16:creationId xmlns:a16="http://schemas.microsoft.com/office/drawing/2014/main" id="{3F1C52F2-7043-4289-92F4-E342526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986943C-1A6F-4B83-87FF-1533C53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26557E7-8A74-48B0-864A-5AEDB0E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Código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FEDF36F-DCB3-4396-8790-0FF1BF0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Scaffold por stack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61D0884-F911-4965-9BA1-419C024F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432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06432"/>
                </a:solidFill>
              </a:defRPr>
            </a:pPr>
            <a:r>
              <a:rPr sz="1875" b="1">
                <a:solidFill>
                  <a:srgbClr val="F06432"/>
                </a:solidFill>
              </a:rPr>
              <a:t>→</a:t>
            </a:r>
          </a:p>
        </p:txBody>
      </p:sp>
      <p:sp>
        <p:nvSpPr>
          <p:cNvPr id="36" name="stage-7">
            <a:extLst xmlns:a="http://schemas.openxmlformats.org/drawingml/2006/main">
              <a:ext uri="{FF2B5EF4-FFF2-40B4-BE49-F238E27FC236}">
                <a16:creationId xmlns:a16="http://schemas.microsoft.com/office/drawing/2014/main" id="{B2F46849-18A5-4E2E-B0E0-773A80D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1428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0E1DE20-3634-4F1F-9193-5EA5F01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38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599F2408-2AE9-45A1-8889-B444EDC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1462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ZIP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E3BF1460-15FC-4A5F-8577-5A499175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71825"/>
            <a:ext cx="10858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Entrega validada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E426389-9368-4CC2-B17D-F3977D5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34000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Todos los agentes posteriores consumen OpenSpec: si mejora la especificación, mejora todo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58146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02CD34-516B-40B9-A4AF-968B912E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FUENTE DE VERDAD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87A386-1B3E-48CF-B791-1571F55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OpenSpec convierte el contexto en un contrato reutilizable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9132C8BC-0FA2-48AC-94F4-87BD7FC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E78EFA-D395-436C-8801-6D98420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BC0A60-4FD7-4575-A7B6-9F1CB502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9686E548-BA56-4076-8259-CC426FC5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476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C6C5F6-0B76-4348-B80D-F1ACF239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6432"/>
                </a:solidFill>
              </a:defRPr>
            </a:pPr>
            <a:r>
              <a:rPr sz="1125" b="1">
                <a:solidFill>
                  <a:srgbClr val="F06432"/>
                </a:solidFill>
              </a:rPr>
              <a:t>OPENSPEC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024BA3-FBA9-400F-AD5D-4CE5584E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proyecto,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requisitos,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arquitectura,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datos,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API,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reglas,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  criterios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FDEBD2-2BF6-4658-B5E7-59D3A8C3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Una estructura legible por personas y por modelos.</a:t>
            </a:r>
          </a:p>
        </p:txBody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A572C211-DBC6-41C6-8470-8D5CB6C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DF55D10-9C19-48F8-9C50-804FC6C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Evita que cada agente vuelva a interpretar la idea desde cero.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A22BB60C-D730-4BE2-A18A-D2F2B36E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449D01D-8FC3-43DA-8CD2-60D6CDE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956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Permite auditar por qué se eligió una arquitectura o una entidad.</a:t>
            </a:r>
          </a:p>
        </p:txBody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92E5BBBB-B774-498F-A42B-BAA6F1C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B49C0E-DECE-49E7-84C9-C2DC025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195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Conecta requisitos, issues, tutorial, código y pruebas.</a:t>
            </a:r>
          </a:p>
        </p:txBody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C4913713-43AF-4B25-9524-CCC2ECE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C134E98-3FD6-44E5-AF12-209FB09A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43450"/>
            <a:ext cx="554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Hace posible retomar el proyecto en otra sesión o con otra IA.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56EE24-E5CD-49EE-96D7-3624B6A5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721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El valor no está en un prompt perfecto, sino en conservar decisiones verificables.</a:t>
            </a:r>
          </a:p>
        </p:txBody>
      </p:sp>
    </p:spTree>
    <p:extLst>
      <p:ext uri="{BB962C8B-B14F-4D97-AF65-F5344CB8AC3E}">
        <p14:creationId xmlns:p14="http://schemas.microsoft.com/office/powerpoint/2010/main" val="1628487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94B3D21-93C8-4775-9229-B4EBCAAE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ARQUITECTURA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578AF9-F6E7-4655-BC1C-C20B533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Monorepo modular, tres aplicaciones especializadas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FD4BF62-6199-46E6-A8FA-80FDB890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FCC1F1-A72D-40F7-9946-0ABF3DE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F8B6D5-6DC9-4455-9ECE-E2C6C04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786D0D1B-EFF2-4327-82F5-56A23BED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90AE84-39C2-4FE2-B133-A2EF6396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WEB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758F79-3A82-4AFA-B386-757DD62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React 19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6DF252-5E6D-4354-B7EC-A3CF880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Wizard, dashboard, revisión de resultados y descarga.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E6F31DD-D6CB-4BDB-9DD9-D3FCDA2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:5173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00FDBC8-416D-42E3-ACD6-C8464F49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62B5B0-F00A-4FD5-8987-0B7216A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API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E51501-53A9-474E-9553-5119442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NestJS 11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139282-5B5C-4BF0-9B14-B13379E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D5D5"/>
                </a:solidFill>
              </a:defRPr>
            </a:pPr>
            <a:r>
              <a:rPr sz="1500" b="0">
                <a:solidFill>
                  <a:srgbClr val="D5D5D5"/>
                </a:solidFill>
              </a:rPr>
              <a:t>Usuarios, proyectos, jobs, artefactos, GitHub y seguridad.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F2EE34-493D-4D36-AB23-C86C5F9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19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:3000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A9D2295-1AF1-4221-B72A-F574ABCE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3238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30DB80-6538-48E1-B83E-3128BB9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AI SERVICE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AFE45B-D2C0-439E-B714-2FE84C35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FastAPI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4F1F56C-A55B-45C5-B91D-DDE4990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Agentes, LLM routing, RAG y generación determinista.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54729E-9E7E-49CE-9453-D2898A3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19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:8003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AC48CB-0399-4265-B13F-E4EBCC63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PostgreSQL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8DE0EFE-EA6D-4119-8102-636B639D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Redis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999711-C3AC-4B91-920B-37B3877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Qdrant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843307A-A478-4457-BD70-14BE8E8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MinIO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BB31621-D118-47BF-8F15-10F7956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19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Mailpit</a:t>
            </a:r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685817" y="6144768"/>
            <a:ext cx="1083591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Aptos"/>
              </a:rPr>
              <a:t>Produccion: https://progresia.alumnes-monlau.com - Ubuntu/Plesk - Docker Compose - Nginx proxy</a:t>
            </a:r>
          </a:p>
        </p:txBody>
      </p:sp>
    </p:spTree>
    <p:extLst>
      <p:ext uri="{BB962C8B-B14F-4D97-AF65-F5344CB8AC3E}">
        <p14:creationId xmlns:p14="http://schemas.microsoft.com/office/powerpoint/2010/main" val="1506879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7E0054-036F-4C14-A31C-AFB8593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PRODUCTO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C7DB2DE-FE58-4F62-9FFC-BB55D575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Una experiencia guiada desde el primer minuto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A1BACDD-E9FF-4382-832A-2BAD4DCC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5A8AF7-74A5-456A-B44C-5E2BC176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36552B-108A-420F-AD3E-660DBD26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2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20f831b6043ac"/>
          <a:srcRect xmlns:a="http://schemas.openxmlformats.org/drawingml/2006/main" l="4215" t="0" r="42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2E893E4-133C-4476-BBFE-8272A7E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66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solidFill>
              <a:srgbClr val="F064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FC7456-3365-4942-926E-0546333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FLUJO PRINCIPAL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14B5CE71-D56A-4503-AF0F-F9DF7EC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21BBDE-4230-4BD7-B7A4-0436999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9075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Registro y acceso protegido con CAPTCHA configurable.</a:t>
            </a:r>
          </a:p>
        </p:txBody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A9794CA7-4E81-4602-AA28-B49B888F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810EF4-D638-4CE8-B4F1-2262DA41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7180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Wizard que recoge producto, objetivo, datos, IA y despliegue.</a:t>
            </a:r>
          </a:p>
        </p:txBody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DD14B93B-9870-4BA7-A856-96AA78C3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83DA5D-F88B-4EA6-B6C2-D864894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75285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Resultados progresivos con estados de carga y validación.</a:t>
            </a:r>
          </a:p>
        </p:txBody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63131998-338E-4649-B7FB-43DF854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90DCF8-EEF9-4904-947D-4941478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33900"/>
            <a:ext cx="3400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1E1E1E"/>
                </a:solidFill>
                <a:latin typeface="Aptos"/>
              </a:rPr>
              <a:t>Dominio publico online, health check y exportacion PDF/ZIP.</a:t>
            </a:r>
          </a:p>
        </p:txBody>
      </p:sp>
    </p:spTree>
    <p:extLst>
      <p:ext uri="{BB962C8B-B14F-4D97-AF65-F5344CB8AC3E}">
        <p14:creationId xmlns:p14="http://schemas.microsoft.com/office/powerpoint/2010/main" val="1011814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73965CB-BC97-489E-A111-F6E3EFC9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DISEÑO MULTIAGENTE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797C93-5242-4361-B74C-A9C1AE0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Diez agentes, una responsabilidad por etapa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7A9809D-A783-418B-9DF3-2EAEFD92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65330B-03D9-476E-939F-5FB389B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575FA0-E2A7-4EC1-A23E-1B2E0CE1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2A3D7E-4BA3-41B9-8C70-9B528C5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La especialización reduce prompts gigantes y permite validar cada resultado antes de continuar.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FB33050-ABC4-41AA-9119-95D2B3F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D45651-1E7B-4CC6-BA2D-03D72E1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PRODUCT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9B12374-5744-4E82-8609-41ABCC0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Entiende la idea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692D2014-214A-4BCB-BF06-C3E5E88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1E79FC-F4BB-433A-BBF7-3F0C2261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REQUIREMENTS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3E1CF9-85A8-4594-91A9-1FB55C2F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Define alcance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7C0BBCB2-4EF7-4BE3-AE20-BEDD7DE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26709F-C959-49FE-8200-EA87D18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ARCHITECTURE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6BEA2C-63BF-46B6-AD27-967D55B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Elige stack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1546382-CCF7-422D-8A52-21B0663E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B5E56E5-81D0-4826-943A-8024C1D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SUPERVISOR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75AAEA-DA4A-4F41-B60C-6DCB88C1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Controla el flujo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7AC53420-9C47-4C98-89AF-3767B99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401B5F9-2C56-4DE3-BA21-44BC710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526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OPENSPEC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C4991D-CC8C-4C07-8214-DD8C5027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Crea el contrato</a:t>
            </a:r>
          </a:p>
        </p:txBody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F729AEA9-EF45-48B8-8E80-6B6A0BED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C36470D-67B7-4E8C-831F-5BD8D587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ISSUES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3CFB66D-0010-46E6-970E-D00ED48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Planifica trabajo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ED222490-C1A3-48DB-84F9-09D8038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AB06C2-20F5-48A0-869A-0C42F4A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TUTORIAL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27C7319-1403-4890-BDD0-E13D99A7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Enseña el camino</a:t>
            </a:r>
          </a:p>
        </p:txBody>
      </p:sp>
      <p:sp>
        <p:nvSpPr>
          <p:cNvPr id="28" name="panel">
            <a:extLst xmlns:a="http://schemas.openxmlformats.org/drawingml/2006/main">
              <a:ext uri="{FF2B5EF4-FFF2-40B4-BE49-F238E27FC236}">
                <a16:creationId xmlns:a16="http://schemas.microsoft.com/office/drawing/2014/main" id="{CAD3A959-BE2B-43C9-8116-970D7228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C3BB24A-AED4-4FB0-9A71-4E1AAB24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CODEGEN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3086D06-7C91-41BA-8631-D2A1AF7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Genera scaffold</a:t>
            </a:r>
          </a:p>
        </p:txBody>
      </p:sp>
      <p:sp>
        <p:nvSpPr>
          <p:cNvPr id="31" name="panel">
            <a:extLst xmlns:a="http://schemas.openxmlformats.org/drawingml/2006/main">
              <a:ext uri="{FF2B5EF4-FFF2-40B4-BE49-F238E27FC236}">
                <a16:creationId xmlns:a16="http://schemas.microsoft.com/office/drawing/2014/main" id="{6A592468-7E7E-4356-9527-B8A528E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EA05BF4-BDA7-469F-ACF1-6A879CB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TECH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37936C2-9CF2-47AE-8D1F-4382FDAE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Compara opciones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A48C390C-FE03-440B-B86A-D80E625D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75FDF19-A955-47ED-815B-DE7444B3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RAG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7E9AE55-CC55-4795-A80E-2EF79904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72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Aporta contexto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435FE44-8F99-4202-8D5E-16BD195B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67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Supervisor + esquemas Pydantic = salidas estructuradas, comprobables y persistibles.</a:t>
            </a:r>
          </a:p>
        </p:txBody>
      </p:sp>
    </p:spTree>
    <p:extLst>
      <p:ext uri="{BB962C8B-B14F-4D97-AF65-F5344CB8AC3E}">
        <p14:creationId xmlns:p14="http://schemas.microsoft.com/office/powerpoint/2010/main" val="434465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776D2D-2C0D-4940-95C6-4EABD94D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INTELIGENCIA ARTIFICIAL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95A578A-4A9C-4250-B4D3-80A6350D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IA intercambiable, explicable y resiliente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D8AF458-1519-4DAF-B1E0-3717A55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3593A0-03E9-412B-84AF-E1A6BABF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851DEA-E56D-4ED0-AE67-5C62FE2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A4A0C4-AC7C-4A4F-A927-38B48A8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Cada tarea prioriza la IA adecuada, valida su salida y conserva un fallback determinista.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3F0CDD3-1D9E-48BA-AC05-227D0BDE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79E9D7-2DD4-47E8-A7D4-114B402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7D3244-B558-4A96-850D-D313A8A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GROQ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889E6D-9FDA-46F3-82E8-7D9DB88E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Razonamiento cloud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DA81C9B-978B-423B-B2BA-8A45BC09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93125-F4F9-4904-AACC-4F577C6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A4B24F-97FE-4BFA-961B-C4D005EA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OPENAI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1962EA-E3D4-4E53-82EB-A88E4FF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Especificación cloud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EE8524C6-5C4B-4BEE-9C92-FFBC7EB5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4A5C7D-35A2-4EF8-96FC-94F8C641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DD15D9D-B735-479F-8DD5-D0CAF970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GEMINI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0648CE-54F7-41CF-AEC6-0D16C1B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Fallback cloud</a:t>
            </a:r>
          </a:p>
        </p:txBody>
      </p: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D809DB94-3A88-472B-B6F9-F51C5BF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38375"/>
            <a:ext cx="2571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F0DDEF3-C14E-43EE-9DA5-8AD055B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288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06432"/>
                </a:solidFill>
              </a:defRPr>
            </a:pPr>
            <a:r>
              <a:rPr sz="1575" b="1">
                <a:solidFill>
                  <a:srgbClr val="F06432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61F218-35EB-4C7A-8429-A03B88D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F69B63-F7A9-4FAA-8280-E4F880B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24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IA local verificada</a:t>
            </a:r>
          </a:p>
        </p:txBody>
      </p:sp>
      <p:sp>
        <p:nvSpPr>
          <p:cNvPr id="23" name="panel">
            <a:extLst xmlns:a="http://schemas.openxmlformats.org/drawingml/2006/main">
              <a:ext uri="{FF2B5EF4-FFF2-40B4-BE49-F238E27FC236}">
                <a16:creationId xmlns:a16="http://schemas.microsoft.com/office/drawing/2014/main" id="{375CC565-F176-4FBA-AF6F-5BFCD178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CEEF212-BB84-4214-A74A-2EB6C98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Fallback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6285A35-8D9D-4979-A82D-6051F209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053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IA local primero  →  validación  →  siguiente modelo  →  fallback determinista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B14978B-E110-44C4-8983-28AD535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816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Probado con llama3.1 y qwen2.5-coder; Gemma 4 queda disponible para mayor capacidad.</a:t>
            </a:r>
          </a:p>
        </p:txBody>
      </p:sp>
    </p:spTree>
    <p:extLst>
      <p:ext uri="{BB962C8B-B14F-4D97-AF65-F5344CB8AC3E}">
        <p14:creationId xmlns:p14="http://schemas.microsoft.com/office/powerpoint/2010/main" val="1039452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3F3D869-745B-4EF7-86ED-89EE6F7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RAG Y CONOCIMIENTO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7DDF41-47E5-4EB1-82D4-9B699DE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IA responde mejor cuando puede consultar evidencia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AF7BE36B-A0C5-4CB9-A9D9-E08BB84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D31B473-5975-492C-A15D-1BD44B6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2DC238-6DBE-4FFC-950B-EA29A43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Documentos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0A63E1-9FC0-43D3-9DAB-F525486F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Guías, decisiones y especificaciones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F33FEBB-52E2-4848-B22F-3533AC9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929E75-B1B6-491A-BD77-5AB33B10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E0D034-A9AC-48A6-8982-FE5E8B1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91A9982-2237-4419-B1AB-0D4005F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Representación semántica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D155A4A-4304-4748-9DA7-BF3EAFE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A65BE6-3637-45DA-9A08-7AEA2F8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EB9092-7F56-4F99-8611-428D409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Qdrant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40672B-60D1-4419-946E-4F693353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Recuperación de fragmentos relevantes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DE97149-7B66-4A6A-9634-ED889E3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43125"/>
            <a:ext cx="2571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3FFE866-2B55-4695-9D8E-D428AB96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336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06432"/>
                </a:solidFill>
              </a:defRPr>
            </a:pPr>
            <a:r>
              <a:rPr sz="1650" b="1">
                <a:solidFill>
                  <a:srgbClr val="F06432"/>
                </a:solidFill>
              </a:rP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5A66F65-9EB2-4304-A18C-F99D76F3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Respuesta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7B8CE6-E573-4798-8742-B4C184FE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19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5D5"/>
                </a:solidFill>
              </a:defRPr>
            </a:pPr>
            <a:r>
              <a:rPr sz="1275" b="0">
                <a:solidFill>
                  <a:srgbClr val="D5D5D5"/>
                </a:solidFill>
              </a:rPr>
              <a:t>Contenido fundamentado con citas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5E11176-3854-40B4-A24F-A29C15C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Uso educativo: recuperar decisiones previas, comparar proyectos y explicar con fuentes, no solo con memoria del modelo.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F10B02A0-DC92-4DBF-8621-91ECB93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2654DB4-4258-4DDA-BA98-EFA1269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RAG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E02762-B11E-42D5-AF87-B3F5A271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2328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72A1AC3-6C5D-4A7E-9A44-9B5E8872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ENTREGA GENERADA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0DB09C5-A9C7-4E92-9949-9230E4DB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El resultado es un proyecto que puede continuar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425B4E1-01B1-4A94-97F0-2A62C415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066D1C-0364-4BAB-B855-E3AA778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A6ABF7-68CA-4051-9A64-FD575F0C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E87809F7-6377-48C1-B980-D968206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67C4AF-EA00-4A7B-A05B-5388887F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README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BAD85B-A8E6-4BAE-908A-C02AAF9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Resumen, stack y puesta en marcha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8E9226F-68DE-46A6-8ADE-EE8449C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5D9495-171F-4877-9498-6A8853AF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docs/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39D6E3D-CD85-4DB7-A21B-75A049A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Producto, API, arquitectura, IA y despliegue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2417B080-091F-4B7D-834F-B673215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36CD8FD-4E82-47D6-998F-6AFB1D79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sdd/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9194AB-10DE-46AB-B271-C32EF93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OpenSpec, decisiones, planes, tareas y prompts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B61BF7BF-512F-41B9-A756-880D0733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517EEE-D030-4766-8C02-F5A61DE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Código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0CC305A-8656-4F07-AD8A-94EA6F8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Scaffold ejecutable adaptado al stack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691F188A-EB5A-405E-9293-0345FCD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62375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167EA8-D4CB-4C20-A4DF-70E1B93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Infra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C9CE180-BDB1-49B1-AEDB-2E11AAD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Docker, nginx, scripts y GitHub Actions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0A91CBF2-44B8-4E77-8EC8-CEDE98C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62375"/>
            <a:ext cx="3429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DFB25AF-8653-4564-94EE-BDC7B45B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Validación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C27DF65-E3AB-4BE0-9E17-B65BC8FB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434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Coherencia, secretos y descarga segura</a:t>
            </a:r>
          </a:p>
        </p:txBody>
      </p:sp>
    </p:spTree>
    <p:extLst>
      <p:ext uri="{BB962C8B-B14F-4D97-AF65-F5344CB8AC3E}">
        <p14:creationId xmlns:p14="http://schemas.microsoft.com/office/powerpoint/2010/main" val="6670238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53732D-902B-4889-8941-C8F9C61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SEGURIDAD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07EDD50-8BCA-43F4-A3F0-0AFA7F4F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1437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confianza también forma parte del producto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723D386-8507-460D-894D-E86B859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solidFill>
              <a:srgbClr val="F064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929C7C-E24B-4DD4-95A9-15A7437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Autenticación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86F2B3-3EEE-4A37-A078-777AA449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0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JWT + refresh token rotativo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9FE818AE-C0CE-4151-8C34-E33EE446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8A6359-6CB1-4CFF-A445-1F9EB97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Autorización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A83F84-AE17-4E5C-9907-1D6C71E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Ownership, roles y admin aislado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25A33FAC-7C14-4CB4-8F07-2A2DE09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06B557-8BA9-44B4-8E49-B3D7EDB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Entrada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B3A562-2C3B-419C-8E92-820B9012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DTOs, CAPTCHA y rate limiting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4B0A129A-524D-4712-8160-5D55F518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3BDFB8-4931-4E72-8C96-503FF3C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Entrega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C686D2-DB6F-4A76-8D9D-8912A7F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Escaneo de secretos antes del ZIP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C8E66035-C720-466B-9987-D321410C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5EC8F2-66D3-42FF-9E99-9EA27AD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Repositorio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C88D586-292E-49D2-9E5C-392B388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76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CI, Dependabot y revisión de dependencias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33AA3C4-14F8-4777-B7C4-1D927CFA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EB50A58-9493-43C5-BD4D-49B744F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25D5FF5-2864-4818-AB62-DAFCE5E3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5D5"/>
                </a:solidFill>
              </a:defRPr>
            </a:pPr>
            <a:r>
              <a:rPr sz="1350" b="0">
                <a:solidFill>
                  <a:srgbClr val="D5D5D5"/>
                </a:solidFill>
              </a:rPr>
              <a:t>Claves fuera del código y modelos validados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CBE5D97-79A6-42BC-ADDE-22A5C10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2819D85-3DC6-47AB-B9ED-6C3A3D2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SEGURIDAD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F7EDDC1-58FD-4DEA-B019-C8DA1E5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90247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81D9686-786A-4634-9CB5-F768CF3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CALIDAD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F8E103-F8E9-4EB6-8C24-0F4D392B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Evidencias de una base funcional y verificable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EFFE5DD2-ADA1-46D6-8551-F420975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4C7864-7382-4BC1-9BB1-B37A65B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477915-C527-4FE1-977A-7B5CFF1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D980B51-64A5-4308-859C-00E86688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7B6ECF-6002-4B83-BBD1-469261C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06432"/>
                </a:solidFill>
              </a:defRPr>
            </a:pPr>
            <a:r>
              <a:rPr sz="4350" b="1">
                <a:solidFill>
                  <a:srgbClr val="F06432"/>
                </a:solidFill>
              </a:rPr>
              <a:t>211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F6A6F8-C4F2-40A0-833E-94A3EBE3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aprobadas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35FB635-D4D3-4441-BA35-3076528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DC55F3-36BA-4BB7-BC81-3155C94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19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D91A31-2820-49F2-9C17-AC377162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scaffolds por stack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DFCFBF93-03F5-448A-8814-265611ED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802C71B-C815-4246-AF27-EDE13BD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995E08-13F6-48E6-BC8F-5A4E1777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proveedores LLM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0CE0766A-4A83-41FC-8C98-20475486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A91E20-093A-4259-9103-922CF08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9550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52A2E23-86F9-4F87-90FC-93511AC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aplicaciones principales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9BCE2A9B-395E-48FA-9B70-87D2E74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3AC52CD-0E1D-4BBF-8751-614815D8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864B"/>
                </a:solidFill>
              </a:defRPr>
            </a:pPr>
            <a:r>
              <a:rPr sz="1800" b="1">
                <a:solidFill>
                  <a:srgbClr val="18864B"/>
                </a:solidFill>
              </a:rPr>
              <a:t>CI VERDE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93BA7DD-74DC-4AAD-92F0-69080474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Lint · OpenSpec · tipos · tests · build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303A604-B639-4996-B700-F203DB7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Validado en Linux mediante GitHub Actions y comprobado localmente en Windows.</a:t>
            </a:r>
          </a:p>
        </p:txBody>
      </p:sp>
    </p:spTree>
    <p:extLst>
      <p:ext uri="{BB962C8B-B14F-4D97-AF65-F5344CB8AC3E}">
        <p14:creationId xmlns:p14="http://schemas.microsoft.com/office/powerpoint/2010/main" val="171157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50174E2-2363-4E07-987F-7FEA59A9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GUION DE DEFENSA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0AF7E9F-31CD-4645-8302-FBBD38D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Demostración: IA, proyecto y entrega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40CE0E2-B268-434B-A4E6-9078D54C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CDB037-F610-45DD-93D2-F1EDC593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3B898B-0EFB-49B8-81C2-B4D9D66B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9AACD4-08D4-4B0D-82BE-FCBE670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A5C834-5D48-48BF-9382-DFC7F77E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Configurar IA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F776B9-80A5-45CA-8474-341E052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906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Ver Ollama, modelos y fallback.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5A0F70FC-6AA8-4FDF-A29D-FEC4E65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669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2ADD94E-C500-4A07-9F67-A84FCFDB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5852C8-62F5-4DD6-AF31-763C3D1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4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Crear proyecto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F5905C-EFEF-4F8D-9C9B-2AAB8BC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Definir producto, usuarios y objetivo.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E622064-2BDD-45B2-8AF8-DEC1790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CAA486-D925-45F9-B179-CBB79F1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D24F11-86F9-49A8-AC69-C1FF03E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Elegir propuesta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C0326F-9D48-44C8-A2BB-09B6DF7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Comparar stacks y dificultad.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DCC847F-E866-4FAF-BC76-00B1BA04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6241FA2-7D6C-45A8-B3E3-07CA1A0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F0A9E6-0A3E-4273-BCFD-BE2BDA9E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0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Generar OpenSpec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9BADC44-FBB9-49BF-9A84-B9AE277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95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Revisar requisitos, datos y API.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B52842BA-31E3-4B41-8D8D-503D8082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10F2821-DBAE-4199-9B80-7C4212F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ADCC584-2927-41F8-B2E3-FE392BC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434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Revisar sistema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D666F7-6568-4189-832B-5F6C8EA5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624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Admin, código y estructura.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F6E481D5-AFA7-40EE-91B2-BAA3854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387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8A1C759-5763-4136-A2EA-3BEBB87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06432"/>
                </a:solidFill>
              </a:defRPr>
            </a:pPr>
            <a:r>
              <a:rPr sz="1500" b="1">
                <a:solidFill>
                  <a:srgbClr val="F06432"/>
                </a:solidFill>
              </a:rPr>
              <a:t>06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26B8C2F-2ECA-4718-938E-153526A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Validar y descargar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F8D0B9D-9603-4914-85BD-80E550A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054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Dominio, health y ZIP final.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6CF4E6E-27C9-44EB-87FA-9D9133BD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Objetivo de la demo: demostrar coherencia del proceso, no solo cantidad de archivos.</a:t>
            </a:r>
          </a:p>
        </p:txBody>
      </p:sp>
    </p:spTree>
    <p:extLst>
      <p:ext uri="{BB962C8B-B14F-4D97-AF65-F5344CB8AC3E}">
        <p14:creationId xmlns:p14="http://schemas.microsoft.com/office/powerpoint/2010/main" val="21331889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B0237B0-51F7-4A2F-93EC-720CF3A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LÍMITES Y FUTURO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B37306B-1B4C-43A5-83DA-9EF45A8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Un MVP sólido con un camino claro de evolución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59A1E57-26F6-467C-B3C3-7E7BB10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33D052-EB74-4A8D-9F39-7AC1F721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PROGRESIA STUDIO · TFM 2026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CB581E-5A27-4AA2-8FC6-AF83FAC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3890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29BAFC-3078-437C-8D35-5558325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HOY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A515BB4-F78D-4882-B84F-A5D8EC2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9A215079-BA8F-47E8-9CD2-8C94D4B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4E0504-039A-426E-9817-8D569E6C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Pipeline SDD conectado de extremo a extremo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7B0FDB05-5C91-4092-B31C-5237F45C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4EFCEF-4A20-4ECC-8772-1471493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Exportación PDF, Markdown, ZIP y GitHub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84D2F2FD-54C0-4445-9C19-FB723C5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FBDB56-BB7E-48BD-8EEF-E38C462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IA local verificada + 19 scaffolds deterministas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C4C9D34D-6B31-4805-BFAB-89B377B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F9AF8F-8C95-4936-8946-535218C4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FFFFFF"/>
                </a:solidFill>
                <a:latin typeface="Aptos"/>
              </a:rPr>
              <a:t>Servidor publico online + seguridad y CI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0F6E46-8F87-4A50-B580-66899570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6432"/>
                </a:solidFill>
              </a:defRPr>
            </a:pPr>
            <a:r>
              <a:rPr sz="1200" b="1">
                <a:solidFill>
                  <a:srgbClr val="F06432"/>
                </a:solidFill>
              </a:rPr>
              <a:t>SIGUIENTE ETAPA</a:t>
            </a:r>
          </a:p>
        </p:txBody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B23001C-4572-4EDD-87E1-58D0A5A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5054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bullet-0">
            <a:extLst xmlns:a="http://schemas.openxmlformats.org/drawingml/2006/main">
              <a:ext uri="{FF2B5EF4-FFF2-40B4-BE49-F238E27FC236}">
                <a16:creationId xmlns:a16="http://schemas.microsoft.com/office/drawing/2014/main" id="{8EEF50DC-F80D-4CC0-93DA-7FEE061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A83B714-83E0-4809-BB5B-0BFE1625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Integrar RAG en el wizard y la experiencia principal</a:t>
            </a:r>
          </a:p>
        </p:txBody>
      </p:sp>
      <p:sp>
        <p:nvSpPr>
          <p:cNvPr id="20" name="bullet-1">
            <a:extLst xmlns:a="http://schemas.openxmlformats.org/drawingml/2006/main">
              <a:ext uri="{FF2B5EF4-FFF2-40B4-BE49-F238E27FC236}">
                <a16:creationId xmlns:a16="http://schemas.microsoft.com/office/drawing/2014/main" id="{16BFA1E7-BDE4-4ED7-BBB8-93A1CB9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69EA70-68C5-4BF9-9976-938F2F82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Ampliar itinerarios formativos y evaluación del aprendizaje</a:t>
            </a:r>
          </a:p>
        </p:txBody>
      </p:sp>
      <p:sp>
        <p:nvSpPr>
          <p:cNvPr id="22" name="bullet-2">
            <a:extLst xmlns:a="http://schemas.openxmlformats.org/drawingml/2006/main">
              <a:ext uri="{FF2B5EF4-FFF2-40B4-BE49-F238E27FC236}">
                <a16:creationId xmlns:a16="http://schemas.microsoft.com/office/drawing/2014/main" id="{C5EE26A0-A5D9-44C6-99E8-B0694EE4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C16C5B2-15F3-4D47-BA22-3735FAE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Evaluar Gemma 4 y medir calidad y latencia</a:t>
            </a:r>
          </a:p>
        </p:txBody>
      </p:sp>
      <p:sp>
        <p:nvSpPr>
          <p:cNvPr id="24" name="bullet-3">
            <a:extLst xmlns:a="http://schemas.openxmlformats.org/drawingml/2006/main">
              <a:ext uri="{FF2B5EF4-FFF2-40B4-BE49-F238E27FC236}">
                <a16:creationId xmlns:a16="http://schemas.microsoft.com/office/drawing/2014/main" id="{21BBF61B-E42E-4F98-BCD5-A3B7038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EC113F1-6279-488B-A5CE-EC69C643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1E1E1E"/>
                </a:solidFill>
                <a:latin typeface="Aptos"/>
              </a:rPr>
              <a:t>Automatizar despliegue CI/CD y activar Sentry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DE1A992-C106-48BC-B0A9-A237E932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La prioridad es profundizar el valor educativo sin perder trazabilidad ni calidad técnica.</a:t>
            </a:r>
          </a:p>
        </p:txBody>
      </p:sp>
    </p:spTree>
    <p:extLst>
      <p:ext uri="{BB962C8B-B14F-4D97-AF65-F5344CB8AC3E}">
        <p14:creationId xmlns:p14="http://schemas.microsoft.com/office/powerpoint/2010/main" val="900385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35544D-6F30-4D30-9838-6535069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CONCLUSIÓN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F5C2625-E969-4BC8-9179-4F2099A6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La IA aporta más valor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cuando trabaja con contexto.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429303-C2DF-440A-80CE-8A2A5BC4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ProgresIA Studio convierte ese contexto en un proceso repetible, educativo y verificable.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4F6E8BCA-7E24-4DE4-A826-4C5275F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90543B-E48D-40AB-A819-EED761E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09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6432"/>
                </a:solidFill>
              </a:defRPr>
            </a:pPr>
            <a:r>
              <a:rPr sz="1050" b="1">
                <a:solidFill>
                  <a:srgbClr val="F06432"/>
                </a:solidFill>
              </a:rPr>
              <a:t>APRENDIZAJE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3BEB18-C4ED-45DE-A41D-40B3416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811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Modelo de datos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profesional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6F42AD-D634-49BE-AE28-DE474E99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Agentes y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LLM routing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87C9C4-A1F0-425C-ABF7-1A7FA569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57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Seguridad y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observabilidad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12306A-CF8F-4C12-B2D1-C01A5C7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progresia.alumnes-monlau.com
github.com/seurob/progresia</a:t>
            </a:r>
          </a:p>
        </p:txBody>
      </p:sp>
    </p:spTree>
    <p:extLst>
      <p:ext uri="{BB962C8B-B14F-4D97-AF65-F5344CB8AC3E}">
        <p14:creationId xmlns:p14="http://schemas.microsoft.com/office/powerpoint/2010/main" val="1827334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2026-06-25T19:53:30.5440000Z</dcterms:created>
  <dcterms:modified xsi:type="dcterms:W3CDTF">2026-06-25T19:53:30.5440000Z</dcterms:modified>
</coreProperties>
</file>