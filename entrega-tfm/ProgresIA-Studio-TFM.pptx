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ver-band">
            <a:extLst>
              <a:ext uri="{FF2B5EF4-FFF2-40B4-BE49-F238E27FC236}">
                <a16:creationId xmlns:a16="http://schemas.microsoft.com/office/drawing/2014/main" id="{FDB7A3EF-49BE-4922-87DB-A846B7E381CD}"/>
              </a:ext>
            </a:extLst>
          </p:cNvPr>
          <p:cNvSpPr>
            <a:spLocks noGrp="1"/>
          </p:cNvSpPr>
          <p:nvPr/>
        </p:nvSpPr>
        <p:spPr>
          <a:xfrm>
            <a:off x="8239125" y="0"/>
            <a:ext cx="3952875" cy="6858000"/>
          </a:xfrm>
          <a:prstGeom prst="rect">
            <a:avLst/>
          </a:prstGeom>
          <a:solidFill>
            <a:srgbClr val="20202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FC6DD9D-6215-4CCD-A156-EE72DAA3EE1D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PROYECTO FINAL DE MÁSTER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2CC0C4E-98BE-43B8-8A66-EC9311C57A03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68580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5550" b="1">
                <a:solidFill>
                  <a:srgbClr val="111111"/>
                </a:solidFill>
              </a:defRPr>
            </a:pPr>
            <a:r>
              <a:rPr sz="5550" b="1">
                <a:solidFill>
                  <a:srgbClr val="111111"/>
                </a:solidFill>
              </a:rPr>
              <a:t>ProgresIA</a:t>
            </a:r>
          </a:p>
          <a:p>
            <a:pPr algn="l">
              <a:defRPr sz="5550" b="1">
                <a:solidFill>
                  <a:srgbClr val="111111"/>
                </a:solidFill>
              </a:defRPr>
            </a:pPr>
            <a:r>
              <a:rPr sz="5550" b="1">
                <a:solidFill>
                  <a:srgbClr val="111111"/>
                </a:solidFill>
              </a:rPr>
              <a:t>Studio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5238C48D-4542-4DE5-8B11-2950A543DB4B}"/>
              </a:ext>
            </a:extLst>
          </p:cNvPr>
          <p:cNvSpPr>
            <a:spLocks noGrp="1"/>
          </p:cNvSpPr>
          <p:nvPr/>
        </p:nvSpPr>
        <p:spPr>
          <a:xfrm>
            <a:off x="400050" y="3714750"/>
            <a:ext cx="6572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0">
                <a:solidFill>
                  <a:srgbClr val="555555"/>
                </a:solidFill>
              </a:defRPr>
            </a:pPr>
            <a:r>
              <a:rPr sz="2025" b="0">
                <a:solidFill>
                  <a:srgbClr val="555555"/>
                </a:solidFill>
              </a:rPr>
              <a:t>De una idea a un MVP mediante desarrollo guiado por especificaciones e inteligencia artificial.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C595459-D1CA-49DF-84A0-849D47813C09}"/>
              </a:ext>
            </a:extLst>
          </p:cNvPr>
          <p:cNvSpPr>
            <a:spLocks noGrp="1"/>
          </p:cNvSpPr>
          <p:nvPr/>
        </p:nvSpPr>
        <p:spPr>
          <a:xfrm>
            <a:off x="400050" y="57150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Roberto Manca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38AEAF34-E011-4AB1-815D-685B6B64A1E7}"/>
              </a:ext>
            </a:extLst>
          </p:cNvPr>
          <p:cNvSpPr>
            <a:spLocks noGrp="1"/>
          </p:cNvSpPr>
          <p:nvPr/>
        </p:nvSpPr>
        <p:spPr>
          <a:xfrm>
            <a:off x="400050" y="6048375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Máster en Desarrollo de Software con IA · 2026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DCEB020-CC84-424E-ACC0-005EF37EC695}"/>
              </a:ext>
            </a:extLst>
          </p:cNvPr>
          <p:cNvSpPr>
            <a:spLocks noGrp="1"/>
          </p:cNvSpPr>
          <p:nvPr/>
        </p:nvSpPr>
        <p:spPr>
          <a:xfrm>
            <a:off x="8667750" y="952500"/>
            <a:ext cx="238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IDEA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8F701D8B-4FA8-4CAA-AE67-7B8569607739}"/>
              </a:ext>
            </a:extLst>
          </p:cNvPr>
          <p:cNvSpPr>
            <a:spLocks noGrp="1"/>
          </p:cNvSpPr>
          <p:nvPr/>
        </p:nvSpPr>
        <p:spPr>
          <a:xfrm>
            <a:off x="8667750" y="1619250"/>
            <a:ext cx="95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F06432"/>
                </a:solidFill>
              </a:defRPr>
            </a:pPr>
            <a:r>
              <a:rPr sz="2550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53659ACB-44EF-4459-9B15-1EB8FB2E52AA}"/>
              </a:ext>
            </a:extLst>
          </p:cNvPr>
          <p:cNvSpPr>
            <a:spLocks noGrp="1"/>
          </p:cNvSpPr>
          <p:nvPr/>
        </p:nvSpPr>
        <p:spPr>
          <a:xfrm>
            <a:off x="8667750" y="2333625"/>
            <a:ext cx="3048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ESPECIFICACIÓN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63768EB-16FB-49FC-8477-B933605E960B}"/>
              </a:ext>
            </a:extLst>
          </p:cNvPr>
          <p:cNvSpPr>
            <a:spLocks noGrp="1"/>
          </p:cNvSpPr>
          <p:nvPr/>
        </p:nvSpPr>
        <p:spPr>
          <a:xfrm>
            <a:off x="8667750" y="3000375"/>
            <a:ext cx="95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F06432"/>
                </a:solidFill>
              </a:defRPr>
            </a:pPr>
            <a:r>
              <a:rPr sz="2550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E6ADEEB8-F0F9-4858-A47B-08A1D39F353D}"/>
              </a:ext>
            </a:extLst>
          </p:cNvPr>
          <p:cNvSpPr>
            <a:spLocks noGrp="1"/>
          </p:cNvSpPr>
          <p:nvPr/>
        </p:nvSpPr>
        <p:spPr>
          <a:xfrm>
            <a:off x="8667750" y="3714750"/>
            <a:ext cx="238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MVP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49C1AEC-7DAA-4969-8879-BC883E473336}"/>
              </a:ext>
            </a:extLst>
          </p:cNvPr>
          <p:cNvSpPr>
            <a:spLocks noGrp="1"/>
          </p:cNvSpPr>
          <p:nvPr/>
        </p:nvSpPr>
        <p:spPr>
          <a:xfrm>
            <a:off x="8667750" y="4762500"/>
            <a:ext cx="2714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D5D5D5"/>
                </a:solidFill>
              </a:defRPr>
            </a:pPr>
            <a:r>
              <a:rPr sz="1425" b="0">
                <a:solidFill>
                  <a:srgbClr val="D5D5D5"/>
                </a:solidFill>
              </a:rPr>
              <a:t>Código · documentación</a:t>
            </a:r>
          </a:p>
          <a:p>
            <a:pPr algn="l">
              <a:defRPr sz="1425" b="0">
                <a:solidFill>
                  <a:srgbClr val="D5D5D5"/>
                </a:solidFill>
              </a:defRPr>
            </a:pPr>
            <a:r>
              <a:rPr sz="1425" b="0">
                <a:solidFill>
                  <a:srgbClr val="D5D5D5"/>
                </a:solidFill>
              </a:rPr>
              <a:t>issues · tutorial · ZIP</a:t>
            </a:r>
          </a:p>
        </p:txBody>
      </p:sp>
    </p:spTree>
    <p:extLst>
      <p:ext uri="{BB962C8B-B14F-4D97-AF65-F5344CB8AC3E}">
        <p14:creationId xmlns:p14="http://schemas.microsoft.com/office/powerpoint/2010/main" val="749840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">
            <a:extLst>
              <a:ext uri="{FF2B5EF4-FFF2-40B4-BE49-F238E27FC236}">
                <a16:creationId xmlns:a16="http://schemas.microsoft.com/office/drawing/2014/main" id="{50903093-015B-47BE-B13F-C1FBDC774B6E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MOTIVACIÓN EDUCATIVA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4814109-A734-40F3-8103-1768393D64C5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Aprender software hoy exige algo más que aprender sintaxis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46B96D6-1AD4-4AE7-9AC1-06C98627A984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A81B90C5-EE47-4938-B621-AE1AE028470C}"/>
              </a:ext>
            </a:extLst>
          </p:cNvPr>
          <p:cNvSpPr>
            <a:spLocks noGrp="1"/>
          </p:cNvSpPr>
          <p:nvPr/>
        </p:nvSpPr>
        <p:spPr>
          <a:xfrm>
            <a:off x="400050" y="64579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63B694A-20CC-4D90-9FF3-0BDBD2554D4E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600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94AA22D-D658-40D7-804E-923BDBCC8F7D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0">
                <a:solidFill>
                  <a:srgbClr val="555555"/>
                </a:solidFill>
              </a:defRPr>
            </a:pPr>
            <a:r>
              <a:rPr sz="2175" b="0">
                <a:solidFill>
                  <a:srgbClr val="555555"/>
                </a:solidFill>
              </a:rPr>
              <a:t>La IA reduce el coste de escribir código, pero aumenta la importancia de saber formular, decidir y verificar.</a:t>
            </a:r>
          </a:p>
        </p:txBody>
      </p:sp>
      <p:sp>
        <p:nvSpPr>
          <p:cNvPr id="7" name="panel">
            <a:extLst>
              <a:ext uri="{FF2B5EF4-FFF2-40B4-BE49-F238E27FC236}">
                <a16:creationId xmlns:a16="http://schemas.microsoft.com/office/drawing/2014/main" id="{C48DD6F3-C4EC-4C33-8416-CA96F1614C34}"/>
              </a:ext>
            </a:extLst>
          </p:cNvPr>
          <p:cNvSpPr>
            <a:spLocks noGrp="1"/>
          </p:cNvSpPr>
          <p:nvPr/>
        </p:nvSpPr>
        <p:spPr>
          <a:xfrm>
            <a:off x="400050" y="2714625"/>
            <a:ext cx="3429000" cy="23336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4B98C87-9439-4E76-870D-8015C8BD2426}"/>
              </a:ext>
            </a:extLst>
          </p:cNvPr>
          <p:cNvSpPr>
            <a:spLocks noGrp="1"/>
          </p:cNvSpPr>
          <p:nvPr/>
        </p:nvSpPr>
        <p:spPr>
          <a:xfrm>
            <a:off x="628650" y="2952750"/>
            <a:ext cx="57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06432"/>
                </a:solidFill>
              </a:defRPr>
            </a:pPr>
            <a:r>
              <a:rPr sz="1800" b="1">
                <a:solidFill>
                  <a:srgbClr val="F06432"/>
                </a:solidFill>
              </a:rPr>
              <a:t>01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C5234433-F7BF-4A8E-80D8-C9380A26F01A}"/>
              </a:ext>
            </a:extLst>
          </p:cNvPr>
          <p:cNvSpPr>
            <a:spLocks noGrp="1"/>
          </p:cNvSpPr>
          <p:nvPr/>
        </p:nvSpPr>
        <p:spPr>
          <a:xfrm>
            <a:off x="628650" y="35242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FORMULAR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768061F-9E59-4DBA-8A6A-F6FF9FCAF144}"/>
              </a:ext>
            </a:extLst>
          </p:cNvPr>
          <p:cNvSpPr>
            <a:spLocks noGrp="1"/>
          </p:cNvSpPr>
          <p:nvPr/>
        </p:nvSpPr>
        <p:spPr>
          <a:xfrm>
            <a:off x="628650" y="41433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Transformar una necesidad ambigua en requisitos comprobables.</a:t>
            </a: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A22216A8-5C89-4539-89D9-D2C3B40F74D7}"/>
              </a:ext>
            </a:extLst>
          </p:cNvPr>
          <p:cNvSpPr>
            <a:spLocks noGrp="1"/>
          </p:cNvSpPr>
          <p:nvPr/>
        </p:nvSpPr>
        <p:spPr>
          <a:xfrm>
            <a:off x="4200525" y="2714625"/>
            <a:ext cx="3429000" cy="2333625"/>
          </a:xfrm>
          <a:prstGeom prst="rect">
            <a:avLst/>
          </a:prstGeom>
          <a:solidFill>
            <a:srgbClr val="20202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F5AB5EB3-3E78-4910-8D60-C92F658B5F5A}"/>
              </a:ext>
            </a:extLst>
          </p:cNvPr>
          <p:cNvSpPr>
            <a:spLocks noGrp="1"/>
          </p:cNvSpPr>
          <p:nvPr/>
        </p:nvSpPr>
        <p:spPr>
          <a:xfrm>
            <a:off x="4429125" y="2952750"/>
            <a:ext cx="57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06432"/>
                </a:solidFill>
              </a:defRPr>
            </a:pPr>
            <a:r>
              <a:rPr sz="1800" b="1">
                <a:solidFill>
                  <a:srgbClr val="F06432"/>
                </a:solidFill>
              </a:rPr>
              <a:t>02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69AAD711-2926-4219-BEE1-6C2FD331EB72}"/>
              </a:ext>
            </a:extLst>
          </p:cNvPr>
          <p:cNvSpPr>
            <a:spLocks noGrp="1"/>
          </p:cNvSpPr>
          <p:nvPr/>
        </p:nvSpPr>
        <p:spPr>
          <a:xfrm>
            <a:off x="4429125" y="35242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DECIDIR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AD7B327-3A3D-40FE-8DA4-2DACE7605E09}"/>
              </a:ext>
            </a:extLst>
          </p:cNvPr>
          <p:cNvSpPr>
            <a:spLocks noGrp="1"/>
          </p:cNvSpPr>
          <p:nvPr/>
        </p:nvSpPr>
        <p:spPr>
          <a:xfrm>
            <a:off x="4429125" y="41433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Elegir arquitectura y tecnología entendiendo sus compromisos.</a:t>
            </a:r>
          </a:p>
        </p:txBody>
      </p:sp>
      <p:sp>
        <p:nvSpPr>
          <p:cNvPr id="15" name="panel">
            <a:extLst>
              <a:ext uri="{FF2B5EF4-FFF2-40B4-BE49-F238E27FC236}">
                <a16:creationId xmlns:a16="http://schemas.microsoft.com/office/drawing/2014/main" id="{6C08C030-EE19-4374-A0E1-CB95CA52A4DF}"/>
              </a:ext>
            </a:extLst>
          </p:cNvPr>
          <p:cNvSpPr>
            <a:spLocks noGrp="1"/>
          </p:cNvSpPr>
          <p:nvPr/>
        </p:nvSpPr>
        <p:spPr>
          <a:xfrm>
            <a:off x="8001000" y="2714625"/>
            <a:ext cx="3429000" cy="23336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52A20AF-CA98-4330-936A-39F873F8E1F0}"/>
              </a:ext>
            </a:extLst>
          </p:cNvPr>
          <p:cNvSpPr>
            <a:spLocks noGrp="1"/>
          </p:cNvSpPr>
          <p:nvPr/>
        </p:nvSpPr>
        <p:spPr>
          <a:xfrm>
            <a:off x="8229600" y="2952750"/>
            <a:ext cx="57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06432"/>
                </a:solidFill>
              </a:defRPr>
            </a:pPr>
            <a:r>
              <a:rPr sz="1800" b="1">
                <a:solidFill>
                  <a:srgbClr val="F06432"/>
                </a:solidFill>
              </a:rPr>
              <a:t>03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3C93A79A-3B42-40AE-92B6-CEB5EA9643F9}"/>
              </a:ext>
            </a:extLst>
          </p:cNvPr>
          <p:cNvSpPr>
            <a:spLocks noGrp="1"/>
          </p:cNvSpPr>
          <p:nvPr/>
        </p:nvSpPr>
        <p:spPr>
          <a:xfrm>
            <a:off x="8229600" y="35242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VERIFICAR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E80AE2FB-8083-4E95-9DA6-D1421F2E93D4}"/>
              </a:ext>
            </a:extLst>
          </p:cNvPr>
          <p:cNvSpPr>
            <a:spLocks noGrp="1"/>
          </p:cNvSpPr>
          <p:nvPr/>
        </p:nvSpPr>
        <p:spPr>
          <a:xfrm>
            <a:off x="8229600" y="41433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Revisar seguridad, pruebas, coherencia y mantenibilidad.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637D7471-AF1A-43E5-BBBE-41029C76C4A9}"/>
              </a:ext>
            </a:extLst>
          </p:cNvPr>
          <p:cNvSpPr>
            <a:spLocks noGrp="1"/>
          </p:cNvSpPr>
          <p:nvPr/>
        </p:nvSpPr>
        <p:spPr>
          <a:xfrm>
            <a:off x="1047750" y="5572125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La competencia del futuro no será «pedir código», sino dirigir un proceso de ingeniería asistido por IA.</a:t>
            </a:r>
          </a:p>
        </p:txBody>
      </p:sp>
    </p:spTree>
    <p:extLst>
      <p:ext uri="{BB962C8B-B14F-4D97-AF65-F5344CB8AC3E}">
        <p14:creationId xmlns:p14="http://schemas.microsoft.com/office/powerpoint/2010/main" val="806207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>
            <a:extLst>
              <a:ext uri="{FF2B5EF4-FFF2-40B4-BE49-F238E27FC236}">
                <a16:creationId xmlns:a16="http://schemas.microsoft.com/office/drawing/2014/main" id="{5FEA2206-006C-4237-9B8C-8E7429EB5CB1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EL FUTURO DEL DESARROLLO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23AA524-95A4-4F2F-BA5F-95C089F8DC02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De escribir cada línea a diseñar sistemas con agentes</a:t>
            </a:r>
          </a:p>
        </p:txBody>
      </p:sp>
      <p:sp>
        <p:nvSpPr>
          <p:cNvPr id="3" name="panel">
            <a:extLst>
              <a:ext uri="{FF2B5EF4-FFF2-40B4-BE49-F238E27FC236}">
                <a16:creationId xmlns:a16="http://schemas.microsoft.com/office/drawing/2014/main" id="{A1E4EB9D-269B-49E9-89D9-CA2C1ED60D13}"/>
              </a:ext>
            </a:extLst>
          </p:cNvPr>
          <p:cNvSpPr>
            <a:spLocks noGrp="1"/>
          </p:cNvSpPr>
          <p:nvPr/>
        </p:nvSpPr>
        <p:spPr>
          <a:xfrm>
            <a:off x="400050" y="2143125"/>
            <a:ext cx="3429000" cy="2857500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81A27B72-0591-4DB7-AF1D-095024166A73}"/>
              </a:ext>
            </a:extLst>
          </p:cNvPr>
          <p:cNvSpPr>
            <a:spLocks noGrp="1"/>
          </p:cNvSpPr>
          <p:nvPr/>
        </p:nvSpPr>
        <p:spPr>
          <a:xfrm>
            <a:off x="628650" y="23812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06432"/>
                </a:solidFill>
              </a:defRPr>
            </a:pPr>
            <a:r>
              <a:rPr sz="1125" b="1">
                <a:solidFill>
                  <a:srgbClr val="F06432"/>
                </a:solidFill>
              </a:rPr>
              <a:t>AYER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84A7E43-6A63-4248-81D5-9E00E24C21C3}"/>
              </a:ext>
            </a:extLst>
          </p:cNvPr>
          <p:cNvSpPr>
            <a:spLocks noGrp="1"/>
          </p:cNvSpPr>
          <p:nvPr/>
        </p:nvSpPr>
        <p:spPr>
          <a:xfrm>
            <a:off x="628650" y="3000375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Código manual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5959EFA-DDE4-4DD3-8E82-F84D00E08466}"/>
              </a:ext>
            </a:extLst>
          </p:cNvPr>
          <p:cNvSpPr>
            <a:spLocks noGrp="1"/>
          </p:cNvSpPr>
          <p:nvPr/>
        </p:nvSpPr>
        <p:spPr>
          <a:xfrm>
            <a:off x="628650" y="3762375"/>
            <a:ext cx="285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La productividad dependía principalmente de dominar herramientas y sintaxis.</a:t>
            </a:r>
          </a:p>
        </p:txBody>
      </p:sp>
      <p:sp>
        <p:nvSpPr>
          <p:cNvPr id="7" name="panel">
            <a:extLst>
              <a:ext uri="{FF2B5EF4-FFF2-40B4-BE49-F238E27FC236}">
                <a16:creationId xmlns:a16="http://schemas.microsoft.com/office/drawing/2014/main" id="{8E5D6D1B-AF51-4D46-9E8C-1AF9ED50F5BE}"/>
              </a:ext>
            </a:extLst>
          </p:cNvPr>
          <p:cNvSpPr>
            <a:spLocks noGrp="1"/>
          </p:cNvSpPr>
          <p:nvPr/>
        </p:nvSpPr>
        <p:spPr>
          <a:xfrm>
            <a:off x="4200525" y="2143125"/>
            <a:ext cx="3429000" cy="2857500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C4CCFA2-F6EF-4292-8FE9-942DBE02F6EC}"/>
              </a:ext>
            </a:extLst>
          </p:cNvPr>
          <p:cNvSpPr>
            <a:spLocks noGrp="1"/>
          </p:cNvSpPr>
          <p:nvPr/>
        </p:nvSpPr>
        <p:spPr>
          <a:xfrm>
            <a:off x="4429125" y="23812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06432"/>
                </a:solidFill>
              </a:defRPr>
            </a:pPr>
            <a:r>
              <a:rPr sz="1125" b="1">
                <a:solidFill>
                  <a:srgbClr val="F06432"/>
                </a:solidFill>
              </a:rPr>
              <a:t>HOY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72B8A147-62B0-496F-B6DA-DEAD47BDD402}"/>
              </a:ext>
            </a:extLst>
          </p:cNvPr>
          <p:cNvSpPr>
            <a:spLocks noGrp="1"/>
          </p:cNvSpPr>
          <p:nvPr/>
        </p:nvSpPr>
        <p:spPr>
          <a:xfrm>
            <a:off x="4429125" y="3000375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Copilotos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9DB67D7F-3031-4D71-844C-CA2E10A245E0}"/>
              </a:ext>
            </a:extLst>
          </p:cNvPr>
          <p:cNvSpPr>
            <a:spLocks noGrp="1"/>
          </p:cNvSpPr>
          <p:nvPr/>
        </p:nvSpPr>
        <p:spPr>
          <a:xfrm>
            <a:off x="4429125" y="3762375"/>
            <a:ext cx="285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La IA sugiere fragmentos, explica errores y acelera tareas concretas.</a:t>
            </a: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1DCAF2D4-BB62-41E1-9306-B62521721093}"/>
              </a:ext>
            </a:extLst>
          </p:cNvPr>
          <p:cNvSpPr>
            <a:spLocks noGrp="1"/>
          </p:cNvSpPr>
          <p:nvPr/>
        </p:nvSpPr>
        <p:spPr>
          <a:xfrm>
            <a:off x="8001000" y="2143125"/>
            <a:ext cx="3429000" cy="28575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6FEBEF1C-E84D-4644-8231-BC0D1718A8BB}"/>
              </a:ext>
            </a:extLst>
          </p:cNvPr>
          <p:cNvSpPr>
            <a:spLocks noGrp="1"/>
          </p:cNvSpPr>
          <p:nvPr/>
        </p:nvSpPr>
        <p:spPr>
          <a:xfrm>
            <a:off x="8229600" y="23812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06432"/>
                </a:solidFill>
              </a:defRPr>
            </a:pPr>
            <a:r>
              <a:rPr sz="1125" b="1">
                <a:solidFill>
                  <a:srgbClr val="F06432"/>
                </a:solidFill>
              </a:rPr>
              <a:t>MAÑANA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DE7773DB-1823-4803-9102-5229BA306269}"/>
              </a:ext>
            </a:extLst>
          </p:cNvPr>
          <p:cNvSpPr>
            <a:spLocks noGrp="1"/>
          </p:cNvSpPr>
          <p:nvPr/>
        </p:nvSpPr>
        <p:spPr>
          <a:xfrm>
            <a:off x="8229600" y="3000375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Agentes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756CD1C8-AB69-4315-9191-1137D17397E6}"/>
              </a:ext>
            </a:extLst>
          </p:cNvPr>
          <p:cNvSpPr>
            <a:spLocks noGrp="1"/>
          </p:cNvSpPr>
          <p:nvPr/>
        </p:nvSpPr>
        <p:spPr>
          <a:xfrm>
            <a:off x="8229600" y="3762375"/>
            <a:ext cx="285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Equipos humano-IA ejecutarán planes completos bajo especificaciones y controles.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B4111665-0E33-43B1-94D4-DDF26C0974B5}"/>
              </a:ext>
            </a:extLst>
          </p:cNvPr>
          <p:cNvSpPr>
            <a:spLocks noGrp="1"/>
          </p:cNvSpPr>
          <p:nvPr/>
        </p:nvSpPr>
        <p:spPr>
          <a:xfrm>
            <a:off x="1619250" y="5572125"/>
            <a:ext cx="895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La especificación será el lenguaje común entre personas, modelos y herramientas.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39E24E1-DF19-4B9E-91A1-711932242511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4529C7E-6AE3-44C1-962B-49D410DB65DA}"/>
              </a:ext>
            </a:extLst>
          </p:cNvPr>
          <p:cNvSpPr>
            <a:spLocks noGrp="1"/>
          </p:cNvSpPr>
          <p:nvPr/>
        </p:nvSpPr>
        <p:spPr>
          <a:xfrm>
            <a:off x="400050" y="64579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FUTURO DE LA IA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93F7F813-F5E1-4A6E-A8DB-EC21B78AEBE0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600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7622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">
            <a:extLst>
              <a:ext uri="{FF2B5EF4-FFF2-40B4-BE49-F238E27FC236}">
                <a16:creationId xmlns:a16="http://schemas.microsoft.com/office/drawing/2014/main" id="{A82C1238-7988-4912-881F-5F205D665326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MODELO PEDAGÓGICO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F00DBC4-C562-447B-BB3D-A15A21E9F08B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La IA como tutor de proceso, no como caja negra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57F1BA9-92A0-497D-AE2C-172D164FD919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D9CE765-9295-4605-BAF2-81C931134029}"/>
              </a:ext>
            </a:extLst>
          </p:cNvPr>
          <p:cNvSpPr>
            <a:spLocks noGrp="1"/>
          </p:cNvSpPr>
          <p:nvPr/>
        </p:nvSpPr>
        <p:spPr>
          <a:xfrm>
            <a:off x="400050" y="64579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7E79EE3-A5CF-4EDE-82E9-D59C437B61DE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600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635FCD1-ECB1-4E5B-9230-864A9FB480DD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047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0">
                <a:solidFill>
                  <a:srgbClr val="555555"/>
                </a:solidFill>
              </a:defRPr>
            </a:pPr>
            <a:r>
              <a:rPr sz="2025" b="0">
                <a:solidFill>
                  <a:srgbClr val="555555"/>
                </a:solidFill>
              </a:rPr>
              <a:t>ProgresIA convierte cada decisión técnica en una oportunidad de aprendizaje transferible.</a:t>
            </a:r>
          </a:p>
        </p:txBody>
      </p:sp>
      <p:sp>
        <p:nvSpPr>
          <p:cNvPr id="7" name="panel">
            <a:extLst>
              <a:ext uri="{FF2B5EF4-FFF2-40B4-BE49-F238E27FC236}">
                <a16:creationId xmlns:a16="http://schemas.microsoft.com/office/drawing/2014/main" id="{884E49AE-3606-4378-A485-979A67422583}"/>
              </a:ext>
            </a:extLst>
          </p:cNvPr>
          <p:cNvSpPr>
            <a:spLocks noGrp="1"/>
          </p:cNvSpPr>
          <p:nvPr/>
        </p:nvSpPr>
        <p:spPr>
          <a:xfrm>
            <a:off x="400050" y="2238375"/>
            <a:ext cx="552450" cy="552450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A525C60-A683-4329-BB98-F74F6E47F33A}"/>
              </a:ext>
            </a:extLst>
          </p:cNvPr>
          <p:cNvSpPr>
            <a:spLocks noGrp="1"/>
          </p:cNvSpPr>
          <p:nvPr/>
        </p:nvSpPr>
        <p:spPr>
          <a:xfrm>
            <a:off x="400050" y="2333625"/>
            <a:ext cx="552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1BC6473-BB5E-43D9-AFDD-55D88278EECE}"/>
              </a:ext>
            </a:extLst>
          </p:cNvPr>
          <p:cNvSpPr>
            <a:spLocks noGrp="1"/>
          </p:cNvSpPr>
          <p:nvPr/>
        </p:nvSpPr>
        <p:spPr>
          <a:xfrm>
            <a:off x="1238250" y="227647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Preguntar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DC6D994-3153-47FD-9779-BEA074679E56}"/>
              </a:ext>
            </a:extLst>
          </p:cNvPr>
          <p:cNvSpPr>
            <a:spLocks noGrp="1"/>
          </p:cNvSpPr>
          <p:nvPr/>
        </p:nvSpPr>
        <p:spPr>
          <a:xfrm>
            <a:off x="3619500" y="2276475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El wizard obliga a concretar problema, usuarios, alcance y restricciones.</a:t>
            </a: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3D6F51D3-E685-469C-8893-6A7B35D6B6C7}"/>
              </a:ext>
            </a:extLst>
          </p:cNvPr>
          <p:cNvSpPr>
            <a:spLocks noGrp="1"/>
          </p:cNvSpPr>
          <p:nvPr/>
        </p:nvSpPr>
        <p:spPr>
          <a:xfrm>
            <a:off x="400050" y="3057525"/>
            <a:ext cx="552450" cy="552450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04760207-1A91-4A46-BD57-35353D11396B}"/>
              </a:ext>
            </a:extLst>
          </p:cNvPr>
          <p:cNvSpPr>
            <a:spLocks noGrp="1"/>
          </p:cNvSpPr>
          <p:nvPr/>
        </p:nvSpPr>
        <p:spPr>
          <a:xfrm>
            <a:off x="400050" y="3152775"/>
            <a:ext cx="552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80DF89A9-A607-4A26-B1CB-716618CC248C}"/>
              </a:ext>
            </a:extLst>
          </p:cNvPr>
          <p:cNvSpPr>
            <a:spLocks noGrp="1"/>
          </p:cNvSpPr>
          <p:nvPr/>
        </p:nvSpPr>
        <p:spPr>
          <a:xfrm>
            <a:off x="1238250" y="309562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Explicar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D0612223-D121-4156-884E-03E521D1BF60}"/>
              </a:ext>
            </a:extLst>
          </p:cNvPr>
          <p:cNvSpPr>
            <a:spLocks noGrp="1"/>
          </p:cNvSpPr>
          <p:nvPr/>
        </p:nvSpPr>
        <p:spPr>
          <a:xfrm>
            <a:off x="3619500" y="3095625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Cada propuesta tecnológica muestra ventajas, límites y nivel de dificultad.</a:t>
            </a:r>
          </a:p>
        </p:txBody>
      </p:sp>
      <p:sp>
        <p:nvSpPr>
          <p:cNvPr id="15" name="panel">
            <a:extLst>
              <a:ext uri="{FF2B5EF4-FFF2-40B4-BE49-F238E27FC236}">
                <a16:creationId xmlns:a16="http://schemas.microsoft.com/office/drawing/2014/main" id="{5C64020F-58FC-4D83-9FAF-03D63D154737}"/>
              </a:ext>
            </a:extLst>
          </p:cNvPr>
          <p:cNvSpPr>
            <a:spLocks noGrp="1"/>
          </p:cNvSpPr>
          <p:nvPr/>
        </p:nvSpPr>
        <p:spPr>
          <a:xfrm>
            <a:off x="400050" y="3876675"/>
            <a:ext cx="552450" cy="552450"/>
          </a:xfrm>
          <a:prstGeom prst="rect">
            <a:avLst/>
          </a:prstGeom>
          <a:solidFill>
            <a:srgbClr val="20202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E2CCD68B-9C5F-42FB-96D6-C73CF1182F4B}"/>
              </a:ext>
            </a:extLst>
          </p:cNvPr>
          <p:cNvSpPr>
            <a:spLocks noGrp="1"/>
          </p:cNvSpPr>
          <p:nvPr/>
        </p:nvSpPr>
        <p:spPr>
          <a:xfrm>
            <a:off x="400050" y="3971925"/>
            <a:ext cx="552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06432"/>
                </a:solidFill>
              </a:defRPr>
            </a:pPr>
            <a:r>
              <a:rPr sz="1650" b="1">
                <a:solidFill>
                  <a:srgbClr val="F06432"/>
                </a:solidFill>
              </a:rPr>
              <a:t>3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6DBB69F4-3915-4A05-A4A1-879D0B28AB2E}"/>
              </a:ext>
            </a:extLst>
          </p:cNvPr>
          <p:cNvSpPr>
            <a:spLocks noGrp="1"/>
          </p:cNvSpPr>
          <p:nvPr/>
        </p:nvSpPr>
        <p:spPr>
          <a:xfrm>
            <a:off x="1238250" y="391477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Practicar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9DAF522D-0569-4313-9954-EE1CC23FBE9D}"/>
              </a:ext>
            </a:extLst>
          </p:cNvPr>
          <p:cNvSpPr>
            <a:spLocks noGrp="1"/>
          </p:cNvSpPr>
          <p:nvPr/>
        </p:nvSpPr>
        <p:spPr>
          <a:xfrm>
            <a:off x="3619500" y="3914775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El tutorial y el código base permiten ejecutar lo especificado.</a:t>
            </a:r>
          </a:p>
        </p:txBody>
      </p:sp>
      <p:sp>
        <p:nvSpPr>
          <p:cNvPr id="19" name="panel">
            <a:extLst>
              <a:ext uri="{FF2B5EF4-FFF2-40B4-BE49-F238E27FC236}">
                <a16:creationId xmlns:a16="http://schemas.microsoft.com/office/drawing/2014/main" id="{C38BD3A2-8BB1-4497-9782-440EDEEC2CA8}"/>
              </a:ext>
            </a:extLst>
          </p:cNvPr>
          <p:cNvSpPr>
            <a:spLocks noGrp="1"/>
          </p:cNvSpPr>
          <p:nvPr/>
        </p:nvSpPr>
        <p:spPr>
          <a:xfrm>
            <a:off x="400050" y="4695825"/>
            <a:ext cx="552450" cy="552450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AFF3B5C4-18A8-4EBA-9C2D-ABD2BEF994DF}"/>
              </a:ext>
            </a:extLst>
          </p:cNvPr>
          <p:cNvSpPr>
            <a:spLocks noGrp="1"/>
          </p:cNvSpPr>
          <p:nvPr/>
        </p:nvSpPr>
        <p:spPr>
          <a:xfrm>
            <a:off x="400050" y="4791075"/>
            <a:ext cx="552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DAE837EF-8B57-4123-963A-6B5C88DEDE03}"/>
              </a:ext>
            </a:extLst>
          </p:cNvPr>
          <p:cNvSpPr>
            <a:spLocks noGrp="1"/>
          </p:cNvSpPr>
          <p:nvPr/>
        </p:nvSpPr>
        <p:spPr>
          <a:xfrm>
            <a:off x="1238250" y="473392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Reflexionar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540964C2-6B36-4354-A178-A6A6FFAE8C28}"/>
              </a:ext>
            </a:extLst>
          </p:cNvPr>
          <p:cNvSpPr>
            <a:spLocks noGrp="1"/>
          </p:cNvSpPr>
          <p:nvPr/>
        </p:nvSpPr>
        <p:spPr>
          <a:xfrm>
            <a:off x="3619500" y="4733925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OpenSpec, ADR y criterios de aceptación dejan trazabilidad de las decisiones.</a:t>
            </a:r>
          </a:p>
        </p:txBody>
      </p:sp>
      <p:sp>
        <p:nvSpPr>
          <p:cNvPr id="23" name="panel">
            <a:extLst>
              <a:ext uri="{FF2B5EF4-FFF2-40B4-BE49-F238E27FC236}">
                <a16:creationId xmlns:a16="http://schemas.microsoft.com/office/drawing/2014/main" id="{1F2720D3-1236-4256-B9F8-144963C8D852}"/>
              </a:ext>
            </a:extLst>
          </p:cNvPr>
          <p:cNvSpPr>
            <a:spLocks noGrp="1"/>
          </p:cNvSpPr>
          <p:nvPr/>
        </p:nvSpPr>
        <p:spPr>
          <a:xfrm>
            <a:off x="400050" y="5715000"/>
            <a:ext cx="11391900" cy="400050"/>
          </a:xfrm>
          <a:prstGeom prst="rect">
            <a:avLst/>
          </a:prstGeom>
          <a:solidFill>
            <a:srgbClr val="E7F4E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C8AE6BF3-584E-4DB4-8682-FED129C488D8}"/>
              </a:ext>
            </a:extLst>
          </p:cNvPr>
          <p:cNvSpPr>
            <a:spLocks noGrp="1"/>
          </p:cNvSpPr>
          <p:nvPr/>
        </p:nvSpPr>
        <p:spPr>
          <a:xfrm>
            <a:off x="647700" y="5791200"/>
            <a:ext cx="1057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18864B"/>
                </a:solidFill>
              </a:defRPr>
            </a:pPr>
            <a:r>
              <a:rPr sz="1425" b="1">
                <a:solidFill>
                  <a:srgbClr val="18864B"/>
                </a:solidFill>
              </a:rPr>
              <a:t>Resultado: el estudiante no solo obtiene un MVP; aprende una secuencia que puede reutilizar.</a:t>
            </a:r>
          </a:p>
        </p:txBody>
      </p:sp>
    </p:spTree>
    <p:extLst>
      <p:ext uri="{BB962C8B-B14F-4D97-AF65-F5344CB8AC3E}">
        <p14:creationId xmlns:p14="http://schemas.microsoft.com/office/powerpoint/2010/main" val="1369440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>
            <a:extLst>
              <a:ext uri="{FF2B5EF4-FFF2-40B4-BE49-F238E27FC236}">
                <a16:creationId xmlns:a16="http://schemas.microsoft.com/office/drawing/2014/main" id="{E619DBFB-27FE-4F7F-8BD8-0959BE69E1F4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CONTEXTO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87114AB-9A11-4B53-AAE5-FD7F1C4994C5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El problema no es generar código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135A7AD-2C5E-4863-9C96-195A2A01387D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8A00E174-2E8F-41BB-9FFD-FA955D8C6CA1}"/>
              </a:ext>
            </a:extLst>
          </p:cNvPr>
          <p:cNvSpPr>
            <a:spLocks noGrp="1"/>
          </p:cNvSpPr>
          <p:nvPr/>
        </p:nvSpPr>
        <p:spPr>
          <a:xfrm>
            <a:off x="400050" y="64579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9C07D24-0EEE-47CD-8D2A-B8020209D496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600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220AC05-53FA-4A45-940C-E5AC3EFF44F2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0096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0">
                <a:solidFill>
                  <a:srgbClr val="555555"/>
                </a:solidFill>
              </a:defRPr>
            </a:pPr>
            <a:r>
              <a:rPr sz="2175" b="0">
                <a:solidFill>
                  <a:srgbClr val="555555"/>
                </a:solidFill>
              </a:rPr>
              <a:t>Es generar código sin contexto, sin decisiones explícitas y sin una forma fiable de continuar.</a:t>
            </a:r>
          </a:p>
        </p:txBody>
      </p:sp>
      <p:sp>
        <p:nvSpPr>
          <p:cNvPr id="7" name="panel">
            <a:extLst>
              <a:ext uri="{FF2B5EF4-FFF2-40B4-BE49-F238E27FC236}">
                <a16:creationId xmlns:a16="http://schemas.microsoft.com/office/drawing/2014/main" id="{2C4E0671-6A3B-464A-A653-A9D3E4B14DBB}"/>
              </a:ext>
            </a:extLst>
          </p:cNvPr>
          <p:cNvSpPr>
            <a:spLocks noGrp="1"/>
          </p:cNvSpPr>
          <p:nvPr/>
        </p:nvSpPr>
        <p:spPr>
          <a:xfrm>
            <a:off x="400050" y="2619375"/>
            <a:ext cx="3524250" cy="2857500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15C951D-83F6-44FA-83D9-5A2970399F91}"/>
              </a:ext>
            </a:extLst>
          </p:cNvPr>
          <p:cNvSpPr>
            <a:spLocks noGrp="1"/>
          </p:cNvSpPr>
          <p:nvPr/>
        </p:nvSpPr>
        <p:spPr>
          <a:xfrm>
            <a:off x="647700" y="2857500"/>
            <a:ext cx="57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F06432"/>
                </a:solidFill>
              </a:defRPr>
            </a:pPr>
            <a:r>
              <a:rPr sz="2250" b="1">
                <a:solidFill>
                  <a:srgbClr val="F06432"/>
                </a:solidFill>
              </a:rPr>
              <a:t>01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75EB0EEE-78AA-4497-A0B3-5C721C303827}"/>
              </a:ext>
            </a:extLst>
          </p:cNvPr>
          <p:cNvSpPr>
            <a:spLocks noGrp="1"/>
          </p:cNvSpPr>
          <p:nvPr/>
        </p:nvSpPr>
        <p:spPr>
          <a:xfrm>
            <a:off x="647700" y="347662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Especificación débil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8245CE31-5A79-48B5-86B6-0B77B701D721}"/>
              </a:ext>
            </a:extLst>
          </p:cNvPr>
          <p:cNvSpPr>
            <a:spLocks noGrp="1"/>
          </p:cNvSpPr>
          <p:nvPr/>
        </p:nvSpPr>
        <p:spPr>
          <a:xfrm>
            <a:off x="647700" y="4048125"/>
            <a:ext cx="285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Los requisitos quedan en conversaciones dispersas y el alcance cambia mientras se programa.</a:t>
            </a: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E79BD237-14E9-4B83-A5B3-E0C692692308}"/>
              </a:ext>
            </a:extLst>
          </p:cNvPr>
          <p:cNvSpPr>
            <a:spLocks noGrp="1"/>
          </p:cNvSpPr>
          <p:nvPr/>
        </p:nvSpPr>
        <p:spPr>
          <a:xfrm>
            <a:off x="4333875" y="2619375"/>
            <a:ext cx="3524250" cy="2857500"/>
          </a:xfrm>
          <a:prstGeom prst="rect">
            <a:avLst/>
          </a:prstGeom>
          <a:solidFill>
            <a:srgbClr val="20202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CA808944-4C2D-48D9-86C3-C569D19142C3}"/>
              </a:ext>
            </a:extLst>
          </p:cNvPr>
          <p:cNvSpPr>
            <a:spLocks noGrp="1"/>
          </p:cNvSpPr>
          <p:nvPr/>
        </p:nvSpPr>
        <p:spPr>
          <a:xfrm>
            <a:off x="4581525" y="2857500"/>
            <a:ext cx="57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F06432"/>
                </a:solidFill>
              </a:defRPr>
            </a:pPr>
            <a:r>
              <a:rPr sz="2250" b="1">
                <a:solidFill>
                  <a:srgbClr val="F06432"/>
                </a:solidFill>
              </a:rPr>
              <a:t>02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DF3A37C0-A44B-4D61-9077-F24416172391}"/>
              </a:ext>
            </a:extLst>
          </p:cNvPr>
          <p:cNvSpPr>
            <a:spLocks noGrp="1"/>
          </p:cNvSpPr>
          <p:nvPr/>
        </p:nvSpPr>
        <p:spPr>
          <a:xfrm>
            <a:off x="4581525" y="347662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IA sin memoria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8BAD06BE-5690-421F-B407-41C66CCC4B96}"/>
              </a:ext>
            </a:extLst>
          </p:cNvPr>
          <p:cNvSpPr>
            <a:spLocks noGrp="1"/>
          </p:cNvSpPr>
          <p:nvPr/>
        </p:nvSpPr>
        <p:spPr>
          <a:xfrm>
            <a:off x="4581525" y="4048125"/>
            <a:ext cx="285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D5D5D5"/>
                </a:solidFill>
              </a:defRPr>
            </a:pPr>
            <a:r>
              <a:rPr sz="1425" b="0">
                <a:solidFill>
                  <a:srgbClr val="D5D5D5"/>
                </a:solidFill>
              </a:rPr>
              <a:t>Cada sesión vuelve a interpretar el proyecto y produce decisiones incompatibles.</a:t>
            </a:r>
          </a:p>
        </p:txBody>
      </p:sp>
      <p:sp>
        <p:nvSpPr>
          <p:cNvPr id="15" name="panel">
            <a:extLst>
              <a:ext uri="{FF2B5EF4-FFF2-40B4-BE49-F238E27FC236}">
                <a16:creationId xmlns:a16="http://schemas.microsoft.com/office/drawing/2014/main" id="{A6CDB55A-F9CF-44BE-A1EF-25567883703E}"/>
              </a:ext>
            </a:extLst>
          </p:cNvPr>
          <p:cNvSpPr>
            <a:spLocks noGrp="1"/>
          </p:cNvSpPr>
          <p:nvPr/>
        </p:nvSpPr>
        <p:spPr>
          <a:xfrm>
            <a:off x="8267700" y="2619375"/>
            <a:ext cx="3524250" cy="2857500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230B348B-B4AF-40F2-9384-DB0CBAF5E092}"/>
              </a:ext>
            </a:extLst>
          </p:cNvPr>
          <p:cNvSpPr>
            <a:spLocks noGrp="1"/>
          </p:cNvSpPr>
          <p:nvPr/>
        </p:nvSpPr>
        <p:spPr>
          <a:xfrm>
            <a:off x="8515350" y="2857500"/>
            <a:ext cx="57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F06432"/>
                </a:solidFill>
              </a:defRPr>
            </a:pPr>
            <a:r>
              <a:rPr sz="2250" b="1">
                <a:solidFill>
                  <a:srgbClr val="F06432"/>
                </a:solidFill>
              </a:rPr>
              <a:t>03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A4C0DD58-8557-42B4-A010-6F1124BD10C2}"/>
              </a:ext>
            </a:extLst>
          </p:cNvPr>
          <p:cNvSpPr>
            <a:spLocks noGrp="1"/>
          </p:cNvSpPr>
          <p:nvPr/>
        </p:nvSpPr>
        <p:spPr>
          <a:xfrm>
            <a:off x="8515350" y="347662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Aprendizaje invisible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DA8B429A-DAED-426D-9F1D-690578B2E72F}"/>
              </a:ext>
            </a:extLst>
          </p:cNvPr>
          <p:cNvSpPr>
            <a:spLocks noGrp="1"/>
          </p:cNvSpPr>
          <p:nvPr/>
        </p:nvSpPr>
        <p:spPr>
          <a:xfrm>
            <a:off x="8515350" y="4048125"/>
            <a:ext cx="2857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El alumno recibe una respuesta, pero no una metodología reutilizable para construir el siguiente proyecto.</a:t>
            </a:r>
          </a:p>
        </p:txBody>
      </p:sp>
    </p:spTree>
    <p:extLst>
      <p:ext uri="{BB962C8B-B14F-4D97-AF65-F5344CB8AC3E}">
        <p14:creationId xmlns:p14="http://schemas.microsoft.com/office/powerpoint/2010/main" val="295667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>
            <a:extLst>
              <a:ext uri="{FF2B5EF4-FFF2-40B4-BE49-F238E27FC236}">
                <a16:creationId xmlns:a16="http://schemas.microsoft.com/office/drawing/2014/main" id="{D1AA2205-FE83-4E10-9E8E-40891494234A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PROPUESTA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ACF2E0E-6CB6-412C-878D-5BF52FC6C60D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La solución: especificar antes de generar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2C2F95E-E384-4C5F-9EE8-AA3C9D62C68F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EE2AC4D0-37BC-434A-9864-D801533399A6}"/>
              </a:ext>
            </a:extLst>
          </p:cNvPr>
          <p:cNvSpPr>
            <a:spLocks noGrp="1"/>
          </p:cNvSpPr>
          <p:nvPr/>
        </p:nvSpPr>
        <p:spPr>
          <a:xfrm>
            <a:off x="400050" y="64579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144F3147-C1C1-4F04-897B-33BB2F396A74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600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154227B-8F0D-434A-8CAF-B2E9E74D4CF4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076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0">
                <a:solidFill>
                  <a:srgbClr val="555555"/>
                </a:solidFill>
              </a:defRPr>
            </a:pPr>
            <a:r>
              <a:rPr sz="2025" b="0">
                <a:solidFill>
                  <a:srgbClr val="555555"/>
                </a:solidFill>
              </a:rPr>
              <a:t>ProgresIA Studio convierte la conversación inicial en una cadena de artefactos coherentes.</a:t>
            </a:r>
          </a:p>
        </p:txBody>
      </p:sp>
      <p:sp>
        <p:nvSpPr>
          <p:cNvPr id="7" name="bullet-0">
            <a:extLst>
              <a:ext uri="{FF2B5EF4-FFF2-40B4-BE49-F238E27FC236}">
                <a16:creationId xmlns:a16="http://schemas.microsoft.com/office/drawing/2014/main" id="{12211F78-B198-4D2C-8317-FE71A95A2DCC}"/>
              </a:ext>
            </a:extLst>
          </p:cNvPr>
          <p:cNvSpPr>
            <a:spLocks noGrp="1"/>
          </p:cNvSpPr>
          <p:nvPr/>
        </p:nvSpPr>
        <p:spPr>
          <a:xfrm>
            <a:off x="619125" y="2409825"/>
            <a:ext cx="95250" cy="95250"/>
          </a:xfrm>
          <a:prstGeom prst="rect">
            <a:avLst/>
          </a:prstGeom>
          <a:solidFill>
            <a:srgbClr val="F06432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CBCFDEB-86EE-4485-8339-18B1F14FFCCE}"/>
              </a:ext>
            </a:extLst>
          </p:cNvPr>
          <p:cNvSpPr>
            <a:spLocks noGrp="1"/>
          </p:cNvSpPr>
          <p:nvPr/>
        </p:nvSpPr>
        <p:spPr>
          <a:xfrm>
            <a:off x="885825" y="2333625"/>
            <a:ext cx="6591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Guía al usuario mediante un wizard conversacional adaptado a su nivel técnico.</a:t>
            </a:r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484DB382-0C0E-47BC-9C0E-9AC08621CC5A}"/>
              </a:ext>
            </a:extLst>
          </p:cNvPr>
          <p:cNvSpPr>
            <a:spLocks noGrp="1"/>
          </p:cNvSpPr>
          <p:nvPr/>
        </p:nvSpPr>
        <p:spPr>
          <a:xfrm>
            <a:off x="619125" y="3171825"/>
            <a:ext cx="95250" cy="95250"/>
          </a:xfrm>
          <a:prstGeom prst="rect">
            <a:avLst/>
          </a:prstGeom>
          <a:solidFill>
            <a:srgbClr val="F06432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3E2022E4-A8C5-42CF-AADB-90BF83AFE682}"/>
              </a:ext>
            </a:extLst>
          </p:cNvPr>
          <p:cNvSpPr>
            <a:spLocks noGrp="1"/>
          </p:cNvSpPr>
          <p:nvPr/>
        </p:nvSpPr>
        <p:spPr>
          <a:xfrm>
            <a:off x="885825" y="3095625"/>
            <a:ext cx="6591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Convierte la idea en requisitos, arquitectura y un OpenSpec reutilizable.</a:t>
            </a:r>
          </a:p>
        </p:txBody>
      </p:sp>
      <p:sp>
        <p:nvSpPr>
          <p:cNvPr id="11" name="bullet-2">
            <a:extLst>
              <a:ext uri="{FF2B5EF4-FFF2-40B4-BE49-F238E27FC236}">
                <a16:creationId xmlns:a16="http://schemas.microsoft.com/office/drawing/2014/main" id="{5D0F783F-AFF4-4D8E-98C2-8C043394C5FA}"/>
              </a:ext>
            </a:extLst>
          </p:cNvPr>
          <p:cNvSpPr>
            <a:spLocks noGrp="1"/>
          </p:cNvSpPr>
          <p:nvPr/>
        </p:nvSpPr>
        <p:spPr>
          <a:xfrm>
            <a:off x="619125" y="3933825"/>
            <a:ext cx="95250" cy="95250"/>
          </a:xfrm>
          <a:prstGeom prst="rect">
            <a:avLst/>
          </a:prstGeom>
          <a:solidFill>
            <a:srgbClr val="F06432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9A4A1173-DB98-45F6-835C-3D2B8CB24856}"/>
              </a:ext>
            </a:extLst>
          </p:cNvPr>
          <p:cNvSpPr>
            <a:spLocks noGrp="1"/>
          </p:cNvSpPr>
          <p:nvPr/>
        </p:nvSpPr>
        <p:spPr>
          <a:xfrm>
            <a:off x="885825" y="3857625"/>
            <a:ext cx="6591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Genera issues, tutorial, código base, documentación y un ZIP validado.</a:t>
            </a:r>
          </a:p>
        </p:txBody>
      </p:sp>
      <p:sp>
        <p:nvSpPr>
          <p:cNvPr id="13" name="bullet-3">
            <a:extLst>
              <a:ext uri="{FF2B5EF4-FFF2-40B4-BE49-F238E27FC236}">
                <a16:creationId xmlns:a16="http://schemas.microsoft.com/office/drawing/2014/main" id="{0AF73F6E-8A72-477B-A909-313B3394976F}"/>
              </a:ext>
            </a:extLst>
          </p:cNvPr>
          <p:cNvSpPr>
            <a:spLocks noGrp="1"/>
          </p:cNvSpPr>
          <p:nvPr/>
        </p:nvSpPr>
        <p:spPr>
          <a:xfrm>
            <a:off x="619125" y="4695825"/>
            <a:ext cx="95250" cy="95250"/>
          </a:xfrm>
          <a:prstGeom prst="rect">
            <a:avLst/>
          </a:prstGeom>
          <a:solidFill>
            <a:srgbClr val="F06432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3E0FD428-45C6-495D-8F3D-7D4F3573F94D}"/>
              </a:ext>
            </a:extLst>
          </p:cNvPr>
          <p:cNvSpPr>
            <a:spLocks noGrp="1"/>
          </p:cNvSpPr>
          <p:nvPr/>
        </p:nvSpPr>
        <p:spPr>
          <a:xfrm>
            <a:off x="885825" y="4619625"/>
            <a:ext cx="6591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Permite continuar el desarrollo con personas o asistentes de IA sin perder contexto.</a:t>
            </a:r>
          </a:p>
        </p:txBody>
      </p:sp>
      <p:sp>
        <p:nvSpPr>
          <p:cNvPr id="15" name="panel">
            <a:extLst>
              <a:ext uri="{FF2B5EF4-FFF2-40B4-BE49-F238E27FC236}">
                <a16:creationId xmlns:a16="http://schemas.microsoft.com/office/drawing/2014/main" id="{E3B7525A-71A4-4714-9FBE-6F77506DB753}"/>
              </a:ext>
            </a:extLst>
          </p:cNvPr>
          <p:cNvSpPr>
            <a:spLocks noGrp="1"/>
          </p:cNvSpPr>
          <p:nvPr/>
        </p:nvSpPr>
        <p:spPr>
          <a:xfrm>
            <a:off x="8286750" y="2095500"/>
            <a:ext cx="3143250" cy="3333750"/>
          </a:xfrm>
          <a:prstGeom prst="rect">
            <a:avLst/>
          </a:prstGeom>
          <a:solidFill>
            <a:srgbClr val="20202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FA4A674E-1E82-4998-9541-FD4053CFA3B1}"/>
              </a:ext>
            </a:extLst>
          </p:cNvPr>
          <p:cNvSpPr>
            <a:spLocks noGrp="1"/>
          </p:cNvSpPr>
          <p:nvPr/>
        </p:nvSpPr>
        <p:spPr>
          <a:xfrm>
            <a:off x="8572500" y="2400300"/>
            <a:ext cx="257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DIFERENCIADOR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ACA40AEA-BD0E-4BAD-89E0-3A06EEAA2E62}"/>
              </a:ext>
            </a:extLst>
          </p:cNvPr>
          <p:cNvSpPr>
            <a:spLocks noGrp="1"/>
          </p:cNvSpPr>
          <p:nvPr/>
        </p:nvSpPr>
        <p:spPr>
          <a:xfrm>
            <a:off x="8572500" y="3000375"/>
            <a:ext cx="2571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No es solo</a:t>
            </a:r>
          </a:p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un generador.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9D25A5B8-DB15-46F5-B611-F3AF2691DE9B}"/>
              </a:ext>
            </a:extLst>
          </p:cNvPr>
          <p:cNvSpPr>
            <a:spLocks noGrp="1"/>
          </p:cNvSpPr>
          <p:nvPr/>
        </p:nvSpPr>
        <p:spPr>
          <a:xfrm>
            <a:off x="8572500" y="4333875"/>
            <a:ext cx="2476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D5D5D5"/>
                </a:solidFill>
              </a:defRPr>
            </a:pPr>
            <a:r>
              <a:rPr sz="1500" b="0">
                <a:solidFill>
                  <a:srgbClr val="D5D5D5"/>
                </a:solidFill>
              </a:rPr>
              <a:t>Es una metodología educativa convertida en producto software.</a:t>
            </a:r>
          </a:p>
        </p:txBody>
      </p:sp>
    </p:spTree>
    <p:extLst>
      <p:ext uri="{BB962C8B-B14F-4D97-AF65-F5344CB8AC3E}">
        <p14:creationId xmlns:p14="http://schemas.microsoft.com/office/powerpoint/2010/main" val="653945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">
            <a:extLst>
              <a:ext uri="{FF2B5EF4-FFF2-40B4-BE49-F238E27FC236}">
                <a16:creationId xmlns:a16="http://schemas.microsoft.com/office/drawing/2014/main" id="{EBE3CA39-6C1B-4A1D-BDC6-9A49CF9432EC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METODOLOGÍA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0038640-30D9-43D6-A640-050584D2FBC9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Un pipeline SDD con una única fuente de verdad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984738D-D381-496F-AB7F-46EE43FA2F37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62926D4-06C2-4E21-BC27-49645C99BE28}"/>
              </a:ext>
            </a:extLst>
          </p:cNvPr>
          <p:cNvSpPr>
            <a:spLocks noGrp="1"/>
          </p:cNvSpPr>
          <p:nvPr/>
        </p:nvSpPr>
        <p:spPr>
          <a:xfrm>
            <a:off x="400050" y="64579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8AED41F-B593-4B03-8B8C-71AA04FB35CC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600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6" name="stage-1">
            <a:extLst>
              <a:ext uri="{FF2B5EF4-FFF2-40B4-BE49-F238E27FC236}">
                <a16:creationId xmlns:a16="http://schemas.microsoft.com/office/drawing/2014/main" id="{1A3DC7BB-8599-416C-833D-8A6FAD476D36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1428750" cy="27146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6E4E08A-663E-4FDF-9A5D-1EF056DC50B2}"/>
              </a:ext>
            </a:extLst>
          </p:cNvPr>
          <p:cNvSpPr>
            <a:spLocks noGrp="1"/>
          </p:cNvSpPr>
          <p:nvPr/>
        </p:nvSpPr>
        <p:spPr>
          <a:xfrm>
            <a:off x="571500" y="2238375"/>
            <a:ext cx="40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009DDBD4-C528-478A-9905-3CD295D0C704}"/>
              </a:ext>
            </a:extLst>
          </p:cNvPr>
          <p:cNvSpPr>
            <a:spLocks noGrp="1"/>
          </p:cNvSpPr>
          <p:nvPr/>
        </p:nvSpPr>
        <p:spPr>
          <a:xfrm>
            <a:off x="571500" y="2714625"/>
            <a:ext cx="1085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Idea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665B781-637C-408A-BA6A-690AE418CF81}"/>
              </a:ext>
            </a:extLst>
          </p:cNvPr>
          <p:cNvSpPr>
            <a:spLocks noGrp="1"/>
          </p:cNvSpPr>
          <p:nvPr/>
        </p:nvSpPr>
        <p:spPr>
          <a:xfrm>
            <a:off x="571500" y="3171825"/>
            <a:ext cx="10858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Conversación guiada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95B785D-2541-4352-933F-C2D4809A4549}"/>
              </a:ext>
            </a:extLst>
          </p:cNvPr>
          <p:cNvSpPr>
            <a:spLocks noGrp="1"/>
          </p:cNvSpPr>
          <p:nvPr/>
        </p:nvSpPr>
        <p:spPr>
          <a:xfrm>
            <a:off x="1809750" y="3143250"/>
            <a:ext cx="238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11" name="stage-2">
            <a:extLst>
              <a:ext uri="{FF2B5EF4-FFF2-40B4-BE49-F238E27FC236}">
                <a16:creationId xmlns:a16="http://schemas.microsoft.com/office/drawing/2014/main" id="{1EE12B65-50D3-4815-990D-B91AC5ACE3D9}"/>
              </a:ext>
            </a:extLst>
          </p:cNvPr>
          <p:cNvSpPr>
            <a:spLocks noGrp="1"/>
          </p:cNvSpPr>
          <p:nvPr/>
        </p:nvSpPr>
        <p:spPr>
          <a:xfrm>
            <a:off x="2028825" y="2095500"/>
            <a:ext cx="1428750" cy="27146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841CC085-F9AC-492D-A4B0-BBBFA61E43A0}"/>
              </a:ext>
            </a:extLst>
          </p:cNvPr>
          <p:cNvSpPr>
            <a:spLocks noGrp="1"/>
          </p:cNvSpPr>
          <p:nvPr/>
        </p:nvSpPr>
        <p:spPr>
          <a:xfrm>
            <a:off x="2200275" y="2238375"/>
            <a:ext cx="40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B6700AA9-AFD9-4E8D-B0CC-D659FAFB1327}"/>
              </a:ext>
            </a:extLst>
          </p:cNvPr>
          <p:cNvSpPr>
            <a:spLocks noGrp="1"/>
          </p:cNvSpPr>
          <p:nvPr/>
        </p:nvSpPr>
        <p:spPr>
          <a:xfrm>
            <a:off x="2200275" y="2714625"/>
            <a:ext cx="1085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Requisitos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A5FBDCF-7ADC-4A1A-AAA4-61FFEAB6C988}"/>
              </a:ext>
            </a:extLst>
          </p:cNvPr>
          <p:cNvSpPr>
            <a:spLocks noGrp="1"/>
          </p:cNvSpPr>
          <p:nvPr/>
        </p:nvSpPr>
        <p:spPr>
          <a:xfrm>
            <a:off x="2200275" y="3171825"/>
            <a:ext cx="10858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RF, RNF y stories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F21E986-0824-42CC-9506-7D68CB98428B}"/>
              </a:ext>
            </a:extLst>
          </p:cNvPr>
          <p:cNvSpPr>
            <a:spLocks noGrp="1"/>
          </p:cNvSpPr>
          <p:nvPr/>
        </p:nvSpPr>
        <p:spPr>
          <a:xfrm>
            <a:off x="3438525" y="3143250"/>
            <a:ext cx="238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16" name="stage-3">
            <a:extLst>
              <a:ext uri="{FF2B5EF4-FFF2-40B4-BE49-F238E27FC236}">
                <a16:creationId xmlns:a16="http://schemas.microsoft.com/office/drawing/2014/main" id="{18E97914-B42D-4A06-B168-CF5E3D588A5B}"/>
              </a:ext>
            </a:extLst>
          </p:cNvPr>
          <p:cNvSpPr>
            <a:spLocks noGrp="1"/>
          </p:cNvSpPr>
          <p:nvPr/>
        </p:nvSpPr>
        <p:spPr>
          <a:xfrm>
            <a:off x="3657600" y="2095500"/>
            <a:ext cx="1428750" cy="27146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764F0147-6543-46BF-A830-E6F58B0B8DF0}"/>
              </a:ext>
            </a:extLst>
          </p:cNvPr>
          <p:cNvSpPr>
            <a:spLocks noGrp="1"/>
          </p:cNvSpPr>
          <p:nvPr/>
        </p:nvSpPr>
        <p:spPr>
          <a:xfrm>
            <a:off x="3829050" y="2238375"/>
            <a:ext cx="40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7E89FA51-76B0-46A6-9606-F18326BC7189}"/>
              </a:ext>
            </a:extLst>
          </p:cNvPr>
          <p:cNvSpPr>
            <a:spLocks noGrp="1"/>
          </p:cNvSpPr>
          <p:nvPr/>
        </p:nvSpPr>
        <p:spPr>
          <a:xfrm>
            <a:off x="3829050" y="2714625"/>
            <a:ext cx="1085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Arquitectura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551293DF-1216-4C49-914B-38C75FCC364E}"/>
              </a:ext>
            </a:extLst>
          </p:cNvPr>
          <p:cNvSpPr>
            <a:spLocks noGrp="1"/>
          </p:cNvSpPr>
          <p:nvPr/>
        </p:nvSpPr>
        <p:spPr>
          <a:xfrm>
            <a:off x="3829050" y="3171825"/>
            <a:ext cx="10858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Stack y decisiones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211FF7B7-9BC0-41E1-81C4-943DC9FD1077}"/>
              </a:ext>
            </a:extLst>
          </p:cNvPr>
          <p:cNvSpPr>
            <a:spLocks noGrp="1"/>
          </p:cNvSpPr>
          <p:nvPr/>
        </p:nvSpPr>
        <p:spPr>
          <a:xfrm>
            <a:off x="5067300" y="3143250"/>
            <a:ext cx="238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21" name="stage-4">
            <a:extLst>
              <a:ext uri="{FF2B5EF4-FFF2-40B4-BE49-F238E27FC236}">
                <a16:creationId xmlns:a16="http://schemas.microsoft.com/office/drawing/2014/main" id="{3E546E80-F4C6-4EA9-9FC7-618FBFBB60FC}"/>
              </a:ext>
            </a:extLst>
          </p:cNvPr>
          <p:cNvSpPr>
            <a:spLocks noGrp="1"/>
          </p:cNvSpPr>
          <p:nvPr/>
        </p:nvSpPr>
        <p:spPr>
          <a:xfrm>
            <a:off x="5286375" y="2095500"/>
            <a:ext cx="1428750" cy="2714625"/>
          </a:xfrm>
          <a:prstGeom prst="rect">
            <a:avLst/>
          </a:prstGeom>
          <a:solidFill>
            <a:srgbClr val="20202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AD9E3889-ABD7-4924-BABC-28918ED7164D}"/>
              </a:ext>
            </a:extLst>
          </p:cNvPr>
          <p:cNvSpPr>
            <a:spLocks noGrp="1"/>
          </p:cNvSpPr>
          <p:nvPr/>
        </p:nvSpPr>
        <p:spPr>
          <a:xfrm>
            <a:off x="5457825" y="2238375"/>
            <a:ext cx="40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4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DA41B5B6-9652-481E-A1A2-8AFA47852211}"/>
              </a:ext>
            </a:extLst>
          </p:cNvPr>
          <p:cNvSpPr>
            <a:spLocks noGrp="1"/>
          </p:cNvSpPr>
          <p:nvPr/>
        </p:nvSpPr>
        <p:spPr>
          <a:xfrm>
            <a:off x="5457825" y="2714625"/>
            <a:ext cx="1085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OpenSpec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EAB830D1-A461-4997-9403-AACF95C36C7F}"/>
              </a:ext>
            </a:extLst>
          </p:cNvPr>
          <p:cNvSpPr>
            <a:spLocks noGrp="1"/>
          </p:cNvSpPr>
          <p:nvPr/>
        </p:nvSpPr>
        <p:spPr>
          <a:xfrm>
            <a:off x="5457825" y="3171825"/>
            <a:ext cx="10858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Contrato central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9084175B-6A21-40A8-901B-873F22A72825}"/>
              </a:ext>
            </a:extLst>
          </p:cNvPr>
          <p:cNvSpPr>
            <a:spLocks noGrp="1"/>
          </p:cNvSpPr>
          <p:nvPr/>
        </p:nvSpPr>
        <p:spPr>
          <a:xfrm>
            <a:off x="6696075" y="3143250"/>
            <a:ext cx="238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26" name="stage-5">
            <a:extLst>
              <a:ext uri="{FF2B5EF4-FFF2-40B4-BE49-F238E27FC236}">
                <a16:creationId xmlns:a16="http://schemas.microsoft.com/office/drawing/2014/main" id="{9E3B3D2C-0CB7-40E0-B0DF-FD8E6642D2C5}"/>
              </a:ext>
            </a:extLst>
          </p:cNvPr>
          <p:cNvSpPr>
            <a:spLocks noGrp="1"/>
          </p:cNvSpPr>
          <p:nvPr/>
        </p:nvSpPr>
        <p:spPr>
          <a:xfrm>
            <a:off x="6915150" y="2095500"/>
            <a:ext cx="1428750" cy="27146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19435026-FC77-43A1-99E7-A88F2D68CDEB}"/>
              </a:ext>
            </a:extLst>
          </p:cNvPr>
          <p:cNvSpPr>
            <a:spLocks noGrp="1"/>
          </p:cNvSpPr>
          <p:nvPr/>
        </p:nvSpPr>
        <p:spPr>
          <a:xfrm>
            <a:off x="7086600" y="2238375"/>
            <a:ext cx="40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5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755A9B55-05F1-4398-9492-8B2DC26DF9B8}"/>
              </a:ext>
            </a:extLst>
          </p:cNvPr>
          <p:cNvSpPr>
            <a:spLocks noGrp="1"/>
          </p:cNvSpPr>
          <p:nvPr/>
        </p:nvSpPr>
        <p:spPr>
          <a:xfrm>
            <a:off x="7086600" y="2714625"/>
            <a:ext cx="1085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Issues + tutorial</a:t>
            </a:r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F443033A-F38B-4C3D-B84E-6EB73010C872}"/>
              </a:ext>
            </a:extLst>
          </p:cNvPr>
          <p:cNvSpPr>
            <a:spLocks noGrp="1"/>
          </p:cNvSpPr>
          <p:nvPr/>
        </p:nvSpPr>
        <p:spPr>
          <a:xfrm>
            <a:off x="7086600" y="3171825"/>
            <a:ext cx="10858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Plan ejecutable</a:t>
            </a:r>
          </a:p>
        </p:txBody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3902B3E1-6ACA-440C-B511-6E68D4A89C91}"/>
              </a:ext>
            </a:extLst>
          </p:cNvPr>
          <p:cNvSpPr>
            <a:spLocks noGrp="1"/>
          </p:cNvSpPr>
          <p:nvPr/>
        </p:nvSpPr>
        <p:spPr>
          <a:xfrm>
            <a:off x="8324850" y="3143250"/>
            <a:ext cx="238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31" name="stage-6">
            <a:extLst>
              <a:ext uri="{FF2B5EF4-FFF2-40B4-BE49-F238E27FC236}">
                <a16:creationId xmlns:a16="http://schemas.microsoft.com/office/drawing/2014/main" id="{3F1C52F2-7043-4289-92F4-E3425268D94E}"/>
              </a:ext>
            </a:extLst>
          </p:cNvPr>
          <p:cNvSpPr>
            <a:spLocks noGrp="1"/>
          </p:cNvSpPr>
          <p:nvPr/>
        </p:nvSpPr>
        <p:spPr>
          <a:xfrm>
            <a:off x="8543925" y="2095500"/>
            <a:ext cx="1428750" cy="27146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D986943C-1A6F-4B83-87FF-1533C53E4D87}"/>
              </a:ext>
            </a:extLst>
          </p:cNvPr>
          <p:cNvSpPr>
            <a:spLocks noGrp="1"/>
          </p:cNvSpPr>
          <p:nvPr/>
        </p:nvSpPr>
        <p:spPr>
          <a:xfrm>
            <a:off x="8715375" y="2238375"/>
            <a:ext cx="40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6</a:t>
            </a:r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F26557E7-8A74-48B0-864A-5AEDB0EE265F}"/>
              </a:ext>
            </a:extLst>
          </p:cNvPr>
          <p:cNvSpPr>
            <a:spLocks noGrp="1"/>
          </p:cNvSpPr>
          <p:nvPr/>
        </p:nvSpPr>
        <p:spPr>
          <a:xfrm>
            <a:off x="8715375" y="2714625"/>
            <a:ext cx="1085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Código</a:t>
            </a:r>
          </a:p>
        </p:txBody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9FEDF36F-DCB3-4396-8790-0FF1BF0EF463}"/>
              </a:ext>
            </a:extLst>
          </p:cNvPr>
          <p:cNvSpPr>
            <a:spLocks noGrp="1"/>
          </p:cNvSpPr>
          <p:nvPr/>
        </p:nvSpPr>
        <p:spPr>
          <a:xfrm>
            <a:off x="8715375" y="3171825"/>
            <a:ext cx="10858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Scaffold por stack</a:t>
            </a:r>
          </a:p>
        </p:txBody>
      </p:sp>
      <p:sp>
        <p:nvSpPr>
          <p:cNvPr id="35" name="text">
            <a:extLst>
              <a:ext uri="{FF2B5EF4-FFF2-40B4-BE49-F238E27FC236}">
                <a16:creationId xmlns:a16="http://schemas.microsoft.com/office/drawing/2014/main" id="{161D0884-F911-4965-9BA1-419C024F2B08}"/>
              </a:ext>
            </a:extLst>
          </p:cNvPr>
          <p:cNvSpPr>
            <a:spLocks noGrp="1"/>
          </p:cNvSpPr>
          <p:nvPr/>
        </p:nvSpPr>
        <p:spPr>
          <a:xfrm>
            <a:off x="9953625" y="3143250"/>
            <a:ext cx="238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36" name="stage-7">
            <a:extLst>
              <a:ext uri="{FF2B5EF4-FFF2-40B4-BE49-F238E27FC236}">
                <a16:creationId xmlns:a16="http://schemas.microsoft.com/office/drawing/2014/main" id="{B2F46849-18A5-4E2E-B0E0-773A80DDACFC}"/>
              </a:ext>
            </a:extLst>
          </p:cNvPr>
          <p:cNvSpPr>
            <a:spLocks noGrp="1"/>
          </p:cNvSpPr>
          <p:nvPr/>
        </p:nvSpPr>
        <p:spPr>
          <a:xfrm>
            <a:off x="10172700" y="2095500"/>
            <a:ext cx="1428750" cy="27146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">
            <a:extLst>
              <a:ext uri="{FF2B5EF4-FFF2-40B4-BE49-F238E27FC236}">
                <a16:creationId xmlns:a16="http://schemas.microsoft.com/office/drawing/2014/main" id="{B0E1DE20-3634-4F1F-9193-5EA5F0183ABE}"/>
              </a:ext>
            </a:extLst>
          </p:cNvPr>
          <p:cNvSpPr>
            <a:spLocks noGrp="1"/>
          </p:cNvSpPr>
          <p:nvPr/>
        </p:nvSpPr>
        <p:spPr>
          <a:xfrm>
            <a:off x="10344150" y="2238375"/>
            <a:ext cx="40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7</a:t>
            </a:r>
          </a:p>
        </p:txBody>
      </p:sp>
      <p:sp>
        <p:nvSpPr>
          <p:cNvPr id="38" name="text">
            <a:extLst>
              <a:ext uri="{FF2B5EF4-FFF2-40B4-BE49-F238E27FC236}">
                <a16:creationId xmlns:a16="http://schemas.microsoft.com/office/drawing/2014/main" id="{599F2408-2AE9-45A1-8889-B444EDCB0EDD}"/>
              </a:ext>
            </a:extLst>
          </p:cNvPr>
          <p:cNvSpPr>
            <a:spLocks noGrp="1"/>
          </p:cNvSpPr>
          <p:nvPr/>
        </p:nvSpPr>
        <p:spPr>
          <a:xfrm>
            <a:off x="10344150" y="2714625"/>
            <a:ext cx="1085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ZIP</a:t>
            </a:r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E3BF1460-15FC-4A5F-8577-5A499175E854}"/>
              </a:ext>
            </a:extLst>
          </p:cNvPr>
          <p:cNvSpPr>
            <a:spLocks noGrp="1"/>
          </p:cNvSpPr>
          <p:nvPr/>
        </p:nvSpPr>
        <p:spPr>
          <a:xfrm>
            <a:off x="10344150" y="3171825"/>
            <a:ext cx="10858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Entrega validada</a:t>
            </a:r>
          </a:p>
        </p:txBody>
      </p:sp>
      <p:sp>
        <p:nvSpPr>
          <p:cNvPr id="40" name="text">
            <a:extLst>
              <a:ext uri="{FF2B5EF4-FFF2-40B4-BE49-F238E27FC236}">
                <a16:creationId xmlns:a16="http://schemas.microsoft.com/office/drawing/2014/main" id="{EE426389-9368-4CC2-B17D-F3977D5BE7C1}"/>
              </a:ext>
            </a:extLst>
          </p:cNvPr>
          <p:cNvSpPr>
            <a:spLocks noGrp="1"/>
          </p:cNvSpPr>
          <p:nvPr/>
        </p:nvSpPr>
        <p:spPr>
          <a:xfrm>
            <a:off x="1762125" y="5334000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Todos los agentes posteriores consumen OpenSpec: si mejora la especificación, mejora todo el resultado.</a:t>
            </a:r>
          </a:p>
        </p:txBody>
      </p:sp>
    </p:spTree>
    <p:extLst>
      <p:ext uri="{BB962C8B-B14F-4D97-AF65-F5344CB8AC3E}">
        <p14:creationId xmlns:p14="http://schemas.microsoft.com/office/powerpoint/2010/main" val="58146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>
            <a:extLst>
              <a:ext uri="{FF2B5EF4-FFF2-40B4-BE49-F238E27FC236}">
                <a16:creationId xmlns:a16="http://schemas.microsoft.com/office/drawing/2014/main" id="{E702CD34-516B-40B9-A4AF-968B912E4462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FUENTE DE VERDAD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C87A386-1B3E-48CF-B791-1571F55E9243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OpenSpec convierte el contexto en un contrato reutilizable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132C8BC-0FA2-48AC-94F4-87BD7FCD7D82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26E78EFA-D395-436C-8801-6D984202B2A4}"/>
              </a:ext>
            </a:extLst>
          </p:cNvPr>
          <p:cNvSpPr>
            <a:spLocks noGrp="1"/>
          </p:cNvSpPr>
          <p:nvPr/>
        </p:nvSpPr>
        <p:spPr>
          <a:xfrm>
            <a:off x="400050" y="64579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94BC0A60-4FD7-4575-A7B6-9F1CB5025E20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600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6" name="panel">
            <a:extLst>
              <a:ext uri="{FF2B5EF4-FFF2-40B4-BE49-F238E27FC236}">
                <a16:creationId xmlns:a16="http://schemas.microsoft.com/office/drawing/2014/main" id="{9686E548-BA56-4076-8259-CC426FC5CE1E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4476750" cy="4095750"/>
          </a:xfrm>
          <a:prstGeom prst="rect">
            <a:avLst/>
          </a:prstGeom>
          <a:solidFill>
            <a:srgbClr val="20202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5C6C5F6-0B76-4348-B80D-F1ACF239AC10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06432"/>
                </a:solidFill>
              </a:defRPr>
            </a:pPr>
            <a:r>
              <a:rPr sz="1125" b="1">
                <a:solidFill>
                  <a:srgbClr val="F06432"/>
                </a:solidFill>
              </a:rPr>
              <a:t>OPENSPEC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6024BA3-FBA9-400F-AD5D-4CE5584EC211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333375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{</a:t>
            </a:r>
          </a:p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proyecto,</a:t>
            </a:r>
          </a:p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requisitos,</a:t>
            </a:r>
          </a:p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arquitectura,</a:t>
            </a:r>
          </a:p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datos,</a:t>
            </a:r>
          </a:p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API,</a:t>
            </a:r>
          </a:p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reglas,</a:t>
            </a:r>
          </a:p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criterios</a:t>
            </a:r>
          </a:p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DCFDEBD2-2BF6-4658-B5E7-59D3A8C3E667}"/>
              </a:ext>
            </a:extLst>
          </p:cNvPr>
          <p:cNvSpPr>
            <a:spLocks noGrp="1"/>
          </p:cNvSpPr>
          <p:nvPr/>
        </p:nvSpPr>
        <p:spPr>
          <a:xfrm>
            <a:off x="5429250" y="1714500"/>
            <a:ext cx="581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Una estructura legible por personas y por modelos.</a:t>
            </a:r>
          </a:p>
        </p:txBody>
      </p:sp>
      <p:sp>
        <p:nvSpPr>
          <p:cNvPr id="10" name="bullet-0">
            <a:extLst>
              <a:ext uri="{FF2B5EF4-FFF2-40B4-BE49-F238E27FC236}">
                <a16:creationId xmlns:a16="http://schemas.microsoft.com/office/drawing/2014/main" id="{A572C211-DBC6-41C6-8470-8D5CB6CA3502}"/>
              </a:ext>
            </a:extLst>
          </p:cNvPr>
          <p:cNvSpPr>
            <a:spLocks noGrp="1"/>
          </p:cNvSpPr>
          <p:nvPr/>
        </p:nvSpPr>
        <p:spPr>
          <a:xfrm>
            <a:off x="5429250" y="2647950"/>
            <a:ext cx="95250" cy="95250"/>
          </a:xfrm>
          <a:prstGeom prst="rect">
            <a:avLst/>
          </a:prstGeom>
          <a:solidFill>
            <a:srgbClr val="F06432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9DF55D10-9C19-48F8-9C50-804FC6CF8DC9}"/>
              </a:ext>
            </a:extLst>
          </p:cNvPr>
          <p:cNvSpPr>
            <a:spLocks noGrp="1"/>
          </p:cNvSpPr>
          <p:nvPr/>
        </p:nvSpPr>
        <p:spPr>
          <a:xfrm>
            <a:off x="5695950" y="2571750"/>
            <a:ext cx="5543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Evita que cada agente vuelva a interpretar la idea desde cero.</a:t>
            </a:r>
          </a:p>
        </p:txBody>
      </p:sp>
      <p:sp>
        <p:nvSpPr>
          <p:cNvPr id="12" name="bullet-1">
            <a:extLst>
              <a:ext uri="{FF2B5EF4-FFF2-40B4-BE49-F238E27FC236}">
                <a16:creationId xmlns:a16="http://schemas.microsoft.com/office/drawing/2014/main" id="{A22BB60C-D730-4BE2-A18A-D2F2B36E8C9A}"/>
              </a:ext>
            </a:extLst>
          </p:cNvPr>
          <p:cNvSpPr>
            <a:spLocks noGrp="1"/>
          </p:cNvSpPr>
          <p:nvPr/>
        </p:nvSpPr>
        <p:spPr>
          <a:xfrm>
            <a:off x="5429250" y="3371850"/>
            <a:ext cx="95250" cy="95250"/>
          </a:xfrm>
          <a:prstGeom prst="rect">
            <a:avLst/>
          </a:prstGeom>
          <a:solidFill>
            <a:srgbClr val="F06432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8449D01D-8FC3-43DA-8CD2-60D6CDE5D661}"/>
              </a:ext>
            </a:extLst>
          </p:cNvPr>
          <p:cNvSpPr>
            <a:spLocks noGrp="1"/>
          </p:cNvSpPr>
          <p:nvPr/>
        </p:nvSpPr>
        <p:spPr>
          <a:xfrm>
            <a:off x="5695950" y="3295650"/>
            <a:ext cx="5543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Permite auditar por qué se eligió una arquitectura o una entidad.</a:t>
            </a:r>
          </a:p>
        </p:txBody>
      </p:sp>
      <p:sp>
        <p:nvSpPr>
          <p:cNvPr id="14" name="bullet-2">
            <a:extLst>
              <a:ext uri="{FF2B5EF4-FFF2-40B4-BE49-F238E27FC236}">
                <a16:creationId xmlns:a16="http://schemas.microsoft.com/office/drawing/2014/main" id="{92E5BBBB-B774-498F-A42B-BAA6F1C59DFC}"/>
              </a:ext>
            </a:extLst>
          </p:cNvPr>
          <p:cNvSpPr>
            <a:spLocks noGrp="1"/>
          </p:cNvSpPr>
          <p:nvPr/>
        </p:nvSpPr>
        <p:spPr>
          <a:xfrm>
            <a:off x="5429250" y="4095750"/>
            <a:ext cx="95250" cy="95250"/>
          </a:xfrm>
          <a:prstGeom prst="rect">
            <a:avLst/>
          </a:prstGeom>
          <a:solidFill>
            <a:srgbClr val="F06432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D0B49C0E-DECE-49E7-84C9-C2DC025AF067}"/>
              </a:ext>
            </a:extLst>
          </p:cNvPr>
          <p:cNvSpPr>
            <a:spLocks noGrp="1"/>
          </p:cNvSpPr>
          <p:nvPr/>
        </p:nvSpPr>
        <p:spPr>
          <a:xfrm>
            <a:off x="5695950" y="4019550"/>
            <a:ext cx="5543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Conecta requisitos, issues, tutorial, código y pruebas.</a:t>
            </a:r>
          </a:p>
        </p:txBody>
      </p:sp>
      <p:sp>
        <p:nvSpPr>
          <p:cNvPr id="16" name="bullet-3">
            <a:extLst>
              <a:ext uri="{FF2B5EF4-FFF2-40B4-BE49-F238E27FC236}">
                <a16:creationId xmlns:a16="http://schemas.microsoft.com/office/drawing/2014/main" id="{C4913713-43AF-4B25-9524-CCC2ECEC396B}"/>
              </a:ext>
            </a:extLst>
          </p:cNvPr>
          <p:cNvSpPr>
            <a:spLocks noGrp="1"/>
          </p:cNvSpPr>
          <p:nvPr/>
        </p:nvSpPr>
        <p:spPr>
          <a:xfrm>
            <a:off x="5429250" y="4819650"/>
            <a:ext cx="95250" cy="95250"/>
          </a:xfrm>
          <a:prstGeom prst="rect">
            <a:avLst/>
          </a:prstGeom>
          <a:solidFill>
            <a:srgbClr val="F06432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8C134E98-3FD6-44E5-AF12-209FB09A9381}"/>
              </a:ext>
            </a:extLst>
          </p:cNvPr>
          <p:cNvSpPr>
            <a:spLocks noGrp="1"/>
          </p:cNvSpPr>
          <p:nvPr/>
        </p:nvSpPr>
        <p:spPr>
          <a:xfrm>
            <a:off x="5695950" y="4743450"/>
            <a:ext cx="5543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Hace posible retomar el proyecto en otra sesión o con otra IA.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7D56EE24-E5CD-49EE-96D7-3624B6A5BACA}"/>
              </a:ext>
            </a:extLst>
          </p:cNvPr>
          <p:cNvSpPr>
            <a:spLocks noGrp="1"/>
          </p:cNvSpPr>
          <p:nvPr/>
        </p:nvSpPr>
        <p:spPr>
          <a:xfrm>
            <a:off x="5429250" y="5572125"/>
            <a:ext cx="581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El valor no está en un prompt perfecto, sino en conservar decisiones verificables.</a:t>
            </a:r>
          </a:p>
        </p:txBody>
      </p:sp>
    </p:spTree>
    <p:extLst>
      <p:ext uri="{BB962C8B-B14F-4D97-AF65-F5344CB8AC3E}">
        <p14:creationId xmlns:p14="http://schemas.microsoft.com/office/powerpoint/2010/main" val="1628487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">
            <a:extLst>
              <a:ext uri="{FF2B5EF4-FFF2-40B4-BE49-F238E27FC236}">
                <a16:creationId xmlns:a16="http://schemas.microsoft.com/office/drawing/2014/main" id="{A94B3D21-93C8-4775-9229-B4EBCAAEE9B2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ARQUITECTURA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8578AF9-F6E7-4655-BC1C-C20B53371E6E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Monorepo modular, tres aplicaciones especializadas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FD4BF62-6199-46E6-A8FA-80FDB890FC7B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9FCC1F1-A72D-40F7-9946-0ABF3DECFE48}"/>
              </a:ext>
            </a:extLst>
          </p:cNvPr>
          <p:cNvSpPr>
            <a:spLocks noGrp="1"/>
          </p:cNvSpPr>
          <p:nvPr/>
        </p:nvSpPr>
        <p:spPr>
          <a:xfrm>
            <a:off x="400050" y="64579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0F8B6D5-6DC9-4455-9ECE-E2C6C0496138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600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6" name="panel">
            <a:extLst>
              <a:ext uri="{FF2B5EF4-FFF2-40B4-BE49-F238E27FC236}">
                <a16:creationId xmlns:a16="http://schemas.microsoft.com/office/drawing/2014/main" id="{786D0D1B-EFF2-4327-82F5-56A23BEDDFB9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3238500" cy="34766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C190AE84-39C2-4FE2-B133-A2EF6396FCD2}"/>
              </a:ext>
            </a:extLst>
          </p:cNvPr>
          <p:cNvSpPr>
            <a:spLocks noGrp="1"/>
          </p:cNvSpPr>
          <p:nvPr/>
        </p:nvSpPr>
        <p:spPr>
          <a:xfrm>
            <a:off x="647700" y="1952625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WEB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C758F79-3A82-4AFA-B386-757DD62F52A3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2571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React 19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96DF252-5E6D-4354-B7EC-A3CF880BDBF3}"/>
              </a:ext>
            </a:extLst>
          </p:cNvPr>
          <p:cNvSpPr>
            <a:spLocks noGrp="1"/>
          </p:cNvSpPr>
          <p:nvPr/>
        </p:nvSpPr>
        <p:spPr>
          <a:xfrm>
            <a:off x="647700" y="3190875"/>
            <a:ext cx="2571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Wizard, dashboard, revisión de resultados y descarga.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E6F31DD-D6CB-4BDB-9DD9-D3FCDA215DFE}"/>
              </a:ext>
            </a:extLst>
          </p:cNvPr>
          <p:cNvSpPr>
            <a:spLocks noGrp="1"/>
          </p:cNvSpPr>
          <p:nvPr/>
        </p:nvSpPr>
        <p:spPr>
          <a:xfrm>
            <a:off x="647700" y="461962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:5173</a:t>
            </a: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100FDBC8-416D-42E3-ACD6-C8464F49A0B9}"/>
              </a:ext>
            </a:extLst>
          </p:cNvPr>
          <p:cNvSpPr>
            <a:spLocks noGrp="1"/>
          </p:cNvSpPr>
          <p:nvPr/>
        </p:nvSpPr>
        <p:spPr>
          <a:xfrm>
            <a:off x="4476750" y="1714500"/>
            <a:ext cx="3238500" cy="3476625"/>
          </a:xfrm>
          <a:prstGeom prst="rect">
            <a:avLst/>
          </a:prstGeom>
          <a:solidFill>
            <a:srgbClr val="20202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B62B5B0-F00A-4FD5-8987-0B7216ABAC8F}"/>
              </a:ext>
            </a:extLst>
          </p:cNvPr>
          <p:cNvSpPr>
            <a:spLocks noGrp="1"/>
          </p:cNvSpPr>
          <p:nvPr/>
        </p:nvSpPr>
        <p:spPr>
          <a:xfrm>
            <a:off x="4724400" y="1952625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API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B5E51501-53A9-474E-9553-5119442D99ED}"/>
              </a:ext>
            </a:extLst>
          </p:cNvPr>
          <p:cNvSpPr>
            <a:spLocks noGrp="1"/>
          </p:cNvSpPr>
          <p:nvPr/>
        </p:nvSpPr>
        <p:spPr>
          <a:xfrm>
            <a:off x="4724400" y="2476500"/>
            <a:ext cx="2571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NestJS 11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CC139282-5B5C-4BF0-9B14-B13379E2CAD8}"/>
              </a:ext>
            </a:extLst>
          </p:cNvPr>
          <p:cNvSpPr>
            <a:spLocks noGrp="1"/>
          </p:cNvSpPr>
          <p:nvPr/>
        </p:nvSpPr>
        <p:spPr>
          <a:xfrm>
            <a:off x="4724400" y="3190875"/>
            <a:ext cx="2571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D5D5D5"/>
                </a:solidFill>
              </a:defRPr>
            </a:pPr>
            <a:r>
              <a:rPr sz="1500" b="0">
                <a:solidFill>
                  <a:srgbClr val="D5D5D5"/>
                </a:solidFill>
              </a:rPr>
              <a:t>Usuarios, proyectos, jobs, artefactos, GitHub y seguridad.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AEF2EE34-493D-4D36-AB23-C86C5F9E9710}"/>
              </a:ext>
            </a:extLst>
          </p:cNvPr>
          <p:cNvSpPr>
            <a:spLocks noGrp="1"/>
          </p:cNvSpPr>
          <p:nvPr/>
        </p:nvSpPr>
        <p:spPr>
          <a:xfrm>
            <a:off x="4724400" y="461962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:3000</a:t>
            </a:r>
          </a:p>
        </p:txBody>
      </p:sp>
      <p:sp>
        <p:nvSpPr>
          <p:cNvPr id="16" name="panel">
            <a:extLst>
              <a:ext uri="{FF2B5EF4-FFF2-40B4-BE49-F238E27FC236}">
                <a16:creationId xmlns:a16="http://schemas.microsoft.com/office/drawing/2014/main" id="{4A9D2295-1AF1-4221-B72A-F574ABCE5988}"/>
              </a:ext>
            </a:extLst>
          </p:cNvPr>
          <p:cNvSpPr>
            <a:spLocks noGrp="1"/>
          </p:cNvSpPr>
          <p:nvPr/>
        </p:nvSpPr>
        <p:spPr>
          <a:xfrm>
            <a:off x="8553450" y="1714500"/>
            <a:ext cx="3238500" cy="34766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9E30DB80-6538-48E1-B83E-3128BB908DA9}"/>
              </a:ext>
            </a:extLst>
          </p:cNvPr>
          <p:cNvSpPr>
            <a:spLocks noGrp="1"/>
          </p:cNvSpPr>
          <p:nvPr/>
        </p:nvSpPr>
        <p:spPr>
          <a:xfrm>
            <a:off x="8801100" y="1952625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AI SERVICE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55AFE45B-D2C0-439E-B714-2FE84C35CC18}"/>
              </a:ext>
            </a:extLst>
          </p:cNvPr>
          <p:cNvSpPr>
            <a:spLocks noGrp="1"/>
          </p:cNvSpPr>
          <p:nvPr/>
        </p:nvSpPr>
        <p:spPr>
          <a:xfrm>
            <a:off x="8801100" y="2476500"/>
            <a:ext cx="2571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FastAPI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E4F1F56C-A55B-45C5-B91D-DDE4990A041E}"/>
              </a:ext>
            </a:extLst>
          </p:cNvPr>
          <p:cNvSpPr>
            <a:spLocks noGrp="1"/>
          </p:cNvSpPr>
          <p:nvPr/>
        </p:nvSpPr>
        <p:spPr>
          <a:xfrm>
            <a:off x="8801100" y="3190875"/>
            <a:ext cx="2571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Agentes, LLM routing, RAG y generación determinista.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4E54729E-9E7E-49CE-9453-D2898A304931}"/>
              </a:ext>
            </a:extLst>
          </p:cNvPr>
          <p:cNvSpPr>
            <a:spLocks noGrp="1"/>
          </p:cNvSpPr>
          <p:nvPr/>
        </p:nvSpPr>
        <p:spPr>
          <a:xfrm>
            <a:off x="8801100" y="461962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:8003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94AC48CB-0399-4265-B13F-E4EBCC63CF02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PostgreSQL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A8DE0EFE-EA6D-4119-8102-636B639D0ED5}"/>
              </a:ext>
            </a:extLst>
          </p:cNvPr>
          <p:cNvSpPr>
            <a:spLocks noGrp="1"/>
          </p:cNvSpPr>
          <p:nvPr/>
        </p:nvSpPr>
        <p:spPr>
          <a:xfrm>
            <a:off x="3143250" y="561975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Redis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72999711-C3AC-4B91-920B-37B3877D01D8}"/>
              </a:ext>
            </a:extLst>
          </p:cNvPr>
          <p:cNvSpPr>
            <a:spLocks noGrp="1"/>
          </p:cNvSpPr>
          <p:nvPr/>
        </p:nvSpPr>
        <p:spPr>
          <a:xfrm>
            <a:off x="5334000" y="56197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Qdrant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8843307A-A478-4457-BD70-14BE8E83E244}"/>
              </a:ext>
            </a:extLst>
          </p:cNvPr>
          <p:cNvSpPr>
            <a:spLocks noGrp="1"/>
          </p:cNvSpPr>
          <p:nvPr/>
        </p:nvSpPr>
        <p:spPr>
          <a:xfrm>
            <a:off x="7524750" y="561975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MinIO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DBB31621-D118-47BF-8F15-10F7956B9305}"/>
              </a:ext>
            </a:extLst>
          </p:cNvPr>
          <p:cNvSpPr>
            <a:spLocks noGrp="1"/>
          </p:cNvSpPr>
          <p:nvPr/>
        </p:nvSpPr>
        <p:spPr>
          <a:xfrm>
            <a:off x="9715500" y="56197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Mailpit</a:t>
            </a:r>
          </a:p>
        </p:txBody>
      </p:sp>
    </p:spTree>
    <p:extLst>
      <p:ext uri="{BB962C8B-B14F-4D97-AF65-F5344CB8AC3E}">
        <p14:creationId xmlns:p14="http://schemas.microsoft.com/office/powerpoint/2010/main" val="1506879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D37E0054-036F-4C14-A31C-AFB85933C8FB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PRODUCTO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C7DB2DE-FE58-4F62-9FFC-BB55D5755DB4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Una experiencia guiada desde el primer minuto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A1BACDD-E9FF-4382-832A-2BAD4DCC1B2C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75A8AF7-74A5-456A-B44C-5E2BC176E8B6}"/>
              </a:ext>
            </a:extLst>
          </p:cNvPr>
          <p:cNvSpPr>
            <a:spLocks noGrp="1"/>
          </p:cNvSpPr>
          <p:nvPr/>
        </p:nvSpPr>
        <p:spPr>
          <a:xfrm>
            <a:off x="400050" y="64579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436552B-108A-420F-AD3E-660DBD269EB0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600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10</a:t>
            </a:r>
          </a:p>
        </p:txBody>
      </p:sp>
      <p:pic>
        <p:nvPicPr>
          <p:cNvPr id="22" name="Imagen 21"/>
          <p:cNvPicPr>
            <a:picLocks noChangeAspect="1"/>
          </p:cNvPicPr>
          <p:nvPr/>
        </p:nvPicPr>
        <p:blipFill>
          <a:blip r:embed="rId3"/>
          <a:srcRect l="4215" r="4215"/>
          <a:stretch>
            <a:fillRect/>
          </a:stretch>
        </p:blipFill>
        <p:spPr>
          <a:xfrm>
            <a:off x="400050" y="1619250"/>
            <a:ext cx="6667500" cy="409575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2E893E4-133C-4476-BBFE-8272A7E63624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6667500" cy="47625"/>
          </a:xfrm>
          <a:prstGeom prst="rect">
            <a:avLst/>
          </a:prstGeom>
          <a:solidFill>
            <a:srgbClr val="F06432"/>
          </a:solidFill>
          <a:ln w="0">
            <a:solidFill>
              <a:srgbClr val="F064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DFC7456-3365-4942-926E-05463337A628}"/>
              </a:ext>
            </a:extLst>
          </p:cNvPr>
          <p:cNvSpPr>
            <a:spLocks noGrp="1"/>
          </p:cNvSpPr>
          <p:nvPr/>
        </p:nvSpPr>
        <p:spPr>
          <a:xfrm>
            <a:off x="7667625" y="1666875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FLUJO PRINCIPAL</a:t>
            </a:r>
          </a:p>
        </p:txBody>
      </p:sp>
      <p:sp>
        <p:nvSpPr>
          <p:cNvPr id="9" name="bullet-0">
            <a:extLst>
              <a:ext uri="{FF2B5EF4-FFF2-40B4-BE49-F238E27FC236}">
                <a16:creationId xmlns:a16="http://schemas.microsoft.com/office/drawing/2014/main" id="{14B5CE71-D56A-4503-AF0F-F9DF7EC7D8B4}"/>
              </a:ext>
            </a:extLst>
          </p:cNvPr>
          <p:cNvSpPr>
            <a:spLocks noGrp="1"/>
          </p:cNvSpPr>
          <p:nvPr/>
        </p:nvSpPr>
        <p:spPr>
          <a:xfrm>
            <a:off x="7667625" y="2266950"/>
            <a:ext cx="95250" cy="95250"/>
          </a:xfrm>
          <a:prstGeom prst="rect">
            <a:avLst/>
          </a:prstGeom>
          <a:solidFill>
            <a:srgbClr val="F06432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2F21BBDE-4230-4BD7-B7A4-04369997DF91}"/>
              </a:ext>
            </a:extLst>
          </p:cNvPr>
          <p:cNvSpPr>
            <a:spLocks noGrp="1"/>
          </p:cNvSpPr>
          <p:nvPr/>
        </p:nvSpPr>
        <p:spPr>
          <a:xfrm>
            <a:off x="7934325" y="2190750"/>
            <a:ext cx="34004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Registro y acceso protegido con CAPTCHA configurable.</a:t>
            </a:r>
          </a:p>
        </p:txBody>
      </p:sp>
      <p:sp>
        <p:nvSpPr>
          <p:cNvPr id="11" name="bullet-1">
            <a:extLst>
              <a:ext uri="{FF2B5EF4-FFF2-40B4-BE49-F238E27FC236}">
                <a16:creationId xmlns:a16="http://schemas.microsoft.com/office/drawing/2014/main" id="{A9794CA7-4E81-4602-AA28-B49B888F9189}"/>
              </a:ext>
            </a:extLst>
          </p:cNvPr>
          <p:cNvSpPr>
            <a:spLocks noGrp="1"/>
          </p:cNvSpPr>
          <p:nvPr/>
        </p:nvSpPr>
        <p:spPr>
          <a:xfrm>
            <a:off x="7667625" y="3048000"/>
            <a:ext cx="95250" cy="95250"/>
          </a:xfrm>
          <a:prstGeom prst="rect">
            <a:avLst/>
          </a:prstGeom>
          <a:solidFill>
            <a:srgbClr val="F06432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E5810EF4-D638-4CE8-B4F1-2262DA41CF9C}"/>
              </a:ext>
            </a:extLst>
          </p:cNvPr>
          <p:cNvSpPr>
            <a:spLocks noGrp="1"/>
          </p:cNvSpPr>
          <p:nvPr/>
        </p:nvSpPr>
        <p:spPr>
          <a:xfrm>
            <a:off x="7934325" y="2971800"/>
            <a:ext cx="34004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Wizard que recoge producto, objetivo, datos, IA y despliegue.</a:t>
            </a:r>
          </a:p>
        </p:txBody>
      </p:sp>
      <p:sp>
        <p:nvSpPr>
          <p:cNvPr id="13" name="bullet-2">
            <a:extLst>
              <a:ext uri="{FF2B5EF4-FFF2-40B4-BE49-F238E27FC236}">
                <a16:creationId xmlns:a16="http://schemas.microsoft.com/office/drawing/2014/main" id="{DD14B93B-9870-4BA7-A856-96AA78C33924}"/>
              </a:ext>
            </a:extLst>
          </p:cNvPr>
          <p:cNvSpPr>
            <a:spLocks noGrp="1"/>
          </p:cNvSpPr>
          <p:nvPr/>
        </p:nvSpPr>
        <p:spPr>
          <a:xfrm>
            <a:off x="7667625" y="3829050"/>
            <a:ext cx="95250" cy="95250"/>
          </a:xfrm>
          <a:prstGeom prst="rect">
            <a:avLst/>
          </a:prstGeom>
          <a:solidFill>
            <a:srgbClr val="F06432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8583DA5D-F88B-4EA6-B6C2-D8648947DBD5}"/>
              </a:ext>
            </a:extLst>
          </p:cNvPr>
          <p:cNvSpPr>
            <a:spLocks noGrp="1"/>
          </p:cNvSpPr>
          <p:nvPr/>
        </p:nvSpPr>
        <p:spPr>
          <a:xfrm>
            <a:off x="7934325" y="3752850"/>
            <a:ext cx="34004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Resultados progresivos con estados de carga y validación.</a:t>
            </a:r>
          </a:p>
        </p:txBody>
      </p:sp>
      <p:sp>
        <p:nvSpPr>
          <p:cNvPr id="15" name="bullet-3">
            <a:extLst>
              <a:ext uri="{FF2B5EF4-FFF2-40B4-BE49-F238E27FC236}">
                <a16:creationId xmlns:a16="http://schemas.microsoft.com/office/drawing/2014/main" id="{63131998-338E-4649-B7FB-43DF854796E1}"/>
              </a:ext>
            </a:extLst>
          </p:cNvPr>
          <p:cNvSpPr>
            <a:spLocks noGrp="1"/>
          </p:cNvSpPr>
          <p:nvPr/>
        </p:nvSpPr>
        <p:spPr>
          <a:xfrm>
            <a:off x="7667625" y="4610100"/>
            <a:ext cx="95250" cy="95250"/>
          </a:xfrm>
          <a:prstGeom prst="rect">
            <a:avLst/>
          </a:prstGeom>
          <a:solidFill>
            <a:srgbClr val="F06432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E590DCF8-EEF9-4904-947D-4941478BB49E}"/>
              </a:ext>
            </a:extLst>
          </p:cNvPr>
          <p:cNvSpPr>
            <a:spLocks noGrp="1"/>
          </p:cNvSpPr>
          <p:nvPr/>
        </p:nvSpPr>
        <p:spPr>
          <a:xfrm>
            <a:off x="7934325" y="4533900"/>
            <a:ext cx="34004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Exportación PDF, Markdown, ZIP y publicación en GitHub.</a:t>
            </a:r>
          </a:p>
        </p:txBody>
      </p:sp>
    </p:spTree>
    <p:extLst>
      <p:ext uri="{BB962C8B-B14F-4D97-AF65-F5344CB8AC3E}">
        <p14:creationId xmlns:p14="http://schemas.microsoft.com/office/powerpoint/2010/main" val="1011814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">
            <a:extLst>
              <a:ext uri="{FF2B5EF4-FFF2-40B4-BE49-F238E27FC236}">
                <a16:creationId xmlns:a16="http://schemas.microsoft.com/office/drawing/2014/main" id="{873965CB-BC97-489E-A111-F6E3EFC98990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DISEÑO MULTIAGENTE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C797C93-5242-4361-B74C-A9C1AE06D15E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Diez agentes, una responsabilidad por etapa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7A9809D-A783-418B-9DF3-2EAEFD92A3E6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7765330B-03D9-476E-939F-5FB389B5FD60}"/>
              </a:ext>
            </a:extLst>
          </p:cNvPr>
          <p:cNvSpPr>
            <a:spLocks noGrp="1"/>
          </p:cNvSpPr>
          <p:nvPr/>
        </p:nvSpPr>
        <p:spPr>
          <a:xfrm>
            <a:off x="400050" y="64579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E575FA0-E2A7-4EC1-A23E-1B2E0CE103E7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600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F2A3D7E-4BA3-41B9-8C70-9B528C5AFCC3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La especialización reduce prompts gigantes y permite validar cada resultado antes de continuar.</a:t>
            </a:r>
          </a:p>
        </p:txBody>
      </p:sp>
      <p:sp>
        <p:nvSpPr>
          <p:cNvPr id="7" name="panel">
            <a:extLst>
              <a:ext uri="{FF2B5EF4-FFF2-40B4-BE49-F238E27FC236}">
                <a16:creationId xmlns:a16="http://schemas.microsoft.com/office/drawing/2014/main" id="{0FB33050-ABC4-41AA-9119-95D2B3F1F082}"/>
              </a:ext>
            </a:extLst>
          </p:cNvPr>
          <p:cNvSpPr>
            <a:spLocks noGrp="1"/>
          </p:cNvSpPr>
          <p:nvPr/>
        </p:nvSpPr>
        <p:spPr>
          <a:xfrm>
            <a:off x="400050" y="2143125"/>
            <a:ext cx="2000250" cy="13811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9D45651-1E7B-4CC6-BA2D-03D72E1D0813}"/>
              </a:ext>
            </a:extLst>
          </p:cNvPr>
          <p:cNvSpPr>
            <a:spLocks noGrp="1"/>
          </p:cNvSpPr>
          <p:nvPr/>
        </p:nvSpPr>
        <p:spPr>
          <a:xfrm>
            <a:off x="571500" y="2352675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PRODUCT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49B12374-5744-4E82-8609-41ABCC02A5BD}"/>
              </a:ext>
            </a:extLst>
          </p:cNvPr>
          <p:cNvSpPr>
            <a:spLocks noGrp="1"/>
          </p:cNvSpPr>
          <p:nvPr/>
        </p:nvSpPr>
        <p:spPr>
          <a:xfrm>
            <a:off x="571500" y="2857500"/>
            <a:ext cx="1666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Entiende la idea</a:t>
            </a:r>
          </a:p>
        </p:txBody>
      </p:sp>
      <p:sp>
        <p:nvSpPr>
          <p:cNvPr id="10" name="panel">
            <a:extLst>
              <a:ext uri="{FF2B5EF4-FFF2-40B4-BE49-F238E27FC236}">
                <a16:creationId xmlns:a16="http://schemas.microsoft.com/office/drawing/2014/main" id="{692D2014-214A-4BCB-BF06-C3E5E880894F}"/>
              </a:ext>
            </a:extLst>
          </p:cNvPr>
          <p:cNvSpPr>
            <a:spLocks noGrp="1"/>
          </p:cNvSpPr>
          <p:nvPr/>
        </p:nvSpPr>
        <p:spPr>
          <a:xfrm>
            <a:off x="2676525" y="2143125"/>
            <a:ext cx="2000250" cy="13811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461E79FC-F4BB-433A-BBF7-3F0C226105AE}"/>
              </a:ext>
            </a:extLst>
          </p:cNvPr>
          <p:cNvSpPr>
            <a:spLocks noGrp="1"/>
          </p:cNvSpPr>
          <p:nvPr/>
        </p:nvSpPr>
        <p:spPr>
          <a:xfrm>
            <a:off x="2847975" y="2352675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REQUIREMENTS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6E3E1CF9-85A8-4594-91A9-1FB55C2F712C}"/>
              </a:ext>
            </a:extLst>
          </p:cNvPr>
          <p:cNvSpPr>
            <a:spLocks noGrp="1"/>
          </p:cNvSpPr>
          <p:nvPr/>
        </p:nvSpPr>
        <p:spPr>
          <a:xfrm>
            <a:off x="2847975" y="2857500"/>
            <a:ext cx="1666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Define alcance</a:t>
            </a:r>
          </a:p>
        </p:txBody>
      </p:sp>
      <p:sp>
        <p:nvSpPr>
          <p:cNvPr id="13" name="panel">
            <a:extLst>
              <a:ext uri="{FF2B5EF4-FFF2-40B4-BE49-F238E27FC236}">
                <a16:creationId xmlns:a16="http://schemas.microsoft.com/office/drawing/2014/main" id="{7C0BBCB2-4EF7-4BE3-AE20-BEDD7DEEED7B}"/>
              </a:ext>
            </a:extLst>
          </p:cNvPr>
          <p:cNvSpPr>
            <a:spLocks noGrp="1"/>
          </p:cNvSpPr>
          <p:nvPr/>
        </p:nvSpPr>
        <p:spPr>
          <a:xfrm>
            <a:off x="4953000" y="2143125"/>
            <a:ext cx="2000250" cy="13811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126709F-C959-49FE-8200-EA87D1820550}"/>
              </a:ext>
            </a:extLst>
          </p:cNvPr>
          <p:cNvSpPr>
            <a:spLocks noGrp="1"/>
          </p:cNvSpPr>
          <p:nvPr/>
        </p:nvSpPr>
        <p:spPr>
          <a:xfrm>
            <a:off x="5124450" y="2352675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ARCHITECTURE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6B6BEA2C-63BF-46B6-AD27-967D55B17836}"/>
              </a:ext>
            </a:extLst>
          </p:cNvPr>
          <p:cNvSpPr>
            <a:spLocks noGrp="1"/>
          </p:cNvSpPr>
          <p:nvPr/>
        </p:nvSpPr>
        <p:spPr>
          <a:xfrm>
            <a:off x="5124450" y="2857500"/>
            <a:ext cx="1666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Elige stack</a:t>
            </a:r>
          </a:p>
        </p:txBody>
      </p:sp>
      <p:sp>
        <p:nvSpPr>
          <p:cNvPr id="16" name="panel">
            <a:extLst>
              <a:ext uri="{FF2B5EF4-FFF2-40B4-BE49-F238E27FC236}">
                <a16:creationId xmlns:a16="http://schemas.microsoft.com/office/drawing/2014/main" id="{41546382-CCF7-422D-8A52-21B0663E5C62}"/>
              </a:ext>
            </a:extLst>
          </p:cNvPr>
          <p:cNvSpPr>
            <a:spLocks noGrp="1"/>
          </p:cNvSpPr>
          <p:nvPr/>
        </p:nvSpPr>
        <p:spPr>
          <a:xfrm>
            <a:off x="7229475" y="2143125"/>
            <a:ext cx="2000250" cy="13811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DB5E56E5-81D0-4826-943A-8024C1D9656A}"/>
              </a:ext>
            </a:extLst>
          </p:cNvPr>
          <p:cNvSpPr>
            <a:spLocks noGrp="1"/>
          </p:cNvSpPr>
          <p:nvPr/>
        </p:nvSpPr>
        <p:spPr>
          <a:xfrm>
            <a:off x="7400925" y="2352675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SUPERVISOR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F175AAEA-DA4A-4F41-B60C-6DCB88C16198}"/>
              </a:ext>
            </a:extLst>
          </p:cNvPr>
          <p:cNvSpPr>
            <a:spLocks noGrp="1"/>
          </p:cNvSpPr>
          <p:nvPr/>
        </p:nvSpPr>
        <p:spPr>
          <a:xfrm>
            <a:off x="7400925" y="2857500"/>
            <a:ext cx="1666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Controla el flujo</a:t>
            </a:r>
          </a:p>
        </p:txBody>
      </p:sp>
      <p:sp>
        <p:nvSpPr>
          <p:cNvPr id="19" name="panel">
            <a:extLst>
              <a:ext uri="{FF2B5EF4-FFF2-40B4-BE49-F238E27FC236}">
                <a16:creationId xmlns:a16="http://schemas.microsoft.com/office/drawing/2014/main" id="{7AC53420-9C47-4C98-89AF-3767B9987FE5}"/>
              </a:ext>
            </a:extLst>
          </p:cNvPr>
          <p:cNvSpPr>
            <a:spLocks noGrp="1"/>
          </p:cNvSpPr>
          <p:nvPr/>
        </p:nvSpPr>
        <p:spPr>
          <a:xfrm>
            <a:off x="9505950" y="2143125"/>
            <a:ext cx="2000250" cy="1381125"/>
          </a:xfrm>
          <a:prstGeom prst="rect">
            <a:avLst/>
          </a:prstGeom>
          <a:solidFill>
            <a:srgbClr val="20202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A401B5F9-2C56-4DE3-BA21-44BC710346D3}"/>
              </a:ext>
            </a:extLst>
          </p:cNvPr>
          <p:cNvSpPr>
            <a:spLocks noGrp="1"/>
          </p:cNvSpPr>
          <p:nvPr/>
        </p:nvSpPr>
        <p:spPr>
          <a:xfrm>
            <a:off x="9677400" y="2352675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OPENSPEC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2DC4991D-CC8C-4C07-8214-DD8C50278FFD}"/>
              </a:ext>
            </a:extLst>
          </p:cNvPr>
          <p:cNvSpPr>
            <a:spLocks noGrp="1"/>
          </p:cNvSpPr>
          <p:nvPr/>
        </p:nvSpPr>
        <p:spPr>
          <a:xfrm>
            <a:off x="9677400" y="2857500"/>
            <a:ext cx="1666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Crea el contrato</a:t>
            </a:r>
          </a:p>
        </p:txBody>
      </p:sp>
      <p:sp>
        <p:nvSpPr>
          <p:cNvPr id="22" name="panel">
            <a:extLst>
              <a:ext uri="{FF2B5EF4-FFF2-40B4-BE49-F238E27FC236}">
                <a16:creationId xmlns:a16="http://schemas.microsoft.com/office/drawing/2014/main" id="{F729AEA9-EF45-48B8-8E80-6B6A0BED5A20}"/>
              </a:ext>
            </a:extLst>
          </p:cNvPr>
          <p:cNvSpPr>
            <a:spLocks noGrp="1"/>
          </p:cNvSpPr>
          <p:nvPr/>
        </p:nvSpPr>
        <p:spPr>
          <a:xfrm>
            <a:off x="400050" y="3857625"/>
            <a:ext cx="2000250" cy="13811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CC36470D-67B7-4E8C-831F-5BD8D587B43C}"/>
              </a:ext>
            </a:extLst>
          </p:cNvPr>
          <p:cNvSpPr>
            <a:spLocks noGrp="1"/>
          </p:cNvSpPr>
          <p:nvPr/>
        </p:nvSpPr>
        <p:spPr>
          <a:xfrm>
            <a:off x="571500" y="4067175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ISSUES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83CFB66D-0010-46E6-970E-D00ED489C8B9}"/>
              </a:ext>
            </a:extLst>
          </p:cNvPr>
          <p:cNvSpPr>
            <a:spLocks noGrp="1"/>
          </p:cNvSpPr>
          <p:nvPr/>
        </p:nvSpPr>
        <p:spPr>
          <a:xfrm>
            <a:off x="571500" y="4572000"/>
            <a:ext cx="1666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Planifica trabajo</a:t>
            </a:r>
          </a:p>
        </p:txBody>
      </p:sp>
      <p:sp>
        <p:nvSpPr>
          <p:cNvPr id="25" name="panel">
            <a:extLst>
              <a:ext uri="{FF2B5EF4-FFF2-40B4-BE49-F238E27FC236}">
                <a16:creationId xmlns:a16="http://schemas.microsoft.com/office/drawing/2014/main" id="{ED222490-C1A3-48DB-84F9-09D803834C31}"/>
              </a:ext>
            </a:extLst>
          </p:cNvPr>
          <p:cNvSpPr>
            <a:spLocks noGrp="1"/>
          </p:cNvSpPr>
          <p:nvPr/>
        </p:nvSpPr>
        <p:spPr>
          <a:xfrm>
            <a:off x="2676525" y="3857625"/>
            <a:ext cx="2000250" cy="13811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6EAB06C2-20F5-48A0-869A-0C42F4AB0EFA}"/>
              </a:ext>
            </a:extLst>
          </p:cNvPr>
          <p:cNvSpPr>
            <a:spLocks noGrp="1"/>
          </p:cNvSpPr>
          <p:nvPr/>
        </p:nvSpPr>
        <p:spPr>
          <a:xfrm>
            <a:off x="2847975" y="4067175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TUTORIAL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527C7319-1403-4890-BDD0-E13D99A78CCE}"/>
              </a:ext>
            </a:extLst>
          </p:cNvPr>
          <p:cNvSpPr>
            <a:spLocks noGrp="1"/>
          </p:cNvSpPr>
          <p:nvPr/>
        </p:nvSpPr>
        <p:spPr>
          <a:xfrm>
            <a:off x="2847975" y="4572000"/>
            <a:ext cx="1666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Enseña el camino</a:t>
            </a:r>
          </a:p>
        </p:txBody>
      </p:sp>
      <p:sp>
        <p:nvSpPr>
          <p:cNvPr id="28" name="panel">
            <a:extLst>
              <a:ext uri="{FF2B5EF4-FFF2-40B4-BE49-F238E27FC236}">
                <a16:creationId xmlns:a16="http://schemas.microsoft.com/office/drawing/2014/main" id="{CAD3A959-BE2B-43C9-8116-970D7228EFB6}"/>
              </a:ext>
            </a:extLst>
          </p:cNvPr>
          <p:cNvSpPr>
            <a:spLocks noGrp="1"/>
          </p:cNvSpPr>
          <p:nvPr/>
        </p:nvSpPr>
        <p:spPr>
          <a:xfrm>
            <a:off x="4953000" y="3857625"/>
            <a:ext cx="2000250" cy="13811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8C3BB24A-AED4-4FB0-9A71-4E1AAB24A8D1}"/>
              </a:ext>
            </a:extLst>
          </p:cNvPr>
          <p:cNvSpPr>
            <a:spLocks noGrp="1"/>
          </p:cNvSpPr>
          <p:nvPr/>
        </p:nvSpPr>
        <p:spPr>
          <a:xfrm>
            <a:off x="5124450" y="4067175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CODEGEN</a:t>
            </a:r>
          </a:p>
        </p:txBody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43086D06-7C91-41BA-8631-D2A1AF7BDFBD}"/>
              </a:ext>
            </a:extLst>
          </p:cNvPr>
          <p:cNvSpPr>
            <a:spLocks noGrp="1"/>
          </p:cNvSpPr>
          <p:nvPr/>
        </p:nvSpPr>
        <p:spPr>
          <a:xfrm>
            <a:off x="5124450" y="4572000"/>
            <a:ext cx="1666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Genera scaffold</a:t>
            </a:r>
          </a:p>
        </p:txBody>
      </p:sp>
      <p:sp>
        <p:nvSpPr>
          <p:cNvPr id="31" name="panel">
            <a:extLst>
              <a:ext uri="{FF2B5EF4-FFF2-40B4-BE49-F238E27FC236}">
                <a16:creationId xmlns:a16="http://schemas.microsoft.com/office/drawing/2014/main" id="{6A592468-7E7E-4356-9527-B8A528EAC4C0}"/>
              </a:ext>
            </a:extLst>
          </p:cNvPr>
          <p:cNvSpPr>
            <a:spLocks noGrp="1"/>
          </p:cNvSpPr>
          <p:nvPr/>
        </p:nvSpPr>
        <p:spPr>
          <a:xfrm>
            <a:off x="7229475" y="3857625"/>
            <a:ext cx="2000250" cy="13811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EEA05BF4-BDA7-469F-ACF1-6A879CB7F4E7}"/>
              </a:ext>
            </a:extLst>
          </p:cNvPr>
          <p:cNvSpPr>
            <a:spLocks noGrp="1"/>
          </p:cNvSpPr>
          <p:nvPr/>
        </p:nvSpPr>
        <p:spPr>
          <a:xfrm>
            <a:off x="7400925" y="4067175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TECH</a:t>
            </a:r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937936C2-9CF2-47AE-8D1F-4382FDAEAA3A}"/>
              </a:ext>
            </a:extLst>
          </p:cNvPr>
          <p:cNvSpPr>
            <a:spLocks noGrp="1"/>
          </p:cNvSpPr>
          <p:nvPr/>
        </p:nvSpPr>
        <p:spPr>
          <a:xfrm>
            <a:off x="7400925" y="4572000"/>
            <a:ext cx="1666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Compara opciones</a:t>
            </a:r>
          </a:p>
        </p:txBody>
      </p:sp>
      <p:sp>
        <p:nvSpPr>
          <p:cNvPr id="34" name="panel">
            <a:extLst>
              <a:ext uri="{FF2B5EF4-FFF2-40B4-BE49-F238E27FC236}">
                <a16:creationId xmlns:a16="http://schemas.microsoft.com/office/drawing/2014/main" id="{A48C390C-FE03-440B-B86A-D80E625D1BC7}"/>
              </a:ext>
            </a:extLst>
          </p:cNvPr>
          <p:cNvSpPr>
            <a:spLocks noGrp="1"/>
          </p:cNvSpPr>
          <p:nvPr/>
        </p:nvSpPr>
        <p:spPr>
          <a:xfrm>
            <a:off x="9505950" y="3857625"/>
            <a:ext cx="2000250" cy="13811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">
            <a:extLst>
              <a:ext uri="{FF2B5EF4-FFF2-40B4-BE49-F238E27FC236}">
                <a16:creationId xmlns:a16="http://schemas.microsoft.com/office/drawing/2014/main" id="{175FDF19-A955-47ED-815B-DE7444B3A259}"/>
              </a:ext>
            </a:extLst>
          </p:cNvPr>
          <p:cNvSpPr>
            <a:spLocks noGrp="1"/>
          </p:cNvSpPr>
          <p:nvPr/>
        </p:nvSpPr>
        <p:spPr>
          <a:xfrm>
            <a:off x="9677400" y="4067175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RAG</a:t>
            </a:r>
          </a:p>
        </p:txBody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67E9AE55-CC55-4795-A80E-2EF799044D90}"/>
              </a:ext>
            </a:extLst>
          </p:cNvPr>
          <p:cNvSpPr>
            <a:spLocks noGrp="1"/>
          </p:cNvSpPr>
          <p:nvPr/>
        </p:nvSpPr>
        <p:spPr>
          <a:xfrm>
            <a:off x="9677400" y="4572000"/>
            <a:ext cx="1666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Aporta contexto</a:t>
            </a:r>
          </a:p>
        </p:txBody>
      </p:sp>
      <p:sp>
        <p:nvSpPr>
          <p:cNvPr id="37" name="text">
            <a:extLst>
              <a:ext uri="{FF2B5EF4-FFF2-40B4-BE49-F238E27FC236}">
                <a16:creationId xmlns:a16="http://schemas.microsoft.com/office/drawing/2014/main" id="{F435FE44-8F99-4202-8D5E-16BD195B767F}"/>
              </a:ext>
            </a:extLst>
          </p:cNvPr>
          <p:cNvSpPr>
            <a:spLocks noGrp="1"/>
          </p:cNvSpPr>
          <p:nvPr/>
        </p:nvSpPr>
        <p:spPr>
          <a:xfrm>
            <a:off x="1809750" y="5667375"/>
            <a:ext cx="857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Supervisor + esquemas Pydantic = salidas estructuradas, comprobables y persistibles.</a:t>
            </a:r>
          </a:p>
        </p:txBody>
      </p:sp>
    </p:spTree>
    <p:extLst>
      <p:ext uri="{BB962C8B-B14F-4D97-AF65-F5344CB8AC3E}">
        <p14:creationId xmlns:p14="http://schemas.microsoft.com/office/powerpoint/2010/main" val="434465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">
            <a:extLst>
              <a:ext uri="{FF2B5EF4-FFF2-40B4-BE49-F238E27FC236}">
                <a16:creationId xmlns:a16="http://schemas.microsoft.com/office/drawing/2014/main" id="{AD776D2D-2C0D-4940-95C6-4EABD94DEAAF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INTELIGENCIA ARTIFICIAL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95A578A-4A9C-4250-B4D3-80A6350D9842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IA intercambiable, explicable y resiliente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D8AF458-1519-4DAF-B1E0-3717A55E58C8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13593A0-03E9-412B-84AF-E1A6BABFE2CB}"/>
              </a:ext>
            </a:extLst>
          </p:cNvPr>
          <p:cNvSpPr>
            <a:spLocks noGrp="1"/>
          </p:cNvSpPr>
          <p:nvPr/>
        </p:nvSpPr>
        <p:spPr>
          <a:xfrm>
            <a:off x="400050" y="64579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A851DEA-E56D-4ED0-AE67-5C62FE24FDF0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600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1A4A0C4-AC7C-4A4F-A927-38B48A8C418D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Cada tarea usa una estrategia de proveedor y conserva un fallback determinista.</a:t>
            </a:r>
          </a:p>
        </p:txBody>
      </p:sp>
      <p:sp>
        <p:nvSpPr>
          <p:cNvPr id="7" name="panel">
            <a:extLst>
              <a:ext uri="{FF2B5EF4-FFF2-40B4-BE49-F238E27FC236}">
                <a16:creationId xmlns:a16="http://schemas.microsoft.com/office/drawing/2014/main" id="{C3F0CDD3-1D9E-48BA-AC05-227D0BDE179E}"/>
              </a:ext>
            </a:extLst>
          </p:cNvPr>
          <p:cNvSpPr>
            <a:spLocks noGrp="1"/>
          </p:cNvSpPr>
          <p:nvPr/>
        </p:nvSpPr>
        <p:spPr>
          <a:xfrm>
            <a:off x="400050" y="2238375"/>
            <a:ext cx="2571750" cy="19526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479E9D7-2DD4-47E8-A7D4-114B4026B24D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523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06432"/>
                </a:solidFill>
              </a:defRPr>
            </a:pPr>
            <a:r>
              <a:rPr sz="1575" b="1">
                <a:solidFill>
                  <a:srgbClr val="F06432"/>
                </a:solidFill>
              </a:rPr>
              <a:t>01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37D3244-B558-4A96-850D-D313A8AE4D96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GROQ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A0889E6D-9FDA-46F3-82E8-7D9DB88E6900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Razonamiento rápido</a:t>
            </a: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EDA81C9B-978B-423B-B2BA-8A45BC09776F}"/>
              </a:ext>
            </a:extLst>
          </p:cNvPr>
          <p:cNvSpPr>
            <a:spLocks noGrp="1"/>
          </p:cNvSpPr>
          <p:nvPr/>
        </p:nvSpPr>
        <p:spPr>
          <a:xfrm>
            <a:off x="3248025" y="2238375"/>
            <a:ext cx="2571750" cy="19526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A993125-F4F9-4904-AACC-4F577C67DEF7}"/>
              </a:ext>
            </a:extLst>
          </p:cNvPr>
          <p:cNvSpPr>
            <a:spLocks noGrp="1"/>
          </p:cNvSpPr>
          <p:nvPr/>
        </p:nvSpPr>
        <p:spPr>
          <a:xfrm>
            <a:off x="3457575" y="2428875"/>
            <a:ext cx="523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06432"/>
                </a:solidFill>
              </a:defRPr>
            </a:pPr>
            <a:r>
              <a:rPr sz="1575" b="1">
                <a:solidFill>
                  <a:srgbClr val="F06432"/>
                </a:solidFill>
              </a:rPr>
              <a:t>02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A6A4B24F-97FE-4BFA-961B-C4D005EA7B26}"/>
              </a:ext>
            </a:extLst>
          </p:cNvPr>
          <p:cNvSpPr>
            <a:spLocks noGrp="1"/>
          </p:cNvSpPr>
          <p:nvPr/>
        </p:nvSpPr>
        <p:spPr>
          <a:xfrm>
            <a:off x="3457575" y="300037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OPENAI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01962EA-E3D4-4E53-82EB-A88E4FF10119}"/>
              </a:ext>
            </a:extLst>
          </p:cNvPr>
          <p:cNvSpPr>
            <a:spLocks noGrp="1"/>
          </p:cNvSpPr>
          <p:nvPr/>
        </p:nvSpPr>
        <p:spPr>
          <a:xfrm>
            <a:off x="3457575" y="35242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Especificación estructurada</a:t>
            </a:r>
          </a:p>
        </p:txBody>
      </p:sp>
      <p:sp>
        <p:nvSpPr>
          <p:cNvPr id="15" name="panel">
            <a:extLst>
              <a:ext uri="{FF2B5EF4-FFF2-40B4-BE49-F238E27FC236}">
                <a16:creationId xmlns:a16="http://schemas.microsoft.com/office/drawing/2014/main" id="{EE8524C6-5C4B-4BEE-9C92-FFBC7EB5D358}"/>
              </a:ext>
            </a:extLst>
          </p:cNvPr>
          <p:cNvSpPr>
            <a:spLocks noGrp="1"/>
          </p:cNvSpPr>
          <p:nvPr/>
        </p:nvSpPr>
        <p:spPr>
          <a:xfrm>
            <a:off x="6096000" y="2238375"/>
            <a:ext cx="2571750" cy="19526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BA4A5C7D-35A2-4EF8-96FC-94F8C641D159}"/>
              </a:ext>
            </a:extLst>
          </p:cNvPr>
          <p:cNvSpPr>
            <a:spLocks noGrp="1"/>
          </p:cNvSpPr>
          <p:nvPr/>
        </p:nvSpPr>
        <p:spPr>
          <a:xfrm>
            <a:off x="6305550" y="2428875"/>
            <a:ext cx="523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06432"/>
                </a:solidFill>
              </a:defRPr>
            </a:pPr>
            <a:r>
              <a:rPr sz="1575" b="1">
                <a:solidFill>
                  <a:srgbClr val="F06432"/>
                </a:solidFill>
              </a:rPr>
              <a:t>03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1DD15D9D-B735-479F-8DD5-D0CAF9702BF8}"/>
              </a:ext>
            </a:extLst>
          </p:cNvPr>
          <p:cNvSpPr>
            <a:spLocks noGrp="1"/>
          </p:cNvSpPr>
          <p:nvPr/>
        </p:nvSpPr>
        <p:spPr>
          <a:xfrm>
            <a:off x="6305550" y="300037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GEMINI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110648CE-54F7-41CF-AEC6-0D16C1BF5DF2}"/>
              </a:ext>
            </a:extLst>
          </p:cNvPr>
          <p:cNvSpPr>
            <a:spLocks noGrp="1"/>
          </p:cNvSpPr>
          <p:nvPr/>
        </p:nvSpPr>
        <p:spPr>
          <a:xfrm>
            <a:off x="6305550" y="35242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Fallback cloud</a:t>
            </a:r>
          </a:p>
        </p:txBody>
      </p:sp>
      <p:sp>
        <p:nvSpPr>
          <p:cNvPr id="19" name="panel">
            <a:extLst>
              <a:ext uri="{FF2B5EF4-FFF2-40B4-BE49-F238E27FC236}">
                <a16:creationId xmlns:a16="http://schemas.microsoft.com/office/drawing/2014/main" id="{D809DB94-3A88-472B-B6F9-F51C5BF234F9}"/>
              </a:ext>
            </a:extLst>
          </p:cNvPr>
          <p:cNvSpPr>
            <a:spLocks noGrp="1"/>
          </p:cNvSpPr>
          <p:nvPr/>
        </p:nvSpPr>
        <p:spPr>
          <a:xfrm>
            <a:off x="8943975" y="2238375"/>
            <a:ext cx="2571750" cy="1952625"/>
          </a:xfrm>
          <a:prstGeom prst="rect">
            <a:avLst/>
          </a:prstGeom>
          <a:solidFill>
            <a:srgbClr val="20202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4F0DDEF3-C14E-43EE-9DA5-8AD055B896BA}"/>
              </a:ext>
            </a:extLst>
          </p:cNvPr>
          <p:cNvSpPr>
            <a:spLocks noGrp="1"/>
          </p:cNvSpPr>
          <p:nvPr/>
        </p:nvSpPr>
        <p:spPr>
          <a:xfrm>
            <a:off x="9153525" y="2428875"/>
            <a:ext cx="523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06432"/>
                </a:solidFill>
              </a:defRPr>
            </a:pPr>
            <a:r>
              <a:rPr sz="1575" b="1">
                <a:solidFill>
                  <a:srgbClr val="F06432"/>
                </a:solidFill>
              </a:rPr>
              <a:t>04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AF61F218-35EB-4C7A-8429-A03B88D1C6E6}"/>
              </a:ext>
            </a:extLst>
          </p:cNvPr>
          <p:cNvSpPr>
            <a:spLocks noGrp="1"/>
          </p:cNvSpPr>
          <p:nvPr/>
        </p:nvSpPr>
        <p:spPr>
          <a:xfrm>
            <a:off x="9153525" y="300037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OLLAMA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77F69B63-F7A9-4FAA-8280-E4F880BA5B55}"/>
              </a:ext>
            </a:extLst>
          </p:cNvPr>
          <p:cNvSpPr>
            <a:spLocks noGrp="1"/>
          </p:cNvSpPr>
          <p:nvPr/>
        </p:nvSpPr>
        <p:spPr>
          <a:xfrm>
            <a:off x="9153525" y="35242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5D5D5"/>
                </a:solidFill>
              </a:defRPr>
            </a:pPr>
            <a:r>
              <a:rPr sz="1275" b="0">
                <a:solidFill>
                  <a:srgbClr val="D5D5D5"/>
                </a:solidFill>
              </a:rPr>
              <a:t>Código local y privacidad</a:t>
            </a:r>
          </a:p>
        </p:txBody>
      </p:sp>
      <p:sp>
        <p:nvSpPr>
          <p:cNvPr id="23" name="panel">
            <a:extLst>
              <a:ext uri="{FF2B5EF4-FFF2-40B4-BE49-F238E27FC236}">
                <a16:creationId xmlns:a16="http://schemas.microsoft.com/office/drawing/2014/main" id="{375CC565-F176-4FBA-AF6F-5BFCD178E1F6}"/>
              </a:ext>
            </a:extLst>
          </p:cNvPr>
          <p:cNvSpPr>
            <a:spLocks noGrp="1"/>
          </p:cNvSpPr>
          <p:nvPr/>
        </p:nvSpPr>
        <p:spPr>
          <a:xfrm>
            <a:off x="400050" y="4667250"/>
            <a:ext cx="11391900" cy="1143000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8CEEF212-BB84-4214-A74A-2EB6C984FA2D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Fallback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16285A35-8D9D-4979-A82D-6051F209AA7E}"/>
              </a:ext>
            </a:extLst>
          </p:cNvPr>
          <p:cNvSpPr>
            <a:spLocks noGrp="1"/>
          </p:cNvSpPr>
          <p:nvPr/>
        </p:nvSpPr>
        <p:spPr>
          <a:xfrm>
            <a:off x="2143125" y="4905375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Proveedor configurado  →  cadena cloud/local  →  generación determinista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0B14978B-E110-44C4-8983-28AD53522644}"/>
              </a:ext>
            </a:extLst>
          </p:cNvPr>
          <p:cNvSpPr>
            <a:spLocks noGrp="1"/>
          </p:cNvSpPr>
          <p:nvPr/>
        </p:nvSpPr>
        <p:spPr>
          <a:xfrm>
            <a:off x="2143125" y="5381625"/>
            <a:ext cx="876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El sistema sigue produciendo una entrega útil incluso cuando un proveedor externo no está disponible.</a:t>
            </a:r>
          </a:p>
        </p:txBody>
      </p:sp>
    </p:spTree>
    <p:extLst>
      <p:ext uri="{BB962C8B-B14F-4D97-AF65-F5344CB8AC3E}">
        <p14:creationId xmlns:p14="http://schemas.microsoft.com/office/powerpoint/2010/main" val="1039452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">
            <a:extLst>
              <a:ext uri="{FF2B5EF4-FFF2-40B4-BE49-F238E27FC236}">
                <a16:creationId xmlns:a16="http://schemas.microsoft.com/office/drawing/2014/main" id="{F3F3D869-745B-4EF7-86ED-89EE6F739E11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RAG Y CONOCIMIENTO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F7DDF41-47E5-4EB1-82D4-9B699DEAEF0D}"/>
              </a:ext>
            </a:extLst>
          </p:cNvPr>
          <p:cNvSpPr>
            <a:spLocks noGrp="1"/>
          </p:cNvSpPr>
          <p:nvPr/>
        </p:nvSpPr>
        <p:spPr>
          <a:xfrm>
            <a:off x="400050" y="742950"/>
            <a:ext cx="10477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 IA responde mejor cuando puede consultar evidencia</a:t>
            </a:r>
          </a:p>
        </p:txBody>
      </p:sp>
      <p:sp>
        <p:nvSpPr>
          <p:cNvPr id="3" name="panel">
            <a:extLst>
              <a:ext uri="{FF2B5EF4-FFF2-40B4-BE49-F238E27FC236}">
                <a16:creationId xmlns:a16="http://schemas.microsoft.com/office/drawing/2014/main" id="{AF7BE36B-A0C5-4CB9-A9D9-E08BB84BB11A}"/>
              </a:ext>
            </a:extLst>
          </p:cNvPr>
          <p:cNvSpPr>
            <a:spLocks noGrp="1"/>
          </p:cNvSpPr>
          <p:nvPr/>
        </p:nvSpPr>
        <p:spPr>
          <a:xfrm>
            <a:off x="400050" y="2143125"/>
            <a:ext cx="2571750" cy="2333625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D31B473-5975-492C-A15D-1BD44B6F46E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28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06432"/>
                </a:solidFill>
              </a:defRPr>
            </a:pPr>
            <a:r>
              <a:rPr sz="1650" b="1">
                <a:solidFill>
                  <a:srgbClr val="F06432"/>
                </a:solidFill>
              </a:rPr>
              <a:t>1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32DC238-6DBE-4FFC-950B-EA29A4310DF0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Documentos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D0A63E1-9FC0-43D3-9DAB-F525486F853C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5D5D5"/>
                </a:solidFill>
              </a:defRPr>
            </a:pPr>
            <a:r>
              <a:rPr sz="1275" b="0">
                <a:solidFill>
                  <a:srgbClr val="D5D5D5"/>
                </a:solidFill>
              </a:rPr>
              <a:t>Guías, decisiones y especificaciones</a:t>
            </a:r>
          </a:p>
        </p:txBody>
      </p:sp>
      <p:sp>
        <p:nvSpPr>
          <p:cNvPr id="7" name="panel">
            <a:extLst>
              <a:ext uri="{FF2B5EF4-FFF2-40B4-BE49-F238E27FC236}">
                <a16:creationId xmlns:a16="http://schemas.microsoft.com/office/drawing/2014/main" id="{6F33FEBB-52E2-4848-B22F-3533AC951C4C}"/>
              </a:ext>
            </a:extLst>
          </p:cNvPr>
          <p:cNvSpPr>
            <a:spLocks noGrp="1"/>
          </p:cNvSpPr>
          <p:nvPr/>
        </p:nvSpPr>
        <p:spPr>
          <a:xfrm>
            <a:off x="3248025" y="2143125"/>
            <a:ext cx="2571750" cy="2333625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D929E75-B1B6-491A-BD77-5AB33B101EEA}"/>
              </a:ext>
            </a:extLst>
          </p:cNvPr>
          <p:cNvSpPr>
            <a:spLocks noGrp="1"/>
          </p:cNvSpPr>
          <p:nvPr/>
        </p:nvSpPr>
        <p:spPr>
          <a:xfrm>
            <a:off x="3457575" y="2333625"/>
            <a:ext cx="428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06432"/>
                </a:solidFill>
              </a:defRPr>
            </a:pPr>
            <a:r>
              <a:rPr sz="1650" b="1">
                <a:solidFill>
                  <a:srgbClr val="F06432"/>
                </a:solidFill>
              </a:rPr>
              <a:t>2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BE0D034-A9AC-48A6-8982-FE5E8B1FB233}"/>
              </a:ext>
            </a:extLst>
          </p:cNvPr>
          <p:cNvSpPr>
            <a:spLocks noGrp="1"/>
          </p:cNvSpPr>
          <p:nvPr/>
        </p:nvSpPr>
        <p:spPr>
          <a:xfrm>
            <a:off x="3457575" y="29527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Embeddings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291A9982-2237-4419-B1AB-0D4005FE2B73}"/>
              </a:ext>
            </a:extLst>
          </p:cNvPr>
          <p:cNvSpPr>
            <a:spLocks noGrp="1"/>
          </p:cNvSpPr>
          <p:nvPr/>
        </p:nvSpPr>
        <p:spPr>
          <a:xfrm>
            <a:off x="3457575" y="3619500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5D5D5"/>
                </a:solidFill>
              </a:defRPr>
            </a:pPr>
            <a:r>
              <a:rPr sz="1275" b="0">
                <a:solidFill>
                  <a:srgbClr val="D5D5D5"/>
                </a:solidFill>
              </a:rPr>
              <a:t>Representación semántica</a:t>
            </a:r>
          </a:p>
        </p:txBody>
      </p:sp>
      <p:sp>
        <p:nvSpPr>
          <p:cNvPr id="11" name="panel">
            <a:extLst>
              <a:ext uri="{FF2B5EF4-FFF2-40B4-BE49-F238E27FC236}">
                <a16:creationId xmlns:a16="http://schemas.microsoft.com/office/drawing/2014/main" id="{CD155A4A-4304-4748-9DA7-BF3EAFE81D43}"/>
              </a:ext>
            </a:extLst>
          </p:cNvPr>
          <p:cNvSpPr>
            <a:spLocks noGrp="1"/>
          </p:cNvSpPr>
          <p:nvPr/>
        </p:nvSpPr>
        <p:spPr>
          <a:xfrm>
            <a:off x="6096000" y="2143125"/>
            <a:ext cx="2571750" cy="23336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9BA65BE6-3637-45DA-9A08-7AEA2F83D479}"/>
              </a:ext>
            </a:extLst>
          </p:cNvPr>
          <p:cNvSpPr>
            <a:spLocks noGrp="1"/>
          </p:cNvSpPr>
          <p:nvPr/>
        </p:nvSpPr>
        <p:spPr>
          <a:xfrm>
            <a:off x="6305550" y="2333625"/>
            <a:ext cx="428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06432"/>
                </a:solidFill>
              </a:defRPr>
            </a:pPr>
            <a:r>
              <a:rPr sz="1650" b="1">
                <a:solidFill>
                  <a:srgbClr val="F06432"/>
                </a:solidFill>
              </a:rPr>
              <a:t>3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57EB9092-7F56-4F99-8611-428D4097078E}"/>
              </a:ext>
            </a:extLst>
          </p:cNvPr>
          <p:cNvSpPr>
            <a:spLocks noGrp="1"/>
          </p:cNvSpPr>
          <p:nvPr/>
        </p:nvSpPr>
        <p:spPr>
          <a:xfrm>
            <a:off x="6305550" y="29527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Qdrant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AC40672B-60D1-4419-946E-4F6933535D6C}"/>
              </a:ext>
            </a:extLst>
          </p:cNvPr>
          <p:cNvSpPr>
            <a:spLocks noGrp="1"/>
          </p:cNvSpPr>
          <p:nvPr/>
        </p:nvSpPr>
        <p:spPr>
          <a:xfrm>
            <a:off x="6305550" y="3619500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Recuperación de fragmentos relevantes</a:t>
            </a:r>
          </a:p>
        </p:txBody>
      </p:sp>
      <p:sp>
        <p:nvSpPr>
          <p:cNvPr id="15" name="panel">
            <a:extLst>
              <a:ext uri="{FF2B5EF4-FFF2-40B4-BE49-F238E27FC236}">
                <a16:creationId xmlns:a16="http://schemas.microsoft.com/office/drawing/2014/main" id="{ADE97149-7B66-4A6A-9634-ED889E302164}"/>
              </a:ext>
            </a:extLst>
          </p:cNvPr>
          <p:cNvSpPr>
            <a:spLocks noGrp="1"/>
          </p:cNvSpPr>
          <p:nvPr/>
        </p:nvSpPr>
        <p:spPr>
          <a:xfrm>
            <a:off x="8943975" y="2143125"/>
            <a:ext cx="2571750" cy="2333625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63FFE866-2B55-4695-9D8E-D428AB96B0AA}"/>
              </a:ext>
            </a:extLst>
          </p:cNvPr>
          <p:cNvSpPr>
            <a:spLocks noGrp="1"/>
          </p:cNvSpPr>
          <p:nvPr/>
        </p:nvSpPr>
        <p:spPr>
          <a:xfrm>
            <a:off x="9153525" y="2333625"/>
            <a:ext cx="428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06432"/>
                </a:solidFill>
              </a:defRPr>
            </a:pPr>
            <a:r>
              <a:rPr sz="1650" b="1">
                <a:solidFill>
                  <a:srgbClr val="F06432"/>
                </a:solidFill>
              </a:rPr>
              <a:t>4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45A66F65-9EB2-4304-A18C-F99D76F35E72}"/>
              </a:ext>
            </a:extLst>
          </p:cNvPr>
          <p:cNvSpPr>
            <a:spLocks noGrp="1"/>
          </p:cNvSpPr>
          <p:nvPr/>
        </p:nvSpPr>
        <p:spPr>
          <a:xfrm>
            <a:off x="9153525" y="29527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Respuesta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647B8CE6-E573-4798-8742-B4C184FE2AAF}"/>
              </a:ext>
            </a:extLst>
          </p:cNvPr>
          <p:cNvSpPr>
            <a:spLocks noGrp="1"/>
          </p:cNvSpPr>
          <p:nvPr/>
        </p:nvSpPr>
        <p:spPr>
          <a:xfrm>
            <a:off x="9153525" y="3619500"/>
            <a:ext cx="209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5D5D5"/>
                </a:solidFill>
              </a:defRPr>
            </a:pPr>
            <a:r>
              <a:rPr sz="1275" b="0">
                <a:solidFill>
                  <a:srgbClr val="D5D5D5"/>
                </a:solidFill>
              </a:rPr>
              <a:t>Contenido fundamentado con citas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C5E11176-3854-40B4-A24F-A29C15C3FF6C}"/>
              </a:ext>
            </a:extLst>
          </p:cNvPr>
          <p:cNvSpPr>
            <a:spLocks noGrp="1"/>
          </p:cNvSpPr>
          <p:nvPr/>
        </p:nvSpPr>
        <p:spPr>
          <a:xfrm>
            <a:off x="1000125" y="5191125"/>
            <a:ext cx="1019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Uso educativo: recuperar decisiones previas, comparar proyectos y explicar con fuentes, no solo con memoria del modelo.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10B02A0-DC92-4DBF-8621-91ECB933D5FC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82654DB4-4258-4DDA-BA98-EFA1269021C0}"/>
              </a:ext>
            </a:extLst>
          </p:cNvPr>
          <p:cNvSpPr>
            <a:spLocks noGrp="1"/>
          </p:cNvSpPr>
          <p:nvPr/>
        </p:nvSpPr>
        <p:spPr>
          <a:xfrm>
            <a:off x="400050" y="64579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RAG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79E02762-B11E-42D5-AF87-B3F5A271FC3C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600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92328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">
            <a:extLst>
              <a:ext uri="{FF2B5EF4-FFF2-40B4-BE49-F238E27FC236}">
                <a16:creationId xmlns:a16="http://schemas.microsoft.com/office/drawing/2014/main" id="{472A1AC3-6C5D-4A7E-9A44-9B5E88727869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ENTREGA GENERADA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0DB09C5-A9C7-4E92-9949-9230E4DB06E2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El resultado es un proyecto que puede continuar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425B4E1-01B1-4A94-97F0-2A62C415C6EC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7066D1C-0364-4BAB-B855-E3AA7782C052}"/>
              </a:ext>
            </a:extLst>
          </p:cNvPr>
          <p:cNvSpPr>
            <a:spLocks noGrp="1"/>
          </p:cNvSpPr>
          <p:nvPr/>
        </p:nvSpPr>
        <p:spPr>
          <a:xfrm>
            <a:off x="400050" y="64579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3A6ABF7-68CA-4051-9A64-FD575F0C73CD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600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6" name="panel">
            <a:extLst>
              <a:ext uri="{FF2B5EF4-FFF2-40B4-BE49-F238E27FC236}">
                <a16:creationId xmlns:a16="http://schemas.microsoft.com/office/drawing/2014/main" id="{E87809F7-6377-48C1-B980-D968206FF2E3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429000" cy="15716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E67C4AF-EA00-4A7B-A05B-5388887F41D1}"/>
              </a:ext>
            </a:extLst>
          </p:cNvPr>
          <p:cNvSpPr>
            <a:spLocks noGrp="1"/>
          </p:cNvSpPr>
          <p:nvPr/>
        </p:nvSpPr>
        <p:spPr>
          <a:xfrm>
            <a:off x="628650" y="2047875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README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FBAD85B-A8E6-4BAE-908A-C02AAF95AF80}"/>
              </a:ext>
            </a:extLst>
          </p:cNvPr>
          <p:cNvSpPr>
            <a:spLocks noGrp="1"/>
          </p:cNvSpPr>
          <p:nvPr/>
        </p:nvSpPr>
        <p:spPr>
          <a:xfrm>
            <a:off x="628650" y="25908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Resumen, stack y puesta en marcha</a:t>
            </a:r>
          </a:p>
        </p:txBody>
      </p:sp>
      <p:sp>
        <p:nvSpPr>
          <p:cNvPr id="9" name="panel">
            <a:extLst>
              <a:ext uri="{FF2B5EF4-FFF2-40B4-BE49-F238E27FC236}">
                <a16:creationId xmlns:a16="http://schemas.microsoft.com/office/drawing/2014/main" id="{D8E9226F-68DE-46A6-8ADE-EE8449CAB31D}"/>
              </a:ext>
            </a:extLst>
          </p:cNvPr>
          <p:cNvSpPr>
            <a:spLocks noGrp="1"/>
          </p:cNvSpPr>
          <p:nvPr/>
        </p:nvSpPr>
        <p:spPr>
          <a:xfrm>
            <a:off x="4200525" y="1809750"/>
            <a:ext cx="3429000" cy="15716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D5D9495-171F-4877-9498-6A8853AF94B8}"/>
              </a:ext>
            </a:extLst>
          </p:cNvPr>
          <p:cNvSpPr>
            <a:spLocks noGrp="1"/>
          </p:cNvSpPr>
          <p:nvPr/>
        </p:nvSpPr>
        <p:spPr>
          <a:xfrm>
            <a:off x="4429125" y="2047875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docs/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F39D6E3D-CD85-4DB7-A21B-75A049AFCC6D}"/>
              </a:ext>
            </a:extLst>
          </p:cNvPr>
          <p:cNvSpPr>
            <a:spLocks noGrp="1"/>
          </p:cNvSpPr>
          <p:nvPr/>
        </p:nvSpPr>
        <p:spPr>
          <a:xfrm>
            <a:off x="4429125" y="25908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Producto, API, arquitectura, IA y despliegue</a:t>
            </a:r>
          </a:p>
        </p:txBody>
      </p:sp>
      <p:sp>
        <p:nvSpPr>
          <p:cNvPr id="12" name="panel">
            <a:extLst>
              <a:ext uri="{FF2B5EF4-FFF2-40B4-BE49-F238E27FC236}">
                <a16:creationId xmlns:a16="http://schemas.microsoft.com/office/drawing/2014/main" id="{2417B080-091F-4B7D-834F-B673215DC63B}"/>
              </a:ext>
            </a:extLst>
          </p:cNvPr>
          <p:cNvSpPr>
            <a:spLocks noGrp="1"/>
          </p:cNvSpPr>
          <p:nvPr/>
        </p:nvSpPr>
        <p:spPr>
          <a:xfrm>
            <a:off x="8001000" y="1809750"/>
            <a:ext cx="3429000" cy="1571625"/>
          </a:xfrm>
          <a:prstGeom prst="rect">
            <a:avLst/>
          </a:prstGeom>
          <a:solidFill>
            <a:srgbClr val="20202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336CD8FD-4E82-47D6-998F-6AFB1D79F834}"/>
              </a:ext>
            </a:extLst>
          </p:cNvPr>
          <p:cNvSpPr>
            <a:spLocks noGrp="1"/>
          </p:cNvSpPr>
          <p:nvPr/>
        </p:nvSpPr>
        <p:spPr>
          <a:xfrm>
            <a:off x="8229600" y="2047875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sdd/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AD9194AB-10DE-46AB-B271-C32EF9351F96}"/>
              </a:ext>
            </a:extLst>
          </p:cNvPr>
          <p:cNvSpPr>
            <a:spLocks noGrp="1"/>
          </p:cNvSpPr>
          <p:nvPr/>
        </p:nvSpPr>
        <p:spPr>
          <a:xfrm>
            <a:off x="8229600" y="25908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OpenSpec, decisiones, planes, tareas y prompts</a:t>
            </a:r>
          </a:p>
        </p:txBody>
      </p:sp>
      <p:sp>
        <p:nvSpPr>
          <p:cNvPr id="15" name="panel">
            <a:extLst>
              <a:ext uri="{FF2B5EF4-FFF2-40B4-BE49-F238E27FC236}">
                <a16:creationId xmlns:a16="http://schemas.microsoft.com/office/drawing/2014/main" id="{B61BF7BF-512F-41B9-A756-880D07332141}"/>
              </a:ext>
            </a:extLst>
          </p:cNvPr>
          <p:cNvSpPr>
            <a:spLocks noGrp="1"/>
          </p:cNvSpPr>
          <p:nvPr/>
        </p:nvSpPr>
        <p:spPr>
          <a:xfrm>
            <a:off x="400050" y="3762375"/>
            <a:ext cx="3429000" cy="15716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26517EEE-D030-4766-8C02-F5A61DE43848}"/>
              </a:ext>
            </a:extLst>
          </p:cNvPr>
          <p:cNvSpPr>
            <a:spLocks noGrp="1"/>
          </p:cNvSpPr>
          <p:nvPr/>
        </p:nvSpPr>
        <p:spPr>
          <a:xfrm>
            <a:off x="628650" y="4000500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Código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80CC305A-8656-4F07-AD8A-94EA6F82D7FB}"/>
              </a:ext>
            </a:extLst>
          </p:cNvPr>
          <p:cNvSpPr>
            <a:spLocks noGrp="1"/>
          </p:cNvSpPr>
          <p:nvPr/>
        </p:nvSpPr>
        <p:spPr>
          <a:xfrm>
            <a:off x="628650" y="4543425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Scaffold ejecutable adaptado al stack</a:t>
            </a:r>
          </a:p>
        </p:txBody>
      </p:sp>
      <p:sp>
        <p:nvSpPr>
          <p:cNvPr id="18" name="panel">
            <a:extLst>
              <a:ext uri="{FF2B5EF4-FFF2-40B4-BE49-F238E27FC236}">
                <a16:creationId xmlns:a16="http://schemas.microsoft.com/office/drawing/2014/main" id="{691F188A-EB5A-405E-9293-0345FCD8CAAC}"/>
              </a:ext>
            </a:extLst>
          </p:cNvPr>
          <p:cNvSpPr>
            <a:spLocks noGrp="1"/>
          </p:cNvSpPr>
          <p:nvPr/>
        </p:nvSpPr>
        <p:spPr>
          <a:xfrm>
            <a:off x="4200525" y="3762375"/>
            <a:ext cx="3429000" cy="15716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CE167EA8-D4CB-4C20-A4DF-70E1B939255E}"/>
              </a:ext>
            </a:extLst>
          </p:cNvPr>
          <p:cNvSpPr>
            <a:spLocks noGrp="1"/>
          </p:cNvSpPr>
          <p:nvPr/>
        </p:nvSpPr>
        <p:spPr>
          <a:xfrm>
            <a:off x="4429125" y="4000500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Infra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1C9CE180-BDB1-49B1-AEDB-2E11AAD0363C}"/>
              </a:ext>
            </a:extLst>
          </p:cNvPr>
          <p:cNvSpPr>
            <a:spLocks noGrp="1"/>
          </p:cNvSpPr>
          <p:nvPr/>
        </p:nvSpPr>
        <p:spPr>
          <a:xfrm>
            <a:off x="4429125" y="4543425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Docker, nginx, scripts y GitHub Actions</a:t>
            </a:r>
          </a:p>
        </p:txBody>
      </p:sp>
      <p:sp>
        <p:nvSpPr>
          <p:cNvPr id="21" name="panel">
            <a:extLst>
              <a:ext uri="{FF2B5EF4-FFF2-40B4-BE49-F238E27FC236}">
                <a16:creationId xmlns:a16="http://schemas.microsoft.com/office/drawing/2014/main" id="{0A91CBF2-44B8-4E77-8EC8-CEDE98C708D1}"/>
              </a:ext>
            </a:extLst>
          </p:cNvPr>
          <p:cNvSpPr>
            <a:spLocks noGrp="1"/>
          </p:cNvSpPr>
          <p:nvPr/>
        </p:nvSpPr>
        <p:spPr>
          <a:xfrm>
            <a:off x="8001000" y="3762375"/>
            <a:ext cx="3429000" cy="15716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DDFB25AF-8653-4564-94EE-BDC7B45B95DB}"/>
              </a:ext>
            </a:extLst>
          </p:cNvPr>
          <p:cNvSpPr>
            <a:spLocks noGrp="1"/>
          </p:cNvSpPr>
          <p:nvPr/>
        </p:nvSpPr>
        <p:spPr>
          <a:xfrm>
            <a:off x="8229600" y="4000500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Validación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8C27DF65-E3AB-4BE0-9E17-B65BC8FBC636}"/>
              </a:ext>
            </a:extLst>
          </p:cNvPr>
          <p:cNvSpPr>
            <a:spLocks noGrp="1"/>
          </p:cNvSpPr>
          <p:nvPr/>
        </p:nvSpPr>
        <p:spPr>
          <a:xfrm>
            <a:off x="8229600" y="4543425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Coherencia, secretos y descarga segura</a:t>
            </a:r>
          </a:p>
        </p:txBody>
      </p:sp>
    </p:spTree>
    <p:extLst>
      <p:ext uri="{BB962C8B-B14F-4D97-AF65-F5344CB8AC3E}">
        <p14:creationId xmlns:p14="http://schemas.microsoft.com/office/powerpoint/2010/main" val="667023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">
            <a:extLst>
              <a:ext uri="{FF2B5EF4-FFF2-40B4-BE49-F238E27FC236}">
                <a16:creationId xmlns:a16="http://schemas.microsoft.com/office/drawing/2014/main" id="{5153732D-902B-4889-8941-C8F9C61EC1FC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3810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SEGURIDAD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07EDD50-8BCA-43F4-A3F0-0AFA7F4FE3CA}"/>
              </a:ext>
            </a:extLst>
          </p:cNvPr>
          <p:cNvSpPr>
            <a:spLocks noGrp="1"/>
          </p:cNvSpPr>
          <p:nvPr/>
        </p:nvSpPr>
        <p:spPr>
          <a:xfrm>
            <a:off x="400050" y="714375"/>
            <a:ext cx="10096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 confianza también forma parte del producto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723D386-8507-460D-894D-E86B85904676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5238750" cy="19050"/>
          </a:xfrm>
          <a:prstGeom prst="rect">
            <a:avLst/>
          </a:prstGeom>
          <a:solidFill>
            <a:srgbClr val="F06432"/>
          </a:solidFill>
          <a:ln w="0">
            <a:solidFill>
              <a:srgbClr val="F0643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74929C7C-E24B-4DD4-95A9-15A743759CC5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Autenticación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886F2B3-3EEE-4A37-A078-777AA4496F5E}"/>
              </a:ext>
            </a:extLst>
          </p:cNvPr>
          <p:cNvSpPr>
            <a:spLocks noGrp="1"/>
          </p:cNvSpPr>
          <p:nvPr/>
        </p:nvSpPr>
        <p:spPr>
          <a:xfrm>
            <a:off x="2495550" y="2000250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JWT + refresh token rotativo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FE818AE-C0CE-4151-8C34-E33EE4469297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23875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98A6359-6CB1-4CFF-A445-1F9EB9725DDE}"/>
              </a:ext>
            </a:extLst>
          </p:cNvPr>
          <p:cNvSpPr>
            <a:spLocks noGrp="1"/>
          </p:cNvSpPr>
          <p:nvPr/>
        </p:nvSpPr>
        <p:spPr>
          <a:xfrm>
            <a:off x="6210300" y="20002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Autorización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01A83F84-AE17-4E5C-9907-1D6C71E5D3CE}"/>
              </a:ext>
            </a:extLst>
          </p:cNvPr>
          <p:cNvSpPr>
            <a:spLocks noGrp="1"/>
          </p:cNvSpPr>
          <p:nvPr/>
        </p:nvSpPr>
        <p:spPr>
          <a:xfrm>
            <a:off x="8305800" y="2000250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Ownership, roles y admin aislado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5A33FAC-7C14-4CB4-8F07-2A2DE09A9F4D}"/>
              </a:ext>
            </a:extLst>
          </p:cNvPr>
          <p:cNvSpPr>
            <a:spLocks noGrp="1"/>
          </p:cNvSpPr>
          <p:nvPr/>
        </p:nvSpPr>
        <p:spPr>
          <a:xfrm>
            <a:off x="400050" y="3048000"/>
            <a:ext cx="523875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A806B557-8BA9-44B4-8E49-B3D7EDB99924}"/>
              </a:ext>
            </a:extLst>
          </p:cNvPr>
          <p:cNvSpPr>
            <a:spLocks noGrp="1"/>
          </p:cNvSpPr>
          <p:nvPr/>
        </p:nvSpPr>
        <p:spPr>
          <a:xfrm>
            <a:off x="400050" y="32385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Entrada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9AB3A562-2C3B-419C-8E92-820B90128FF9}"/>
              </a:ext>
            </a:extLst>
          </p:cNvPr>
          <p:cNvSpPr>
            <a:spLocks noGrp="1"/>
          </p:cNvSpPr>
          <p:nvPr/>
        </p:nvSpPr>
        <p:spPr>
          <a:xfrm>
            <a:off x="2495550" y="3238500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DTOs, CAPTCHA y rate limiting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B0A129A-524D-4712-8160-5D55F518F8A0}"/>
              </a:ext>
            </a:extLst>
          </p:cNvPr>
          <p:cNvSpPr>
            <a:spLocks noGrp="1"/>
          </p:cNvSpPr>
          <p:nvPr/>
        </p:nvSpPr>
        <p:spPr>
          <a:xfrm>
            <a:off x="6210300" y="3048000"/>
            <a:ext cx="523875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C03BDFB8-4931-4E72-8C96-503FF3CB6B37}"/>
              </a:ext>
            </a:extLst>
          </p:cNvPr>
          <p:cNvSpPr>
            <a:spLocks noGrp="1"/>
          </p:cNvSpPr>
          <p:nvPr/>
        </p:nvSpPr>
        <p:spPr>
          <a:xfrm>
            <a:off x="6210300" y="32385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Entrega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3BC686D2-DB6F-4A76-8D9D-8912A7FA2104}"/>
              </a:ext>
            </a:extLst>
          </p:cNvPr>
          <p:cNvSpPr>
            <a:spLocks noGrp="1"/>
          </p:cNvSpPr>
          <p:nvPr/>
        </p:nvSpPr>
        <p:spPr>
          <a:xfrm>
            <a:off x="8305800" y="3238500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Escaneo de secretos antes del ZIP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8E66035-C720-466B-9987-D321410CBB46}"/>
              </a:ext>
            </a:extLst>
          </p:cNvPr>
          <p:cNvSpPr>
            <a:spLocks noGrp="1"/>
          </p:cNvSpPr>
          <p:nvPr/>
        </p:nvSpPr>
        <p:spPr>
          <a:xfrm>
            <a:off x="400050" y="4286250"/>
            <a:ext cx="523875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3C5EC8F2-66D3-42FF-9E99-9EA27AD35703}"/>
              </a:ext>
            </a:extLst>
          </p:cNvPr>
          <p:cNvSpPr>
            <a:spLocks noGrp="1"/>
          </p:cNvSpPr>
          <p:nvPr/>
        </p:nvSpPr>
        <p:spPr>
          <a:xfrm>
            <a:off x="400050" y="44767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Repositorio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2C88D586-292E-49D2-9E5C-392B388B5066}"/>
              </a:ext>
            </a:extLst>
          </p:cNvPr>
          <p:cNvSpPr>
            <a:spLocks noGrp="1"/>
          </p:cNvSpPr>
          <p:nvPr/>
        </p:nvSpPr>
        <p:spPr>
          <a:xfrm>
            <a:off x="2495550" y="4476750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CI, Dependabot y revisión de dependencias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33AA3C4-14F8-4777-B7C4-1D927CFA617A}"/>
              </a:ext>
            </a:extLst>
          </p:cNvPr>
          <p:cNvSpPr>
            <a:spLocks noGrp="1"/>
          </p:cNvSpPr>
          <p:nvPr/>
        </p:nvSpPr>
        <p:spPr>
          <a:xfrm>
            <a:off x="6210300" y="4286250"/>
            <a:ext cx="523875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CEB50A58-9493-43C5-BD4D-49B744F2AB9B}"/>
              </a:ext>
            </a:extLst>
          </p:cNvPr>
          <p:cNvSpPr>
            <a:spLocks noGrp="1"/>
          </p:cNvSpPr>
          <p:nvPr/>
        </p:nvSpPr>
        <p:spPr>
          <a:xfrm>
            <a:off x="6210300" y="44767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Configuración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125D5FF5-2864-4818-AB62-DAFCE5E38A88}"/>
              </a:ext>
            </a:extLst>
          </p:cNvPr>
          <p:cNvSpPr>
            <a:spLocks noGrp="1"/>
          </p:cNvSpPr>
          <p:nvPr/>
        </p:nvSpPr>
        <p:spPr>
          <a:xfrm>
            <a:off x="8305800" y="4476750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Claves fuera del código y modelos validados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CBE5D97-79A6-42BC-ADDE-22A5C10EC9CD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02819D85-3DC6-47AB-B9ED-6C3A3D2A65CD}"/>
              </a:ext>
            </a:extLst>
          </p:cNvPr>
          <p:cNvSpPr>
            <a:spLocks noGrp="1"/>
          </p:cNvSpPr>
          <p:nvPr/>
        </p:nvSpPr>
        <p:spPr>
          <a:xfrm>
            <a:off x="400050" y="64579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SEGURIDAD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DF7EDDC1-58FD-4DEA-B019-C8DA1E542CB6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600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89024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">
            <a:extLst>
              <a:ext uri="{FF2B5EF4-FFF2-40B4-BE49-F238E27FC236}">
                <a16:creationId xmlns:a16="http://schemas.microsoft.com/office/drawing/2014/main" id="{981D9686-786A-4634-9CB5-F768CF37B04E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CALIDAD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AF8E103-F8E9-4EB6-8C24-0F4D392B8EC4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Evidencias de una base funcional y verificable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FFE5DD2-ADA1-46D6-8551-F420975377D6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C94C7864-7382-4BC1-9BB1-B37A65B428CA}"/>
              </a:ext>
            </a:extLst>
          </p:cNvPr>
          <p:cNvSpPr>
            <a:spLocks noGrp="1"/>
          </p:cNvSpPr>
          <p:nvPr/>
        </p:nvSpPr>
        <p:spPr>
          <a:xfrm>
            <a:off x="400050" y="64579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7477915-C527-4FE1-977A-7B5CFF11A906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600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16</a:t>
            </a:r>
          </a:p>
        </p:txBody>
      </p:sp>
      <p:sp>
        <p:nvSpPr>
          <p:cNvPr id="6" name="panel">
            <a:extLst>
              <a:ext uri="{FF2B5EF4-FFF2-40B4-BE49-F238E27FC236}">
                <a16:creationId xmlns:a16="http://schemas.microsoft.com/office/drawing/2014/main" id="{5D980B51-64A5-4308-859C-00E866881C4B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2571750" cy="2238375"/>
          </a:xfrm>
          <a:prstGeom prst="rect">
            <a:avLst/>
          </a:prstGeom>
          <a:solidFill>
            <a:srgbClr val="20202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47B6ECF-6002-4B83-BBD1-469261C5C9C1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143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350" b="1">
                <a:solidFill>
                  <a:srgbClr val="F06432"/>
                </a:solidFill>
              </a:defRPr>
            </a:pPr>
            <a:r>
              <a:rPr sz="4350" b="1">
                <a:solidFill>
                  <a:srgbClr val="F06432"/>
                </a:solidFill>
              </a:rPr>
              <a:t>195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FF6A6F8-C4F2-40A0-833E-94A3EBE34F7D}"/>
              </a:ext>
            </a:extLst>
          </p:cNvPr>
          <p:cNvSpPr>
            <a:spLocks noGrp="1"/>
          </p:cNvSpPr>
          <p:nvPr/>
        </p:nvSpPr>
        <p:spPr>
          <a:xfrm>
            <a:off x="609600" y="3190875"/>
            <a:ext cx="2143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pruebas aprobadas</a:t>
            </a:r>
          </a:p>
        </p:txBody>
      </p:sp>
      <p:sp>
        <p:nvSpPr>
          <p:cNvPr id="9" name="panel">
            <a:extLst>
              <a:ext uri="{FF2B5EF4-FFF2-40B4-BE49-F238E27FC236}">
                <a16:creationId xmlns:a16="http://schemas.microsoft.com/office/drawing/2014/main" id="{835FB635-D4D3-4441-BA35-307652802EE7}"/>
              </a:ext>
            </a:extLst>
          </p:cNvPr>
          <p:cNvSpPr>
            <a:spLocks noGrp="1"/>
          </p:cNvSpPr>
          <p:nvPr/>
        </p:nvSpPr>
        <p:spPr>
          <a:xfrm>
            <a:off x="3248025" y="1809750"/>
            <a:ext cx="2571750" cy="223837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1DC55F3-36BA-4BB7-BC81-3155C94CFFB0}"/>
              </a:ext>
            </a:extLst>
          </p:cNvPr>
          <p:cNvSpPr>
            <a:spLocks noGrp="1"/>
          </p:cNvSpPr>
          <p:nvPr/>
        </p:nvSpPr>
        <p:spPr>
          <a:xfrm>
            <a:off x="3457575" y="2095500"/>
            <a:ext cx="2143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19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83D91A31-2820-49F2-9C17-AC377162D317}"/>
              </a:ext>
            </a:extLst>
          </p:cNvPr>
          <p:cNvSpPr>
            <a:spLocks noGrp="1"/>
          </p:cNvSpPr>
          <p:nvPr/>
        </p:nvSpPr>
        <p:spPr>
          <a:xfrm>
            <a:off x="3457575" y="3190875"/>
            <a:ext cx="2143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scaffolds por stack</a:t>
            </a:r>
          </a:p>
        </p:txBody>
      </p:sp>
      <p:sp>
        <p:nvSpPr>
          <p:cNvPr id="12" name="panel">
            <a:extLst>
              <a:ext uri="{FF2B5EF4-FFF2-40B4-BE49-F238E27FC236}">
                <a16:creationId xmlns:a16="http://schemas.microsoft.com/office/drawing/2014/main" id="{DFCFBF93-03F5-448A-8814-265611EDBC41}"/>
              </a:ext>
            </a:extLst>
          </p:cNvPr>
          <p:cNvSpPr>
            <a:spLocks noGrp="1"/>
          </p:cNvSpPr>
          <p:nvPr/>
        </p:nvSpPr>
        <p:spPr>
          <a:xfrm>
            <a:off x="6096000" y="1809750"/>
            <a:ext cx="2571750" cy="223837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3802C71B-C815-4246-AF27-EDE13BD02E97}"/>
              </a:ext>
            </a:extLst>
          </p:cNvPr>
          <p:cNvSpPr>
            <a:spLocks noGrp="1"/>
          </p:cNvSpPr>
          <p:nvPr/>
        </p:nvSpPr>
        <p:spPr>
          <a:xfrm>
            <a:off x="6305550" y="2095500"/>
            <a:ext cx="2143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77995E08-13F6-48E6-BC8F-5A4E1777E342}"/>
              </a:ext>
            </a:extLst>
          </p:cNvPr>
          <p:cNvSpPr>
            <a:spLocks noGrp="1"/>
          </p:cNvSpPr>
          <p:nvPr/>
        </p:nvSpPr>
        <p:spPr>
          <a:xfrm>
            <a:off x="6305550" y="3190875"/>
            <a:ext cx="2143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proveedores LLM</a:t>
            </a:r>
          </a:p>
        </p:txBody>
      </p:sp>
      <p:sp>
        <p:nvSpPr>
          <p:cNvPr id="15" name="panel">
            <a:extLst>
              <a:ext uri="{FF2B5EF4-FFF2-40B4-BE49-F238E27FC236}">
                <a16:creationId xmlns:a16="http://schemas.microsoft.com/office/drawing/2014/main" id="{0CE0766A-4A83-41FC-8C98-20475486ADD1}"/>
              </a:ext>
            </a:extLst>
          </p:cNvPr>
          <p:cNvSpPr>
            <a:spLocks noGrp="1"/>
          </p:cNvSpPr>
          <p:nvPr/>
        </p:nvSpPr>
        <p:spPr>
          <a:xfrm>
            <a:off x="8943975" y="1809750"/>
            <a:ext cx="2571750" cy="223837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71A91E20-093A-4259-9103-922CF08EE980}"/>
              </a:ext>
            </a:extLst>
          </p:cNvPr>
          <p:cNvSpPr>
            <a:spLocks noGrp="1"/>
          </p:cNvSpPr>
          <p:nvPr/>
        </p:nvSpPr>
        <p:spPr>
          <a:xfrm>
            <a:off x="9153525" y="2095500"/>
            <a:ext cx="2143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752A2E23-86F9-4F87-90FC-93511ACF0C32}"/>
              </a:ext>
            </a:extLst>
          </p:cNvPr>
          <p:cNvSpPr>
            <a:spLocks noGrp="1"/>
          </p:cNvSpPr>
          <p:nvPr/>
        </p:nvSpPr>
        <p:spPr>
          <a:xfrm>
            <a:off x="9153525" y="3190875"/>
            <a:ext cx="2143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aplicaciones principales</a:t>
            </a:r>
          </a:p>
        </p:txBody>
      </p:sp>
      <p:sp>
        <p:nvSpPr>
          <p:cNvPr id="18" name="panel">
            <a:extLst>
              <a:ext uri="{FF2B5EF4-FFF2-40B4-BE49-F238E27FC236}">
                <a16:creationId xmlns:a16="http://schemas.microsoft.com/office/drawing/2014/main" id="{9BCE2A9B-395E-48FA-9B70-87D2E74F28EE}"/>
              </a:ext>
            </a:extLst>
          </p:cNvPr>
          <p:cNvSpPr>
            <a:spLocks noGrp="1"/>
          </p:cNvSpPr>
          <p:nvPr/>
        </p:nvSpPr>
        <p:spPr>
          <a:xfrm>
            <a:off x="400050" y="4524375"/>
            <a:ext cx="11391900" cy="1143000"/>
          </a:xfrm>
          <a:prstGeom prst="rect">
            <a:avLst/>
          </a:prstGeom>
          <a:solidFill>
            <a:srgbClr val="E7F4E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63AC52CD-0E1D-4BBF-8751-614815D81E5E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1714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8864B"/>
                </a:solidFill>
              </a:defRPr>
            </a:pPr>
            <a:r>
              <a:rPr sz="1800" b="1">
                <a:solidFill>
                  <a:srgbClr val="18864B"/>
                </a:solidFill>
              </a:rPr>
              <a:t>CI VERDE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F93BA7DD-74DC-4AAD-92F0-6908047483B1}"/>
              </a:ext>
            </a:extLst>
          </p:cNvPr>
          <p:cNvSpPr>
            <a:spLocks noGrp="1"/>
          </p:cNvSpPr>
          <p:nvPr/>
        </p:nvSpPr>
        <p:spPr>
          <a:xfrm>
            <a:off x="2571750" y="4810125"/>
            <a:ext cx="657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Lint · OpenSpec · tipos · tests · build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F303A604-B639-4996-B700-F203DB7F7184}"/>
              </a:ext>
            </a:extLst>
          </p:cNvPr>
          <p:cNvSpPr>
            <a:spLocks noGrp="1"/>
          </p:cNvSpPr>
          <p:nvPr/>
        </p:nvSpPr>
        <p:spPr>
          <a:xfrm>
            <a:off x="2571750" y="5286375"/>
            <a:ext cx="742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Validado en Linux mediante GitHub Actions y comprobado localmente en Windows.</a:t>
            </a:r>
          </a:p>
        </p:txBody>
      </p:sp>
    </p:spTree>
    <p:extLst>
      <p:ext uri="{BB962C8B-B14F-4D97-AF65-F5344CB8AC3E}">
        <p14:creationId xmlns:p14="http://schemas.microsoft.com/office/powerpoint/2010/main" val="171157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">
            <a:extLst>
              <a:ext uri="{FF2B5EF4-FFF2-40B4-BE49-F238E27FC236}">
                <a16:creationId xmlns:a16="http://schemas.microsoft.com/office/drawing/2014/main" id="{D50174E2-2363-4E07-987F-7FEA59A94338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GUION DE DEFENSA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0AF7E9F-31CD-4645-8302-FBBD38DD4911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Demostración: de una idea a una entrega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40CE0E2-B268-434B-A4E6-9078D54C6BE5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18CDB037-F610-45DD-93D2-F1EDC593FDF4}"/>
              </a:ext>
            </a:extLst>
          </p:cNvPr>
          <p:cNvSpPr>
            <a:spLocks noGrp="1"/>
          </p:cNvSpPr>
          <p:nvPr/>
        </p:nvSpPr>
        <p:spPr>
          <a:xfrm>
            <a:off x="400050" y="64579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03B898B-0EFB-49B8-81C2-B4D9D66B7F34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600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17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79AACD4-08D4-4B0D-82BE-FCBE6704BA28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523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01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4A5C834-5D48-48BF-9382-DFC7F77ED42D}"/>
              </a:ext>
            </a:extLst>
          </p:cNvPr>
          <p:cNvSpPr>
            <a:spLocks noGrp="1"/>
          </p:cNvSpPr>
          <p:nvPr/>
        </p:nvSpPr>
        <p:spPr>
          <a:xfrm>
            <a:off x="1143000" y="1571625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Crear proyecto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FF776B9-80A5-45CA-8474-341E052EBCD7}"/>
              </a:ext>
            </a:extLst>
          </p:cNvPr>
          <p:cNvSpPr>
            <a:spLocks noGrp="1"/>
          </p:cNvSpPr>
          <p:nvPr/>
        </p:nvSpPr>
        <p:spPr>
          <a:xfrm>
            <a:off x="4095750" y="159067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Definir producto, usuarios y objetivo.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A0F70FC-6AA8-4FDF-A29D-FEC4E659C4AD}"/>
              </a:ext>
            </a:extLst>
          </p:cNvPr>
          <p:cNvSpPr>
            <a:spLocks noGrp="1"/>
          </p:cNvSpPr>
          <p:nvPr/>
        </p:nvSpPr>
        <p:spPr>
          <a:xfrm>
            <a:off x="1143000" y="2066925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12ADD94E-C500-4A07-9F67-A84FCFDBDF9D}"/>
              </a:ext>
            </a:extLst>
          </p:cNvPr>
          <p:cNvSpPr>
            <a:spLocks noGrp="1"/>
          </p:cNvSpPr>
          <p:nvPr/>
        </p:nvSpPr>
        <p:spPr>
          <a:xfrm>
            <a:off x="400050" y="2314575"/>
            <a:ext cx="523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02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295852C8-62F5-4DD6-AF31-763C3D13A635}"/>
              </a:ext>
            </a:extLst>
          </p:cNvPr>
          <p:cNvSpPr>
            <a:spLocks noGrp="1"/>
          </p:cNvSpPr>
          <p:nvPr/>
        </p:nvSpPr>
        <p:spPr>
          <a:xfrm>
            <a:off x="1143000" y="2314575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Elegir propuesta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87F5905C-EFEF-4F8D-9C9B-2AAB8BCDA266}"/>
              </a:ext>
            </a:extLst>
          </p:cNvPr>
          <p:cNvSpPr>
            <a:spLocks noGrp="1"/>
          </p:cNvSpPr>
          <p:nvPr/>
        </p:nvSpPr>
        <p:spPr>
          <a:xfrm>
            <a:off x="4095750" y="233362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Comparar stacks y dificultad.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E622064-2BDD-45B2-8AF8-DEC179077C9D}"/>
              </a:ext>
            </a:extLst>
          </p:cNvPr>
          <p:cNvSpPr>
            <a:spLocks noGrp="1"/>
          </p:cNvSpPr>
          <p:nvPr/>
        </p:nvSpPr>
        <p:spPr>
          <a:xfrm>
            <a:off x="1143000" y="2809875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79CAA486-D925-45F9-B179-CBB79F127E7C}"/>
              </a:ext>
            </a:extLst>
          </p:cNvPr>
          <p:cNvSpPr>
            <a:spLocks noGrp="1"/>
          </p:cNvSpPr>
          <p:nvPr/>
        </p:nvSpPr>
        <p:spPr>
          <a:xfrm>
            <a:off x="400050" y="3057525"/>
            <a:ext cx="523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03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9D24F11-86F9-49A8-AC69-C1FF03E2F23C}"/>
              </a:ext>
            </a:extLst>
          </p:cNvPr>
          <p:cNvSpPr>
            <a:spLocks noGrp="1"/>
          </p:cNvSpPr>
          <p:nvPr/>
        </p:nvSpPr>
        <p:spPr>
          <a:xfrm>
            <a:off x="1143000" y="3057525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Generar OpenSpec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6CC0326F-9D48-44C8-A2BB-09B6DF78CC92}"/>
              </a:ext>
            </a:extLst>
          </p:cNvPr>
          <p:cNvSpPr>
            <a:spLocks noGrp="1"/>
          </p:cNvSpPr>
          <p:nvPr/>
        </p:nvSpPr>
        <p:spPr>
          <a:xfrm>
            <a:off x="4095750" y="307657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Revisar requisitos, datos y API.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DCC847F-E866-4FAF-BC76-00B1BA04CEAA}"/>
              </a:ext>
            </a:extLst>
          </p:cNvPr>
          <p:cNvSpPr>
            <a:spLocks noGrp="1"/>
          </p:cNvSpPr>
          <p:nvPr/>
        </p:nvSpPr>
        <p:spPr>
          <a:xfrm>
            <a:off x="1143000" y="3552825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26241FA2-7D6C-45A8-B3E3-07CA1A08EA43}"/>
              </a:ext>
            </a:extLst>
          </p:cNvPr>
          <p:cNvSpPr>
            <a:spLocks noGrp="1"/>
          </p:cNvSpPr>
          <p:nvPr/>
        </p:nvSpPr>
        <p:spPr>
          <a:xfrm>
            <a:off x="400050" y="3800475"/>
            <a:ext cx="523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04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3CF0A9E6-0A3E-4273-BCFD-BE2BDA9ED30C}"/>
              </a:ext>
            </a:extLst>
          </p:cNvPr>
          <p:cNvSpPr>
            <a:spLocks noGrp="1"/>
          </p:cNvSpPr>
          <p:nvPr/>
        </p:nvSpPr>
        <p:spPr>
          <a:xfrm>
            <a:off x="1143000" y="3800475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Ejecutar pipeline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89BADC44-FBB9-49BF-9A84-B9AE27721B36}"/>
              </a:ext>
            </a:extLst>
          </p:cNvPr>
          <p:cNvSpPr>
            <a:spLocks noGrp="1"/>
          </p:cNvSpPr>
          <p:nvPr/>
        </p:nvSpPr>
        <p:spPr>
          <a:xfrm>
            <a:off x="4095750" y="381952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Issues, tutorial y código.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52842BA-31E3-4B41-8D8D-503D808268B3}"/>
              </a:ext>
            </a:extLst>
          </p:cNvPr>
          <p:cNvSpPr>
            <a:spLocks noGrp="1"/>
          </p:cNvSpPr>
          <p:nvPr/>
        </p:nvSpPr>
        <p:spPr>
          <a:xfrm>
            <a:off x="1143000" y="4295775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010F2821-DBAE-4199-9B80-7C4212FDF8E1}"/>
              </a:ext>
            </a:extLst>
          </p:cNvPr>
          <p:cNvSpPr>
            <a:spLocks noGrp="1"/>
          </p:cNvSpPr>
          <p:nvPr/>
        </p:nvSpPr>
        <p:spPr>
          <a:xfrm>
            <a:off x="400050" y="4543425"/>
            <a:ext cx="523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05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AADCC584-2927-41F8-B2E3-FE392BC797B1}"/>
              </a:ext>
            </a:extLst>
          </p:cNvPr>
          <p:cNvSpPr>
            <a:spLocks noGrp="1"/>
          </p:cNvSpPr>
          <p:nvPr/>
        </p:nvSpPr>
        <p:spPr>
          <a:xfrm>
            <a:off x="1143000" y="4543425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Validar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AFD666F7-6568-4189-832B-5F6C8EA5CB45}"/>
              </a:ext>
            </a:extLst>
          </p:cNvPr>
          <p:cNvSpPr>
            <a:spLocks noGrp="1"/>
          </p:cNvSpPr>
          <p:nvPr/>
        </p:nvSpPr>
        <p:spPr>
          <a:xfrm>
            <a:off x="4095750" y="456247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Comprobar coherencia y secretos.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6E481D5-AFA7-40EE-91B2-BAA385453E6B}"/>
              </a:ext>
            </a:extLst>
          </p:cNvPr>
          <p:cNvSpPr>
            <a:spLocks noGrp="1"/>
          </p:cNvSpPr>
          <p:nvPr/>
        </p:nvSpPr>
        <p:spPr>
          <a:xfrm>
            <a:off x="1143000" y="5038725"/>
            <a:ext cx="981075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08A1C759-5763-4136-A2EA-3BEBB87EFF5A}"/>
              </a:ext>
            </a:extLst>
          </p:cNvPr>
          <p:cNvSpPr>
            <a:spLocks noGrp="1"/>
          </p:cNvSpPr>
          <p:nvPr/>
        </p:nvSpPr>
        <p:spPr>
          <a:xfrm>
            <a:off x="400050" y="5286375"/>
            <a:ext cx="523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06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726B8C2F-2ECA-4718-938E-153526A33FE3}"/>
              </a:ext>
            </a:extLst>
          </p:cNvPr>
          <p:cNvSpPr>
            <a:spLocks noGrp="1"/>
          </p:cNvSpPr>
          <p:nvPr/>
        </p:nvSpPr>
        <p:spPr>
          <a:xfrm>
            <a:off x="1143000" y="5286375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Descargar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4F8D0B9D-9603-4914-85BD-80E550A0459D}"/>
              </a:ext>
            </a:extLst>
          </p:cNvPr>
          <p:cNvSpPr>
            <a:spLocks noGrp="1"/>
          </p:cNvSpPr>
          <p:nvPr/>
        </p:nvSpPr>
        <p:spPr>
          <a:xfrm>
            <a:off x="4095750" y="530542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PDF, Markdown y ZIP final.</a:t>
            </a:r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56CF4E6E-27C9-44EB-87FA-9D9133BD6443}"/>
              </a:ext>
            </a:extLst>
          </p:cNvPr>
          <p:cNvSpPr>
            <a:spLocks noGrp="1"/>
          </p:cNvSpPr>
          <p:nvPr/>
        </p:nvSpPr>
        <p:spPr>
          <a:xfrm>
            <a:off x="1143000" y="5953125"/>
            <a:ext cx="904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Objetivo de la demo: demostrar coherencia del proceso, no solo cantidad de archivos.</a:t>
            </a:r>
          </a:p>
        </p:txBody>
      </p:sp>
    </p:spTree>
    <p:extLst>
      <p:ext uri="{BB962C8B-B14F-4D97-AF65-F5344CB8AC3E}">
        <p14:creationId xmlns:p14="http://schemas.microsoft.com/office/powerpoint/2010/main" val="2133188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">
            <a:extLst>
              <a:ext uri="{FF2B5EF4-FFF2-40B4-BE49-F238E27FC236}">
                <a16:creationId xmlns:a16="http://schemas.microsoft.com/office/drawing/2014/main" id="{2B0237B0-51F7-4A2F-93EC-720CF3A1E4C9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LÍMITES Y FUTURO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B37306B-1B4C-43A5-83DA-9EF45A881BBB}"/>
              </a:ext>
            </a:extLst>
          </p:cNvPr>
          <p:cNvSpPr>
            <a:spLocks noGrp="1"/>
          </p:cNvSpPr>
          <p:nvPr/>
        </p:nvSpPr>
        <p:spPr>
          <a:xfrm>
            <a:off x="400050" y="638175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Un MVP sólido con un camino claro de evolución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59A1E57-26F6-467C-B3C3-7E7BB1099C6B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033D052-EB74-4A8D-9F39-7AC1F721B455}"/>
              </a:ext>
            </a:extLst>
          </p:cNvPr>
          <p:cNvSpPr>
            <a:spLocks noGrp="1"/>
          </p:cNvSpPr>
          <p:nvPr/>
        </p:nvSpPr>
        <p:spPr>
          <a:xfrm>
            <a:off x="400050" y="64579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BCB581E-5A27-4AA2-8FC6-AF83FACD60ED}"/>
              </a:ext>
            </a:extLst>
          </p:cNvPr>
          <p:cNvSpPr>
            <a:spLocks noGrp="1"/>
          </p:cNvSpPr>
          <p:nvPr/>
        </p:nvSpPr>
        <p:spPr>
          <a:xfrm>
            <a:off x="11191875" y="6438900"/>
            <a:ext cx="6000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18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129BAFC-3078-437C-8D35-5558325F3D33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1714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HOY</a:t>
            </a:r>
          </a:p>
        </p:txBody>
      </p:sp>
      <p:sp>
        <p:nvSpPr>
          <p:cNvPr id="7" name="panel">
            <a:extLst>
              <a:ext uri="{FF2B5EF4-FFF2-40B4-BE49-F238E27FC236}">
                <a16:creationId xmlns:a16="http://schemas.microsoft.com/office/drawing/2014/main" id="{9A515BB4-F78D-4882-B84F-A5D8EC25E8BE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5286375" cy="3476625"/>
          </a:xfrm>
          <a:prstGeom prst="rect">
            <a:avLst/>
          </a:prstGeom>
          <a:solidFill>
            <a:srgbClr val="20202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bullet-0">
            <a:extLst>
              <a:ext uri="{FF2B5EF4-FFF2-40B4-BE49-F238E27FC236}">
                <a16:creationId xmlns:a16="http://schemas.microsoft.com/office/drawing/2014/main" id="{9A215079-BA8F-47E8-9CD2-8C94D4B6FE24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95250" cy="95250"/>
          </a:xfrm>
          <a:prstGeom prst="rect">
            <a:avLst/>
          </a:prstGeom>
          <a:solidFill>
            <a:srgbClr val="F06432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DF4E0504-039A-426E-9817-8D569E6CAB5C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42576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Pipeline SDD conectado de extremo a extremo</a:t>
            </a:r>
          </a:p>
        </p:txBody>
      </p:sp>
      <p:sp>
        <p:nvSpPr>
          <p:cNvPr id="10" name="bullet-1">
            <a:extLst>
              <a:ext uri="{FF2B5EF4-FFF2-40B4-BE49-F238E27FC236}">
                <a16:creationId xmlns:a16="http://schemas.microsoft.com/office/drawing/2014/main" id="{7B0FDB05-5C91-4092-B31C-5237F45C8D0D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95250" cy="95250"/>
          </a:xfrm>
          <a:prstGeom prst="rect">
            <a:avLst/>
          </a:prstGeom>
          <a:solidFill>
            <a:srgbClr val="F06432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E34EFCEF-4A20-4ECC-8772-1471493BF4B2}"/>
              </a:ext>
            </a:extLst>
          </p:cNvPr>
          <p:cNvSpPr>
            <a:spLocks noGrp="1"/>
          </p:cNvSpPr>
          <p:nvPr/>
        </p:nvSpPr>
        <p:spPr>
          <a:xfrm>
            <a:off x="952500" y="3086100"/>
            <a:ext cx="42576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Exportación PDF, Markdown, ZIP y GitHub</a:t>
            </a:r>
          </a:p>
        </p:txBody>
      </p:sp>
      <p:sp>
        <p:nvSpPr>
          <p:cNvPr id="12" name="bullet-2">
            <a:extLst>
              <a:ext uri="{FF2B5EF4-FFF2-40B4-BE49-F238E27FC236}">
                <a16:creationId xmlns:a16="http://schemas.microsoft.com/office/drawing/2014/main" id="{84D2F2FD-54C0-4445-9C19-FB723C5EE5FC}"/>
              </a:ext>
            </a:extLst>
          </p:cNvPr>
          <p:cNvSpPr>
            <a:spLocks noGrp="1"/>
          </p:cNvSpPr>
          <p:nvPr/>
        </p:nvSpPr>
        <p:spPr>
          <a:xfrm>
            <a:off x="685800" y="3867150"/>
            <a:ext cx="95250" cy="95250"/>
          </a:xfrm>
          <a:prstGeom prst="rect">
            <a:avLst/>
          </a:prstGeom>
          <a:solidFill>
            <a:srgbClr val="F06432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73FBDB56-BB7E-48BD-8EEF-E38C46283BEF}"/>
              </a:ext>
            </a:extLst>
          </p:cNvPr>
          <p:cNvSpPr>
            <a:spLocks noGrp="1"/>
          </p:cNvSpPr>
          <p:nvPr/>
        </p:nvSpPr>
        <p:spPr>
          <a:xfrm>
            <a:off x="952500" y="3790950"/>
            <a:ext cx="42576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Fallback LLM y 19 scaffolds deterministas</a:t>
            </a:r>
          </a:p>
        </p:txBody>
      </p:sp>
      <p:sp>
        <p:nvSpPr>
          <p:cNvPr id="14" name="bullet-3">
            <a:extLst>
              <a:ext uri="{FF2B5EF4-FFF2-40B4-BE49-F238E27FC236}">
                <a16:creationId xmlns:a16="http://schemas.microsoft.com/office/drawing/2014/main" id="{C4C9D34D-6B31-4805-BFAB-89B377B51A18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95250" cy="95250"/>
          </a:xfrm>
          <a:prstGeom prst="rect">
            <a:avLst/>
          </a:prstGeom>
          <a:solidFill>
            <a:srgbClr val="F06432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45F9AF8F-8C95-4936-8946-535218C4816C}"/>
              </a:ext>
            </a:extLst>
          </p:cNvPr>
          <p:cNvSpPr>
            <a:spLocks noGrp="1"/>
          </p:cNvSpPr>
          <p:nvPr/>
        </p:nvSpPr>
        <p:spPr>
          <a:xfrm>
            <a:off x="952500" y="4495800"/>
            <a:ext cx="42576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Seguridad, validación y CI automatizada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F20F6E46-8F87-4A50-B580-66899570861B}"/>
              </a:ext>
            </a:extLst>
          </p:cNvPr>
          <p:cNvSpPr>
            <a:spLocks noGrp="1"/>
          </p:cNvSpPr>
          <p:nvPr/>
        </p:nvSpPr>
        <p:spPr>
          <a:xfrm>
            <a:off x="6286500" y="1571625"/>
            <a:ext cx="266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SIGUIENTE ETAPA</a:t>
            </a:r>
          </a:p>
        </p:txBody>
      </p:sp>
      <p:sp>
        <p:nvSpPr>
          <p:cNvPr id="17" name="panel">
            <a:extLst>
              <a:ext uri="{FF2B5EF4-FFF2-40B4-BE49-F238E27FC236}">
                <a16:creationId xmlns:a16="http://schemas.microsoft.com/office/drawing/2014/main" id="{7B23001C-4572-4EDD-87E1-58D0A5AD71A4}"/>
              </a:ext>
            </a:extLst>
          </p:cNvPr>
          <p:cNvSpPr>
            <a:spLocks noGrp="1"/>
          </p:cNvSpPr>
          <p:nvPr/>
        </p:nvSpPr>
        <p:spPr>
          <a:xfrm>
            <a:off x="6286500" y="2000250"/>
            <a:ext cx="5505450" cy="3476625"/>
          </a:xfrm>
          <a:prstGeom prst="rect">
            <a:avLst/>
          </a:prstGeom>
          <a:solidFill>
            <a:srgbClr val="EEEEEE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bullet-0">
            <a:extLst>
              <a:ext uri="{FF2B5EF4-FFF2-40B4-BE49-F238E27FC236}">
                <a16:creationId xmlns:a16="http://schemas.microsoft.com/office/drawing/2014/main" id="{8EEF50DC-F80D-4CC0-93DA-7FEE061DA179}"/>
              </a:ext>
            </a:extLst>
          </p:cNvPr>
          <p:cNvSpPr>
            <a:spLocks noGrp="1"/>
          </p:cNvSpPr>
          <p:nvPr/>
        </p:nvSpPr>
        <p:spPr>
          <a:xfrm>
            <a:off x="6572250" y="2457450"/>
            <a:ext cx="95250" cy="95250"/>
          </a:xfrm>
          <a:prstGeom prst="rect">
            <a:avLst/>
          </a:prstGeom>
          <a:solidFill>
            <a:srgbClr val="F06432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2A83B714-83E0-4809-BB5B-0BFE162592D9}"/>
              </a:ext>
            </a:extLst>
          </p:cNvPr>
          <p:cNvSpPr>
            <a:spLocks noGrp="1"/>
          </p:cNvSpPr>
          <p:nvPr/>
        </p:nvSpPr>
        <p:spPr>
          <a:xfrm>
            <a:off x="6838950" y="2381250"/>
            <a:ext cx="4495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Integrar RAG en el wizard y la experiencia principal</a:t>
            </a:r>
          </a:p>
        </p:txBody>
      </p:sp>
      <p:sp>
        <p:nvSpPr>
          <p:cNvPr id="20" name="bullet-1">
            <a:extLst>
              <a:ext uri="{FF2B5EF4-FFF2-40B4-BE49-F238E27FC236}">
                <a16:creationId xmlns:a16="http://schemas.microsoft.com/office/drawing/2014/main" id="{16BFA1E7-BDE4-4ED7-BBB8-93A1CB928F5C}"/>
              </a:ext>
            </a:extLst>
          </p:cNvPr>
          <p:cNvSpPr>
            <a:spLocks noGrp="1"/>
          </p:cNvSpPr>
          <p:nvPr/>
        </p:nvSpPr>
        <p:spPr>
          <a:xfrm>
            <a:off x="6572250" y="3162300"/>
            <a:ext cx="95250" cy="95250"/>
          </a:xfrm>
          <a:prstGeom prst="rect">
            <a:avLst/>
          </a:prstGeom>
          <a:solidFill>
            <a:srgbClr val="F06432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4A69EA70-68C5-4BF9-9976-938F2F82597E}"/>
              </a:ext>
            </a:extLst>
          </p:cNvPr>
          <p:cNvSpPr>
            <a:spLocks noGrp="1"/>
          </p:cNvSpPr>
          <p:nvPr/>
        </p:nvSpPr>
        <p:spPr>
          <a:xfrm>
            <a:off x="6838950" y="3086100"/>
            <a:ext cx="4495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Ampliar itinerarios formativos y evaluación del aprendizaje</a:t>
            </a:r>
          </a:p>
        </p:txBody>
      </p:sp>
      <p:sp>
        <p:nvSpPr>
          <p:cNvPr id="22" name="bullet-2">
            <a:extLst>
              <a:ext uri="{FF2B5EF4-FFF2-40B4-BE49-F238E27FC236}">
                <a16:creationId xmlns:a16="http://schemas.microsoft.com/office/drawing/2014/main" id="{C5EE26A0-A5D9-44C6-99E8-B0694EE4D7A8}"/>
              </a:ext>
            </a:extLst>
          </p:cNvPr>
          <p:cNvSpPr>
            <a:spLocks noGrp="1"/>
          </p:cNvSpPr>
          <p:nvPr/>
        </p:nvSpPr>
        <p:spPr>
          <a:xfrm>
            <a:off x="6572250" y="3867150"/>
            <a:ext cx="95250" cy="95250"/>
          </a:xfrm>
          <a:prstGeom prst="rect">
            <a:avLst/>
          </a:prstGeom>
          <a:solidFill>
            <a:srgbClr val="F06432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4C16C5B2-15F3-4D47-BA22-3735FAEB4B74}"/>
              </a:ext>
            </a:extLst>
          </p:cNvPr>
          <p:cNvSpPr>
            <a:spLocks noGrp="1"/>
          </p:cNvSpPr>
          <p:nvPr/>
        </p:nvSpPr>
        <p:spPr>
          <a:xfrm>
            <a:off x="6838950" y="3790950"/>
            <a:ext cx="4495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Mejorar el PDF profesional y la edición visual de OpenSpec</a:t>
            </a:r>
          </a:p>
        </p:txBody>
      </p:sp>
      <p:sp>
        <p:nvSpPr>
          <p:cNvPr id="24" name="bullet-3">
            <a:extLst>
              <a:ext uri="{FF2B5EF4-FFF2-40B4-BE49-F238E27FC236}">
                <a16:creationId xmlns:a16="http://schemas.microsoft.com/office/drawing/2014/main" id="{21BBF61B-E42E-4F98-BCD5-A3B7038FC664}"/>
              </a:ext>
            </a:extLst>
          </p:cNvPr>
          <p:cNvSpPr>
            <a:spLocks noGrp="1"/>
          </p:cNvSpPr>
          <p:nvPr/>
        </p:nvSpPr>
        <p:spPr>
          <a:xfrm>
            <a:off x="6572250" y="4572000"/>
            <a:ext cx="95250" cy="95250"/>
          </a:xfrm>
          <a:prstGeom prst="rect">
            <a:avLst/>
          </a:prstGeom>
          <a:solidFill>
            <a:srgbClr val="F06432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7EC113F1-6279-488B-A5CE-EC69C643BDF0}"/>
              </a:ext>
            </a:extLst>
          </p:cNvPr>
          <p:cNvSpPr>
            <a:spLocks noGrp="1"/>
          </p:cNvSpPr>
          <p:nvPr/>
        </p:nvSpPr>
        <p:spPr>
          <a:xfrm>
            <a:off x="6838950" y="4495800"/>
            <a:ext cx="4495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Despliegue público reproducible y observabilidad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4DE1A992-C106-48BC-B0A9-A237E932083B}"/>
              </a:ext>
            </a:extLst>
          </p:cNvPr>
          <p:cNvSpPr>
            <a:spLocks noGrp="1"/>
          </p:cNvSpPr>
          <p:nvPr/>
        </p:nvSpPr>
        <p:spPr>
          <a:xfrm>
            <a:off x="1143000" y="581025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La prioridad es profundizar el valor educativo sin perder trazabilidad ni calidad técnica.</a:t>
            </a:r>
          </a:p>
        </p:txBody>
      </p:sp>
    </p:spTree>
    <p:extLst>
      <p:ext uri="{BB962C8B-B14F-4D97-AF65-F5344CB8AC3E}">
        <p14:creationId xmlns:p14="http://schemas.microsoft.com/office/powerpoint/2010/main" val="900385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>
            <a:extLst>
              <a:ext uri="{FF2B5EF4-FFF2-40B4-BE49-F238E27FC236}">
                <a16:creationId xmlns:a16="http://schemas.microsoft.com/office/drawing/2014/main" id="{5735544D-6F30-4D30-9838-65350698F852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CONCLUSIÓN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F5C2625-E969-4BC8-9179-4F2099A6A127}"/>
              </a:ext>
            </a:extLst>
          </p:cNvPr>
          <p:cNvSpPr>
            <a:spLocks noGrp="1"/>
          </p:cNvSpPr>
          <p:nvPr/>
        </p:nvSpPr>
        <p:spPr>
          <a:xfrm>
            <a:off x="400050" y="1143000"/>
            <a:ext cx="7810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La IA aporta más valor</a:t>
            </a:r>
          </a:p>
          <a:p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cuando trabaja con contexto.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B429303-C2DF-440A-80CE-8A2A5BC41127}"/>
              </a:ext>
            </a:extLst>
          </p:cNvPr>
          <p:cNvSpPr>
            <a:spLocks noGrp="1"/>
          </p:cNvSpPr>
          <p:nvPr/>
        </p:nvSpPr>
        <p:spPr>
          <a:xfrm>
            <a:off x="400050" y="3333750"/>
            <a:ext cx="7239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ProgresIA Studio convierte ese contexto en un proceso repetible, educativo y verificable.</a:t>
            </a:r>
          </a:p>
        </p:txBody>
      </p:sp>
      <p:sp>
        <p:nvSpPr>
          <p:cNvPr id="4" name="panel">
            <a:extLst>
              <a:ext uri="{FF2B5EF4-FFF2-40B4-BE49-F238E27FC236}">
                <a16:creationId xmlns:a16="http://schemas.microsoft.com/office/drawing/2014/main" id="{4F6E8BCA-7E24-4DE4-A826-4C5275F637BD}"/>
              </a:ext>
            </a:extLst>
          </p:cNvPr>
          <p:cNvSpPr>
            <a:spLocks noGrp="1"/>
          </p:cNvSpPr>
          <p:nvPr/>
        </p:nvSpPr>
        <p:spPr>
          <a:xfrm>
            <a:off x="8572500" y="0"/>
            <a:ext cx="3619500" cy="6858000"/>
          </a:xfrm>
          <a:prstGeom prst="rect">
            <a:avLst/>
          </a:prstGeom>
          <a:solidFill>
            <a:srgbClr val="20202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A90543B-E48D-40AB-A819-EED761E8ABED}"/>
              </a:ext>
            </a:extLst>
          </p:cNvPr>
          <p:cNvSpPr>
            <a:spLocks noGrp="1"/>
          </p:cNvSpPr>
          <p:nvPr/>
        </p:nvSpPr>
        <p:spPr>
          <a:xfrm>
            <a:off x="8905875" y="809625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APRENDIZAJE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D3BEB18-C4ED-45DE-A41D-40B341625271}"/>
              </a:ext>
            </a:extLst>
          </p:cNvPr>
          <p:cNvSpPr>
            <a:spLocks noGrp="1"/>
          </p:cNvSpPr>
          <p:nvPr/>
        </p:nvSpPr>
        <p:spPr>
          <a:xfrm>
            <a:off x="8905875" y="1381125"/>
            <a:ext cx="266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Arquitectura</a:t>
            </a:r>
          </a:p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multi-servicio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B86F42AD-D634-49BE-AE28-DE474E99517A}"/>
              </a:ext>
            </a:extLst>
          </p:cNvPr>
          <p:cNvSpPr>
            <a:spLocks noGrp="1"/>
          </p:cNvSpPr>
          <p:nvPr/>
        </p:nvSpPr>
        <p:spPr>
          <a:xfrm>
            <a:off x="8905875" y="2619375"/>
            <a:ext cx="266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Agentes y</a:t>
            </a:r>
          </a:p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LLM routing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8987C9C4-A1F0-425C-ABF7-1A7FA569131A}"/>
              </a:ext>
            </a:extLst>
          </p:cNvPr>
          <p:cNvSpPr>
            <a:spLocks noGrp="1"/>
          </p:cNvSpPr>
          <p:nvPr/>
        </p:nvSpPr>
        <p:spPr>
          <a:xfrm>
            <a:off x="8905875" y="3857625"/>
            <a:ext cx="266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Seguridad y</a:t>
            </a:r>
          </a:p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calidad continua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9512306A-CF8F-4C12-B2D1-C01A5C7B56A2}"/>
              </a:ext>
            </a:extLst>
          </p:cNvPr>
          <p:cNvSpPr>
            <a:spLocks noGrp="1"/>
          </p:cNvSpPr>
          <p:nvPr/>
        </p:nvSpPr>
        <p:spPr>
          <a:xfrm>
            <a:off x="400050" y="6096000"/>
            <a:ext cx="495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github.com/seurob/progresia</a:t>
            </a:r>
          </a:p>
        </p:txBody>
      </p:sp>
    </p:spTree>
    <p:extLst>
      <p:ext uri="{BB962C8B-B14F-4D97-AF65-F5344CB8AC3E}">
        <p14:creationId xmlns:p14="http://schemas.microsoft.com/office/powerpoint/2010/main" val="18273349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1402</Words>
  <Application>Microsoft Office PowerPoint</Application>
  <DocSecurity>0</DocSecurity>
  <PresentationFormat>Panorámica</PresentationFormat>
  <Paragraphs>329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1" baseType="lpstr"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Roberto Manca</cp:lastModifiedBy>
  <cp:revision>1</cp:revision>
  <dcterms:created xsi:type="dcterms:W3CDTF">2026-06-25T06:52:03Z</dcterms:created>
  <dcterms:modified xsi:type="dcterms:W3CDTF">2026-06-25T06:57:43Z</dcterms:modified>
</cp:coreProperties>
</file>