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\.rels>&#65279;<?xml version="1.0" encoding="utf-8"?><Relationships xmlns="http://schemas.openxmlformats.org/package/2006/relationships"><Relationship Type="http://schemas.openxmlformats.org/package/2006/relationships/metadata/core-properties" Target="/docProps/core.xml" Id="R67994d9a243a4e29" /><Relationship Type="http://schemas.openxmlformats.org/officeDocument/2006/relationships/extended-properties" Target="/docProps/app.xml" Id="R9a04e7d4f37448c0" /><Relationship Type="http://schemas.openxmlformats.org/officeDocument/2006/relationships/officeDocument" Target="/ppt/presentation.xml" Id="R1db0c5702e3d4916" /></Relationships>
</file>

<file path=docProps\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\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2026-06-24T23:34:17.3050000Z</dcterms:created>
  <dcterms:modified xsi:type="dcterms:W3CDTF">2026-06-24T23:34:17.3050000Z</dcterms:modified>
</coreProperties>
</file>

<file path=ppt\_rels\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298861189b40f2" /><Relationship Type="http://schemas.openxmlformats.org/officeDocument/2006/relationships/slideMaster" Target="/ppt/slideMasters/slideMaster1.xml" Id="Rab9398162c6241d4" /><Relationship Type="http://schemas.openxmlformats.org/officeDocument/2006/relationships/notesMaster" Target="/ppt/notesMasters/notesMaster1.xml" Id="R0dce3903bc6b4c80" /><Relationship Type="http://schemas.openxmlformats.org/officeDocument/2006/relationships/presProps" Target="/ppt/presProps.xml" Id="R8a1b60748c734514" /><Relationship Type="http://schemas.openxmlformats.org/officeDocument/2006/relationships/tableStyles" Target="/ppt/tableStyles.xml" Id="Rc72e22ff331645e3" /><Relationship Type="http://schemas.openxmlformats.org/officeDocument/2006/relationships/slide" Target="/ppt/slides/slide1.xml" Id="R07f94db228ec4a69" /><Relationship Type="http://schemas.openxmlformats.org/officeDocument/2006/relationships/slide" Target="/ppt/slides/slide2.xml" Id="Ra0413f7bfa3d430e" /><Relationship Type="http://schemas.openxmlformats.org/officeDocument/2006/relationships/slide" Target="/ppt/slides/slide3.xml" Id="R97ca291c8c2745fc" /><Relationship Type="http://schemas.openxmlformats.org/officeDocument/2006/relationships/slide" Target="/ppt/slides/slide4.xml" Id="Rd4e6038b03d44ae5" /><Relationship Type="http://schemas.openxmlformats.org/officeDocument/2006/relationships/slide" Target="/ppt/slides/slide5.xml" Id="Rc65aba9eb73e4b79" /><Relationship Type="http://schemas.openxmlformats.org/officeDocument/2006/relationships/slide" Target="/ppt/slides/slide6.xml" Id="Rb01616a807704aa3" /><Relationship Type="http://schemas.openxmlformats.org/officeDocument/2006/relationships/slide" Target="/ppt/slides/slide7.xml" Id="R7f7790ee741649b4" /><Relationship Type="http://schemas.openxmlformats.org/officeDocument/2006/relationships/slide" Target="/ppt/slides/slide8.xml" Id="R24510fc4086b4a5d" /><Relationship Type="http://schemas.openxmlformats.org/officeDocument/2006/relationships/slide" Target="/ppt/slides/slide9.xml" Id="R8a0134b530a74a80" /><Relationship Type="http://schemas.openxmlformats.org/officeDocument/2006/relationships/slide" Target="/ppt/slides/slide10.xml" Id="R82f0fb0be6b84c41" /><Relationship Type="http://schemas.openxmlformats.org/officeDocument/2006/relationships/slide" Target="/ppt/slides/slide11.xml" Id="Rd6f432713c3c4a59" /><Relationship Type="http://schemas.openxmlformats.org/officeDocument/2006/relationships/slide" Target="/ppt/slides/slide12.xml" Id="Ra6ee508963eb4de3" /></Relationships>
</file>

<file path=ppt\notesMasters\_rels\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58a33660bc48e2" /></Relationships>
</file>

<file path=ppt\notesMasters\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\notesMasters\theme\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\notesSlides\_rels\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596e262025f4981" /><Relationship Type="http://schemas.openxmlformats.org/officeDocument/2006/relationships/notesMaster" Target="/ppt/notesMasters/notesMaster1.xml" Id="R80f232c24e0a418c" /></Relationships>
</file>

<file path=ppt\notesSlides\_rels\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8e8e87dc3a4148" /><Relationship Type="http://schemas.openxmlformats.org/officeDocument/2006/relationships/notesMaster" Target="/ppt/notesMasters/notesMaster1.xml" Id="Rea2d8f767aa549fa" /></Relationships>
</file>

<file path=ppt\notesSlides\_rels\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f9f7546b3b4b04" /><Relationship Type="http://schemas.openxmlformats.org/officeDocument/2006/relationships/notesMaster" Target="/ppt/notesMasters/notesMaster1.xml" Id="R4b317c7419c84fdb" /></Relationships>
</file>

<file path=ppt\notesSlides\_rels\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b8ede6a9f14686" /><Relationship Type="http://schemas.openxmlformats.org/officeDocument/2006/relationships/notesMaster" Target="/ppt/notesMasters/notesMaster1.xml" Id="R33ad4cf3222842f6" /></Relationships>
</file>

<file path=ppt\notesSlides\_rels\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229efc276e4074" /><Relationship Type="http://schemas.openxmlformats.org/officeDocument/2006/relationships/notesMaster" Target="/ppt/notesMasters/notesMaster1.xml" Id="Rd0edc92e13724495" /></Relationships>
</file>

<file path=ppt\notesSlides\_rels\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ce3fde533c04b33" /><Relationship Type="http://schemas.openxmlformats.org/officeDocument/2006/relationships/notesMaster" Target="/ppt/notesMasters/notesMaster1.xml" Id="Rd30812faa3244f7c" /></Relationships>
</file>

<file path=ppt\notesSlides\_rels\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04efbf593a74063" /><Relationship Type="http://schemas.openxmlformats.org/officeDocument/2006/relationships/notesMaster" Target="/ppt/notesMasters/notesMaster1.xml" Id="R5bfd195e1f964dde" /></Relationships>
</file>

<file path=ppt\notesSlides\_rels\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7023aa9dca14ffe" /><Relationship Type="http://schemas.openxmlformats.org/officeDocument/2006/relationships/notesMaster" Target="/ppt/notesMasters/notesMaster1.xml" Id="R7ae4681ef88e477e" /></Relationships>
</file>

<file path=ppt\notesSlides\_rels\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86db484cbe14741" /><Relationship Type="http://schemas.openxmlformats.org/officeDocument/2006/relationships/notesMaster" Target="/ppt/notesMasters/notesMaster1.xml" Id="Ra5701052ab5b4400" /></Relationships>
</file>

<file path=ppt\notesSlides\_rels\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73014899bc84175" /><Relationship Type="http://schemas.openxmlformats.org/officeDocument/2006/relationships/notesMaster" Target="/ppt/notesMasters/notesMaster1.xml" Id="R51effa7c946f4504" /></Relationships>
</file>

<file path=ppt\notesSlides\_rels\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e6fd90514494eac" /><Relationship Type="http://schemas.openxmlformats.org/officeDocument/2006/relationships/notesMaster" Target="/ppt/notesMasters/notesMaster1.xml" Id="R55a467fc9b2a4a33" /></Relationships>
</file>

<file path=ppt\notesSlides\_rels\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6346ebe0a904011" /><Relationship Type="http://schemas.openxmlformats.org/officeDocument/2006/relationships/notesMaster" Target="/ppt/notesMasters/notesMaster1.xml" Id="R1a384334614c4155" /></Relationships>
</file>

<file path=ppt\notesSlides\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notesSlides\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\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\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9398162c6241d4"/>
  </p:sldMasterIdLst>
  <p:notesMasterIdLst>
    <p:notesMasterId xmlns:r="http://schemas.openxmlformats.org/officeDocument/2006/relationships" r:id="R0dce3903bc6b4c80"/>
  </p:notesMasterIdLst>
  <p:sldIdLst>
    <p:sldId xmlns:r="http://schemas.openxmlformats.org/officeDocument/2006/relationships" id="256" r:id="R07f94db228ec4a69"/>
    <p:sldId xmlns:r="http://schemas.openxmlformats.org/officeDocument/2006/relationships" id="257" r:id="Ra0413f7bfa3d430e"/>
    <p:sldId xmlns:r="http://schemas.openxmlformats.org/officeDocument/2006/relationships" id="258" r:id="R97ca291c8c2745fc"/>
    <p:sldId xmlns:r="http://schemas.openxmlformats.org/officeDocument/2006/relationships" id="259" r:id="Rd4e6038b03d44ae5"/>
    <p:sldId xmlns:r="http://schemas.openxmlformats.org/officeDocument/2006/relationships" id="260" r:id="Rc65aba9eb73e4b79"/>
    <p:sldId xmlns:r="http://schemas.openxmlformats.org/officeDocument/2006/relationships" id="261" r:id="Rb01616a807704aa3"/>
    <p:sldId xmlns:r="http://schemas.openxmlformats.org/officeDocument/2006/relationships" id="262" r:id="R7f7790ee741649b4"/>
    <p:sldId xmlns:r="http://schemas.openxmlformats.org/officeDocument/2006/relationships" id="263" r:id="R24510fc4086b4a5d"/>
    <p:sldId xmlns:r="http://schemas.openxmlformats.org/officeDocument/2006/relationships" id="264" r:id="R8a0134b530a74a80"/>
    <p:sldId xmlns:r="http://schemas.openxmlformats.org/officeDocument/2006/relationships" id="265" r:id="R82f0fb0be6b84c41"/>
    <p:sldId xmlns:r="http://schemas.openxmlformats.org/officeDocument/2006/relationships" id="266" r:id="Rd6f432713c3c4a59"/>
    <p:sldId xmlns:r="http://schemas.openxmlformats.org/officeDocument/2006/relationships" id="267" r:id="Ra6ee508963eb4de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\slideLayouts\_rels\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c12553ce944e4a" /></Relationships>
</file>

<file path=ppt\slideLayouts\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\slideMasters\_rels\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82285c327345fe" /><Relationship Type="http://schemas.openxmlformats.org/officeDocument/2006/relationships/slideLayout" Target="/ppt/slideLayouts/slideLayout1.xml" Id="Rdb24013b92534662" /></Relationships>
</file>

<file path=ppt\slideMasters\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24013b9253466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\slideMasters\theme\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\slides\_rels\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564be014f0410e" /><Relationship Type="http://schemas.openxmlformats.org/officeDocument/2006/relationships/notesSlide" Target="/ppt/notesSlides/notesSlide1.xml" Id="R0bdc37f2517b455c" /></Relationships>
</file>

<file path=ppt\slides\_rels\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148d617f94575" /><Relationship Type="http://schemas.openxmlformats.org/officeDocument/2006/relationships/notesSlide" Target="/ppt/notesSlides/notesSlide2.xml" Id="Ra796b6aa55d840b0" /></Relationships>
</file>

<file path=ppt\slides\_rels\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8fe3dd492446b7" /><Relationship Type="http://schemas.openxmlformats.org/officeDocument/2006/relationships/notesSlide" Target="/ppt/notesSlides/notesSlide3.xml" Id="R602e73bd3a7345de" /></Relationships>
</file>

<file path=ppt\slides\_rels\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863b1d46a14250" /><Relationship Type="http://schemas.openxmlformats.org/officeDocument/2006/relationships/notesSlide" Target="/ppt/notesSlides/notesSlide4.xml" Id="R5a5764efef9042c3" /></Relationships>
</file>

<file path=ppt\slides\_rels\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c820f4011b4c37" /><Relationship Type="http://schemas.openxmlformats.org/officeDocument/2006/relationships/notesSlide" Target="/ppt/notesSlides/notesSlide5.xml" Id="R138457e4e31947d6" /></Relationships>
</file>

<file path=ppt\slides\_rels\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05394bb49349b4" /><Relationship Type="http://schemas.openxmlformats.org/officeDocument/2006/relationships/image" Target="/ppt/media/image.jpeg" Id="R9c8c793967d24a9a" /><Relationship Type="http://schemas.openxmlformats.org/officeDocument/2006/relationships/notesSlide" Target="/ppt/notesSlides/notesSlide6.xml" Id="R5bf1c09a530d415f" /></Relationships>
</file>

<file path=ppt\slides\_rels\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58eb9babb94172" /><Relationship Type="http://schemas.openxmlformats.org/officeDocument/2006/relationships/notesSlide" Target="/ppt/notesSlides/notesSlide7.xml" Id="Rfd33748e2a5d428d" /></Relationships>
</file>

<file path=ppt\slides\_rels\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3010623db24a17" /><Relationship Type="http://schemas.openxmlformats.org/officeDocument/2006/relationships/notesSlide" Target="/ppt/notesSlides/notesSlide8.xml" Id="Rb4fa740609054065" /></Relationships>
</file>

<file path=ppt\slides\_rels\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d2a59409749f8" /><Relationship Type="http://schemas.openxmlformats.org/officeDocument/2006/relationships/notesSlide" Target="/ppt/notesSlides/notesSlide9.xml" Id="R419d3f0e2cc54390" /></Relationships>
</file>

<file path=ppt\slides\_rels\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52404af284400b" /><Relationship Type="http://schemas.openxmlformats.org/officeDocument/2006/relationships/notesSlide" Target="/ppt/notesSlides/notesSlide10.xml" Id="R95ce36b9f40a4605" /></Relationships>
</file>

<file path=ppt\slides\_rels\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6f73a8d85642f1" /><Relationship Type="http://schemas.openxmlformats.org/officeDocument/2006/relationships/notesSlide" Target="/ppt/notesSlides/notesSlide11.xml" Id="Rda2dd47d32ab462c" /></Relationships>
</file>

<file path=ppt\slides\_rels\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b10e6491dd4412" /><Relationship Type="http://schemas.openxmlformats.org/officeDocument/2006/relationships/notesSlide" Target="/ppt/notesSlides/notesSlide12.xml" Id="R9ab05e298c8e4cac" /></Relationships>
</file>

<file path=ppt\slides\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band">
            <a:extLst xmlns:a="http://schemas.openxmlformats.org/drawingml/2006/main">
              <a:ext uri="{FF2B5EF4-FFF2-40B4-BE49-F238E27FC236}">
                <a16:creationId xmlns:a16="http://schemas.microsoft.com/office/drawing/2014/main" id="{7164D92A-B9DD-490D-B743-31868607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0"/>
            <a:ext cx="3952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01DF971A-D3AE-4AF3-A41B-2DAD709E4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06432"/>
                </a:solidFill>
              </a:defRPr>
            </a:pPr>
            <a:r>
              <a:rPr sz="1200" b="1">
                <a:solidFill>
                  <a:srgbClr val="F06432"/>
                </a:solidFill>
              </a:rPr>
              <a:t>PROYECTO FINAL DE MÁSTER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5DCC5A99-0100-49CA-9C2F-26648A29A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6858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550" b="1">
                <a:solidFill>
                  <a:srgbClr val="111111"/>
                </a:solidFill>
              </a:defRPr>
            </a:pPr>
            <a:r>
              <a:rPr sz="5550" b="1">
                <a:solidFill>
                  <a:srgbClr val="111111"/>
                </a:solidFill>
              </a:rPr>
              <a:t>ProgresIA</a:t>
            </a:r>
          </a:p>
          <a:p xmlns:a="http://schemas.openxmlformats.org/drawingml/2006/main">
            <a:pPr algn="l">
              <a:defRPr sz="5550" b="1">
                <a:solidFill>
                  <a:srgbClr val="111111"/>
                </a:solidFill>
              </a:defRPr>
            </a:pPr>
            <a:r>
              <a:rPr sz="5550" b="1">
                <a:solidFill>
                  <a:srgbClr val="111111"/>
                </a:solidFill>
              </a:rPr>
              <a:t>Studio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D9FC773-3374-4CD4-87E6-C240BFD2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657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55555"/>
                </a:solidFill>
              </a:defRPr>
            </a:pPr>
            <a:r>
              <a:rPr sz="2025" b="0">
                <a:solidFill>
                  <a:srgbClr val="555555"/>
                </a:solidFill>
              </a:rPr>
              <a:t>De una idea a un MVP mediante desarrollo guiado por especificaciones e inteligencia artificial.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192D520B-2B30-4EFE-8076-BC559F13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Roberto Manca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33F2C0F-5D0A-4F61-B8AF-5AF2F0A1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48375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55555"/>
                </a:solidFill>
              </a:defRPr>
            </a:pPr>
            <a:r>
              <a:rPr sz="1125" b="0">
                <a:solidFill>
                  <a:srgbClr val="555555"/>
                </a:solidFill>
              </a:rPr>
              <a:t>Máster en Desarrollo de Software con IA · 2026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CC97C3C-F5F0-4668-B25E-5F17C832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95250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IDEA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00EEDFF4-649E-4DB1-ABF4-3BACBE656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19250"/>
            <a:ext cx="95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06432"/>
                </a:solidFill>
              </a:defRPr>
            </a:pPr>
            <a:r>
              <a:rPr sz="2550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A9A4FE9E-1854-4192-8AAE-61FD15B2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3362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ESPECIFICACIÓN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2A202319-410F-49FA-8194-03FFC1F5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00375"/>
            <a:ext cx="95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06432"/>
                </a:solidFill>
              </a:defRPr>
            </a:pPr>
            <a:r>
              <a:rPr sz="2550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3B59DACE-F467-448B-826D-7B03EAF1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147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MVP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397AC046-1C9C-447A-8CC5-D8066579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762500"/>
            <a:ext cx="2714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5D5D5"/>
                </a:solidFill>
              </a:defRPr>
            </a:pPr>
            <a:r>
              <a:rPr sz="1425" b="0">
                <a:solidFill>
                  <a:srgbClr val="D5D5D5"/>
                </a:solidFill>
              </a:rPr>
              <a:t>Código · documentación</a:t>
            </a:r>
          </a:p>
          <a:p xmlns:a="http://schemas.openxmlformats.org/drawingml/2006/main">
            <a:pPr algn="l">
              <a:defRPr sz="1425" b="0">
                <a:solidFill>
                  <a:srgbClr val="D5D5D5"/>
                </a:solidFill>
              </a:defRPr>
            </a:pPr>
            <a:r>
              <a:rPr sz="1425" b="0">
                <a:solidFill>
                  <a:srgbClr val="D5D5D5"/>
                </a:solidFill>
              </a:rPr>
              <a:t>issues · tutorial · ZIP</a:t>
            </a:r>
          </a:p>
        </p:txBody>
      </p:sp>
    </p:spTree>
    <p:extLst>
      <p:ext uri="{BB962C8B-B14F-4D97-AF65-F5344CB8AC3E}">
        <p14:creationId xmlns:p14="http://schemas.microsoft.com/office/powerpoint/2010/main" val="706286164"/>
      </p:ext>
    </p:extLst>
  </p:cSld>
</p:sld>
</file>

<file path=ppt\slides\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EAEE1889-E475-494A-858B-C99395E5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CONTEXTO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45A87829-AB0C-4D30-8776-E31F24A1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El problema no es generar código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BE74C9-95FD-4998-9845-1C5DB8F0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09B3634-4868-462B-A039-348AA941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0C545104-3AEE-402C-A90C-CA887157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02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0E06A87-F1FA-4D9E-AA91-F751BB3B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55555"/>
                </a:solidFill>
              </a:defRPr>
            </a:pPr>
            <a:r>
              <a:rPr sz="2175" b="0">
                <a:solidFill>
                  <a:srgbClr val="555555"/>
                </a:solidFill>
              </a:rPr>
              <a:t>Es generar código sin contexto, sin decisiones explícitas y sin una forma fiable de continuar.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22A79611-10D4-47C0-AF2D-F9C28F6D9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19375"/>
            <a:ext cx="3524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A4CA0711-9203-4291-9AA3-4F41088D9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6432"/>
                </a:solidFill>
              </a:defRPr>
            </a:pPr>
            <a:r>
              <a:rPr sz="2250" b="1">
                <a:solidFill>
                  <a:srgbClr val="F06432"/>
                </a:solidFill>
              </a:rPr>
              <a:t>01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71B9F6D-0B45-4DF3-9600-2A342548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766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Especificación débil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97B76633-F3BA-4AAD-85D6-E389E586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48125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Los requisitos quedan en conversaciones dispersas y el alcance cambia mientras se programa.</a:t>
            </a:r>
          </a:p>
        </p:txBody>
      </p:sp>
      <p:sp>
        <p:nvSpPr>
          <p:cNvPr id="11" name="panel">
            <a:extLst xmlns:a="http://schemas.openxmlformats.org/drawingml/2006/main">
              <a:ext uri="{FF2B5EF4-FFF2-40B4-BE49-F238E27FC236}">
                <a16:creationId xmlns:a16="http://schemas.microsoft.com/office/drawing/2014/main" id="{3BFF7C35-E324-4138-AAA2-FC893A9E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619375"/>
            <a:ext cx="3524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AB301C8C-C777-49A6-BD53-AF18421B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85750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6432"/>
                </a:solidFill>
              </a:defRPr>
            </a:pPr>
            <a:r>
              <a:rPr sz="2250" b="1">
                <a:solidFill>
                  <a:srgbClr val="F06432"/>
                </a:solidFill>
              </a:rPr>
              <a:t>02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C76110C-65ED-4ACF-82AD-5E770C7C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4766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IA sin memoria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CF0410A3-19C3-4C78-94F2-5AA515FE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048125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5D5D5"/>
                </a:solidFill>
              </a:defRPr>
            </a:pPr>
            <a:r>
              <a:rPr sz="1425" b="0">
                <a:solidFill>
                  <a:srgbClr val="D5D5D5"/>
                </a:solidFill>
              </a:rPr>
              <a:t>Cada sesión vuelve a interpretar el proyecto y produce decisiones incompatibles.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C820043B-8925-4175-A137-1D4B7895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19375"/>
            <a:ext cx="3524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63CCD80E-E57F-4A98-AE64-3C4BEC9F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5750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06432"/>
                </a:solidFill>
              </a:defRPr>
            </a:pPr>
            <a:r>
              <a:rPr sz="2250" b="1">
                <a:solidFill>
                  <a:srgbClr val="F06432"/>
                </a:solidFill>
              </a:rPr>
              <a:t>03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BE50FC2D-BF1D-4B65-8FDF-90B424B0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766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Aprendizaje invisible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2232F45-4548-4D2C-ADC3-6863A4CF3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48125"/>
            <a:ext cx="2857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El alumno recibe una respuesta, pero no una metodología reutilizable para construir el siguiente proyecto.</a:t>
            </a:r>
          </a:p>
        </p:txBody>
      </p:sp>
    </p:spTree>
    <p:extLst>
      <p:ext uri="{BB962C8B-B14F-4D97-AF65-F5344CB8AC3E}">
        <p14:creationId xmlns:p14="http://schemas.microsoft.com/office/powerpoint/2010/main" val="445688138"/>
      </p:ext>
    </p:extLst>
  </p:cSld>
</p:sld>
</file>

<file path=ppt\slides\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4305C420-25D2-4AB5-B513-77250F13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PROPUESTA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CED5D76-4244-4D18-959C-CE972910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La solución: especificar antes de generar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169603-71B9-4114-A28C-7CCAF676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DE4EBA7-B861-4008-BE85-AD4FED02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307757DB-A169-4B69-BE9E-EFCE06FA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03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0CF3A63-3BD0-464C-937D-4DDE9575A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55555"/>
                </a:solidFill>
              </a:defRPr>
            </a:pPr>
            <a:r>
              <a:rPr sz="2025" b="0">
                <a:solidFill>
                  <a:srgbClr val="555555"/>
                </a:solidFill>
              </a:rPr>
              <a:t>ProgresIA Studio convierte la conversación inicial en una cadena de artefactos coherentes.</a:t>
            </a:r>
          </a:p>
        </p:txBody>
      </p:sp>
      <p:sp>
        <p:nvSpPr>
          <p:cNvPr id="7" name="bullet-0">
            <a:extLst xmlns:a="http://schemas.openxmlformats.org/drawingml/2006/main">
              <a:ext uri="{FF2B5EF4-FFF2-40B4-BE49-F238E27FC236}">
                <a16:creationId xmlns:a16="http://schemas.microsoft.com/office/drawing/2014/main" id="{8CEE1FD9-5EB5-4B89-8026-454A8E3F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409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BFAB901-735C-4E26-BD54-709501A8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333625"/>
            <a:ext cx="6591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Guía al usuario mediante un wizard conversacional adaptado a su nivel técnico.</a:t>
            </a:r>
          </a:p>
        </p:txBody>
      </p:sp>
      <p:sp>
        <p:nvSpPr>
          <p:cNvPr id="9" name="bullet-1">
            <a:extLst xmlns:a="http://schemas.openxmlformats.org/drawingml/2006/main">
              <a:ext uri="{FF2B5EF4-FFF2-40B4-BE49-F238E27FC236}">
                <a16:creationId xmlns:a16="http://schemas.microsoft.com/office/drawing/2014/main" id="{76CD0F7C-D374-4AC6-A987-9C3B7D7A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171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7316245-0338-445A-84D7-79FDCEC4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095625"/>
            <a:ext cx="6591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Convierte la idea en requisitos, arquitectura y un OpenSpec reutilizable.</a:t>
            </a:r>
          </a:p>
        </p:txBody>
      </p:sp>
      <p:sp>
        <p:nvSpPr>
          <p:cNvPr id="11" name="bullet-2">
            <a:extLst xmlns:a="http://schemas.openxmlformats.org/drawingml/2006/main">
              <a:ext uri="{FF2B5EF4-FFF2-40B4-BE49-F238E27FC236}">
                <a16:creationId xmlns:a16="http://schemas.microsoft.com/office/drawing/2014/main" id="{477F9510-20B8-42DB-897F-DA2570698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33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E632040-FDE9-429B-8B7D-14B2E9D9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3857625"/>
            <a:ext cx="6591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Genera issues, tutorial, código base, documentación y un ZIP validado.</a:t>
            </a:r>
          </a:p>
        </p:txBody>
      </p:sp>
      <p:sp>
        <p:nvSpPr>
          <p:cNvPr id="13" name="bullet-3">
            <a:extLst xmlns:a="http://schemas.openxmlformats.org/drawingml/2006/main">
              <a:ext uri="{FF2B5EF4-FFF2-40B4-BE49-F238E27FC236}">
                <a16:creationId xmlns:a16="http://schemas.microsoft.com/office/drawing/2014/main" id="{9D3AC568-85A0-49AA-8E2E-2EF4BA04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95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650385E-5E4A-4679-9576-C6D2FE5F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619625"/>
            <a:ext cx="6591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Permite continuar el desarrollo con personas o asistentes de IA sin perder contexto.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2D66DBD4-487D-4DCC-8EAF-2C11AC1B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3143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25561065-50AD-449B-8F98-EFC3030A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00300"/>
            <a:ext cx="2571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DIFERENCIADOR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2FE79DFC-2F19-4A43-98AE-853881C2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00375"/>
            <a:ext cx="2571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No es solo</a:t>
            </a:r>
          </a:p>
          <a:p xmlns:a="http://schemas.openxmlformats.org/drawingml/2006/main">
            <a:pPr algn="l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un generador.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C553208A-44EC-4253-9711-4EC90255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33875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5D5D5"/>
                </a:solidFill>
              </a:defRPr>
            </a:pPr>
            <a:r>
              <a:rPr sz="1500" b="0">
                <a:solidFill>
                  <a:srgbClr val="D5D5D5"/>
                </a:solidFill>
              </a:rPr>
              <a:t>Es una metodología educativa convertida en producto software.</a:t>
            </a:r>
          </a:p>
        </p:txBody>
      </p:sp>
    </p:spTree>
    <p:extLst>
      <p:ext uri="{BB962C8B-B14F-4D97-AF65-F5344CB8AC3E}">
        <p14:creationId xmlns:p14="http://schemas.microsoft.com/office/powerpoint/2010/main" val="1548639704"/>
      </p:ext>
    </p:extLst>
  </p:cSld>
</p:sld>
</file>

<file path=ppt\slides\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E91B1229-A3B0-40B1-9E9F-F736634D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METODOLOGÍA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879EEC06-3D14-48A6-A314-F55B193F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Un pipeline SDD con una única fuente de verdad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0445F0-0E5E-4C8A-ABBB-06913B7B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A808E4F-6F1B-4CFD-B25E-06569EF7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BA6C6B30-8050-4383-B140-47E56F17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04</a:t>
            </a:r>
          </a:p>
        </p:txBody>
      </p:sp>
      <p:sp>
        <p:nvSpPr>
          <p:cNvPr id="6" name="stage-1">
            <a:extLst xmlns:a="http://schemas.openxmlformats.org/drawingml/2006/main">
              <a:ext uri="{FF2B5EF4-FFF2-40B4-BE49-F238E27FC236}">
                <a16:creationId xmlns:a16="http://schemas.microsoft.com/office/drawing/2014/main" id="{90C3FA84-CD99-4BBF-BB13-16295624C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E09D0726-BB2E-4784-9520-71D86F95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555555"/>
                </a:solidFill>
              </a:defRPr>
            </a:pPr>
            <a:r>
              <a:rPr sz="1875" b="1">
                <a:solidFill>
                  <a:srgbClr val="555555"/>
                </a:solidFill>
              </a:rPr>
              <a:t>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D10A2AF-4452-464B-A8BF-423C810F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Idea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0099FC88-F223-4088-8760-79B830763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Conversación guiada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0B2A5032-3848-475E-B96D-8281AFD3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143250"/>
            <a:ext cx="238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11" name="stage-2">
            <a:extLst xmlns:a="http://schemas.openxmlformats.org/drawingml/2006/main">
              <a:ext uri="{FF2B5EF4-FFF2-40B4-BE49-F238E27FC236}">
                <a16:creationId xmlns:a16="http://schemas.microsoft.com/office/drawing/2014/main" id="{0EB0602C-2E7E-4650-971F-455B548C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1B4FFC32-7ECF-46EC-9699-074619C1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555555"/>
                </a:solidFill>
              </a:defRPr>
            </a:pPr>
            <a:r>
              <a:rPr sz="1875" b="1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811E3DF-39AE-4EFD-8548-809F28E5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Requisitos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05B81223-F10F-4B8C-92D0-7DF32094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RF, RNF y stories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8E0BF75D-4A08-4511-890D-DA0110FE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143250"/>
            <a:ext cx="238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16" name="stage-3">
            <a:extLst xmlns:a="http://schemas.openxmlformats.org/drawingml/2006/main">
              <a:ext uri="{FF2B5EF4-FFF2-40B4-BE49-F238E27FC236}">
                <a16:creationId xmlns:a16="http://schemas.microsoft.com/office/drawing/2014/main" id="{8B3A3416-9D9B-432F-85E4-09E0E4D1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383AB730-C236-4953-9273-633952E01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555555"/>
                </a:solidFill>
              </a:defRPr>
            </a:pPr>
            <a:r>
              <a:rPr sz="1875" b="1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67429468-3C29-47CF-98CC-1F68B9F07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Arquitectura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1879D9E3-0F35-427C-BF6C-B052458C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Stack y decisiones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DA0208B6-E49F-4165-B08A-B4DD73B4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143250"/>
            <a:ext cx="238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21" name="stage-4">
            <a:extLst xmlns:a="http://schemas.openxmlformats.org/drawingml/2006/main">
              <a:ext uri="{FF2B5EF4-FFF2-40B4-BE49-F238E27FC236}">
                <a16:creationId xmlns:a16="http://schemas.microsoft.com/office/drawing/2014/main" id="{57DE9265-6D02-4700-A075-D03A3D93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16099FAC-70B3-4881-8F83-28CDE7F7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4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6E0A3D92-ED5F-4994-A3D4-3567FE01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OpenSpec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0FEDA4C0-51D2-4490-BD03-17DC70B8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8D8D8"/>
                </a:solidFill>
              </a:defRPr>
            </a:pPr>
            <a:r>
              <a:rPr sz="1200" b="0">
                <a:solidFill>
                  <a:srgbClr val="D8D8D8"/>
                </a:solidFill>
              </a:rPr>
              <a:t>Contrato central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35CB03B8-DD9C-4877-8D02-80B2522F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143250"/>
            <a:ext cx="238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26" name="stage-5">
            <a:extLst xmlns:a="http://schemas.openxmlformats.org/drawingml/2006/main">
              <a:ext uri="{FF2B5EF4-FFF2-40B4-BE49-F238E27FC236}">
                <a16:creationId xmlns:a16="http://schemas.microsoft.com/office/drawing/2014/main" id="{6896E8FD-6724-4183-B11B-EF581995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DF54FF13-BC72-4D4D-891A-B8AC606D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555555"/>
                </a:solidFill>
              </a:defRPr>
            </a:pPr>
            <a:r>
              <a:rPr sz="1875" b="1">
                <a:solidFill>
                  <a:srgbClr val="555555"/>
                </a:solidFill>
              </a:rPr>
              <a:t>5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FC4ADA1F-4AA2-4322-902E-0E1E058CF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Issues + tutorial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B37DABB3-3625-4D29-96A3-0EB24E3A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Plan ejecutable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273374DF-9522-489E-9551-9B80C475A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143250"/>
            <a:ext cx="238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31" name="stage-6">
            <a:extLst xmlns:a="http://schemas.openxmlformats.org/drawingml/2006/main">
              <a:ext uri="{FF2B5EF4-FFF2-40B4-BE49-F238E27FC236}">
                <a16:creationId xmlns:a16="http://schemas.microsoft.com/office/drawing/2014/main" id="{701877AB-D760-4FDB-B05C-73F3A760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F985A24C-A868-4892-8552-DE8D3BABB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555555"/>
                </a:solidFill>
              </a:defRPr>
            </a:pPr>
            <a:r>
              <a:rPr sz="1875" b="1">
                <a:solidFill>
                  <a:srgbClr val="555555"/>
                </a:solidFill>
              </a:rPr>
              <a:t>6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4CC8A86E-3482-469D-B5DF-6978DD1C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Código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56F20BED-AB10-4AC5-AF28-07C919CFF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Scaffold por stack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907D8212-198C-4702-816B-A4145160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143250"/>
            <a:ext cx="238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06432"/>
                </a:solidFill>
              </a:defRPr>
            </a:pPr>
            <a:r>
              <a:rPr sz="1875" b="1">
                <a:solidFill>
                  <a:srgbClr val="F06432"/>
                </a:solidFill>
              </a:rPr>
              <a:t>→</a:t>
            </a:r>
          </a:p>
        </p:txBody>
      </p:sp>
      <p:sp>
        <p:nvSpPr>
          <p:cNvPr id="36" name="stage-7">
            <a:extLst xmlns:a="http://schemas.openxmlformats.org/drawingml/2006/main">
              <a:ext uri="{FF2B5EF4-FFF2-40B4-BE49-F238E27FC236}">
                <a16:creationId xmlns:a16="http://schemas.microsoft.com/office/drawing/2014/main" id="{BE42571D-5C0B-4CB9-84E1-B85E2973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095500"/>
            <a:ext cx="14287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text">
            <a:extLst xmlns:a="http://schemas.openxmlformats.org/drawingml/2006/main">
              <a:ext uri="{FF2B5EF4-FFF2-40B4-BE49-F238E27FC236}">
                <a16:creationId xmlns:a16="http://schemas.microsoft.com/office/drawing/2014/main" id="{934967F6-956C-4737-8545-AB4B3E64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238375"/>
            <a:ext cx="400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555555"/>
                </a:solidFill>
              </a:defRPr>
            </a:pPr>
            <a:r>
              <a:rPr sz="1875" b="1">
                <a:solidFill>
                  <a:srgbClr val="555555"/>
                </a:solidFill>
              </a:rPr>
              <a:t>7</a:t>
            </a:r>
          </a:p>
        </p:txBody>
      </p:sp>
      <p:sp>
        <p:nvSpPr>
          <p:cNvPr id="38" name="text">
            <a:extLst xmlns:a="http://schemas.openxmlformats.org/drawingml/2006/main">
              <a:ext uri="{FF2B5EF4-FFF2-40B4-BE49-F238E27FC236}">
                <a16:creationId xmlns:a16="http://schemas.microsoft.com/office/drawing/2014/main" id="{C1B25F43-0398-41F2-B535-9E5BCBA3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714625"/>
            <a:ext cx="108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</a:defRPr>
            </a:pPr>
            <a:r>
              <a:rPr sz="1575" b="1">
                <a:solidFill>
                  <a:srgbClr val="111111"/>
                </a:solidFill>
              </a:rPr>
              <a:t>ZIP</a:t>
            </a:r>
          </a:p>
        </p:txBody>
      </p:sp>
      <p:sp>
        <p:nvSpPr>
          <p:cNvPr id="39" name="text">
            <a:extLst xmlns:a="http://schemas.openxmlformats.org/drawingml/2006/main">
              <a:ext uri="{FF2B5EF4-FFF2-40B4-BE49-F238E27FC236}">
                <a16:creationId xmlns:a16="http://schemas.microsoft.com/office/drawing/2014/main" id="{5612049C-91D4-4346-9DF4-73EA3ED2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171825"/>
            <a:ext cx="10858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Entrega validada</a:t>
            </a:r>
          </a:p>
        </p:txBody>
      </p:sp>
      <p:sp>
        <p:nvSpPr>
          <p:cNvPr id="40" name="text">
            <a:extLst xmlns:a="http://schemas.openxmlformats.org/drawingml/2006/main">
              <a:ext uri="{FF2B5EF4-FFF2-40B4-BE49-F238E27FC236}">
                <a16:creationId xmlns:a16="http://schemas.microsoft.com/office/drawing/2014/main" id="{772CE2C1-B13E-4713-AF84-053EDAA07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334000"/>
            <a:ext cx="8667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Todos los agentes posteriores consumen OpenSpec: si mejora la especificación, mejora todo el resultado.</a:t>
            </a:r>
          </a:p>
        </p:txBody>
      </p:sp>
    </p:spTree>
    <p:extLst>
      <p:ext uri="{BB962C8B-B14F-4D97-AF65-F5344CB8AC3E}">
        <p14:creationId xmlns:p14="http://schemas.microsoft.com/office/powerpoint/2010/main" val="2144353137"/>
      </p:ext>
    </p:extLst>
  </p:cSld>
</p:sld>
</file>

<file path=ppt\slides\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2E1163CC-AB26-4629-93A9-DBD771381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ARQUITECTURA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66F08BA4-CD45-4361-83CB-38D29466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Monorepo modular, tres aplicaciones especializadas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DF482-F20F-4784-BF05-E676BF5F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348F4D7-53CF-4EC5-9F2E-7573BC9C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16C6883-47DF-41C2-AB47-2032CCF6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05</a:t>
            </a:r>
          </a:p>
        </p:txBody>
      </p:sp>
      <p:sp>
        <p:nvSpPr>
          <p:cNvPr id="6" name="panel">
            <a:extLst xmlns:a="http://schemas.openxmlformats.org/drawingml/2006/main">
              <a:ext uri="{FF2B5EF4-FFF2-40B4-BE49-F238E27FC236}">
                <a16:creationId xmlns:a16="http://schemas.microsoft.com/office/drawing/2014/main" id="{F7379E4B-EC73-4147-AB14-33B50101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3238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B514739-D20D-41F6-8D8E-11332C21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52625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06432"/>
                </a:solidFill>
              </a:defRPr>
            </a:pPr>
            <a:r>
              <a:rPr sz="1200" b="1">
                <a:solidFill>
                  <a:srgbClr val="F06432"/>
                </a:solidFill>
              </a:rPr>
              <a:t>WEB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FA645264-ED0F-4331-8C69-B896E84B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7650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React 19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80168B1-4D37-410D-B926-DB006D9B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90875"/>
            <a:ext cx="2571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Wizard, dashboard, revisión de resultados y descarga.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F2695D2A-E55C-41FB-A4C6-413F2C3E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96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:5173</a:t>
            </a:r>
          </a:p>
        </p:txBody>
      </p:sp>
      <p:sp>
        <p:nvSpPr>
          <p:cNvPr id="11" name="panel">
            <a:extLst xmlns:a="http://schemas.openxmlformats.org/drawingml/2006/main">
              <a:ext uri="{FF2B5EF4-FFF2-40B4-BE49-F238E27FC236}">
                <a16:creationId xmlns:a16="http://schemas.microsoft.com/office/drawing/2014/main" id="{BF65EF80-15C7-4BC1-9111-351583C3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14500"/>
            <a:ext cx="3238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F638DA4-93C7-4866-94A6-38021419F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952625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06432"/>
                </a:solidFill>
              </a:defRPr>
            </a:pPr>
            <a:r>
              <a:rPr sz="1200" b="1">
                <a:solidFill>
                  <a:srgbClr val="F06432"/>
                </a:solidFill>
              </a:rPr>
              <a:t>API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02DBBC5-CA83-4512-90CB-225B6D5C0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7650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NestJS 11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86F1A24-999D-49B3-AA47-FC9D351CC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90875"/>
            <a:ext cx="2571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5D5D5"/>
                </a:solidFill>
              </a:defRPr>
            </a:pPr>
            <a:r>
              <a:rPr sz="1500" b="0">
                <a:solidFill>
                  <a:srgbClr val="D5D5D5"/>
                </a:solidFill>
              </a:rPr>
              <a:t>Usuarios, proyectos, jobs, artefactos, GitHub y seguridad.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15635F9E-BA84-4C37-A1E5-B7918218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6196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:3000</a:t>
            </a:r>
          </a:p>
        </p:txBody>
      </p:sp>
      <p:sp>
        <p:nvSpPr>
          <p:cNvPr id="16" name="panel">
            <a:extLst xmlns:a="http://schemas.openxmlformats.org/drawingml/2006/main">
              <a:ext uri="{FF2B5EF4-FFF2-40B4-BE49-F238E27FC236}">
                <a16:creationId xmlns:a16="http://schemas.microsoft.com/office/drawing/2014/main" id="{D97E188E-1BFB-48AF-8E4C-E59F0AC9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14500"/>
            <a:ext cx="3238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E5452E22-5362-43FF-8783-D1B6B7EA2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52625"/>
            <a:ext cx="2476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06432"/>
                </a:solidFill>
              </a:defRPr>
            </a:pPr>
            <a:r>
              <a:rPr sz="1200" b="1">
                <a:solidFill>
                  <a:srgbClr val="F06432"/>
                </a:solidFill>
              </a:rPr>
              <a:t>AI SERVICE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E74145F-A9B4-40F8-93A6-E3FA6245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47650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111"/>
                </a:solidFill>
              </a:defRPr>
            </a:pPr>
            <a:r>
              <a:rPr sz="2325" b="1">
                <a:solidFill>
                  <a:srgbClr val="111111"/>
                </a:solidFill>
              </a:rPr>
              <a:t>FastAPI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269F05D5-CEFE-4230-A044-1E2202746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190875"/>
            <a:ext cx="2571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55555"/>
                </a:solidFill>
              </a:defRPr>
            </a:pPr>
            <a:r>
              <a:rPr sz="1500" b="0">
                <a:solidFill>
                  <a:srgbClr val="555555"/>
                </a:solidFill>
              </a:rPr>
              <a:t>Agentes, LLM routing, RAG y generación determinista.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1F471C55-C95A-4710-B1F6-02DB6DB2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19625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:8003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21F5C6DE-C7E4-4700-9DBA-F5C8588D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PostgreSQL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2B1924CE-032F-442C-9CE9-F5146679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6197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Redis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95340A11-3359-46A6-BE01-33E32B0D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619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Qdrant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D744E72F-5E0A-45EB-B24A-222D38D0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197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MinIO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8660562A-2571-4FA3-AA7D-67FA772C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619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Mailpit</a:t>
            </a:r>
          </a:p>
        </p:txBody>
      </p:sp>
    </p:spTree>
    <p:extLst>
      <p:ext uri="{BB962C8B-B14F-4D97-AF65-F5344CB8AC3E}">
        <p14:creationId xmlns:p14="http://schemas.microsoft.com/office/powerpoint/2010/main" val="1291541726"/>
      </p:ext>
    </p:extLst>
  </p:cSld>
</p:sld>
</file>

<file path=ppt\slides\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F115A725-9E25-410F-B2DD-5FD429B6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PRODUCTO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864BF0D-FDE4-4283-9B8E-231946D8C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Una experiencia guiada desde el primer minuto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B6A28-E712-4F53-AC12-48D8B063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F420F2D6-EE65-4B94-B6C9-9DEAC406C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2F6A46D-D7FE-49A1-85E2-0D8FCCF9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06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8c793967d24a9a"/>
          <a:srcRect xmlns:a="http://schemas.openxmlformats.org/drawingml/2006/main" l="4215" t="0" r="42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619250"/>
            <a:ext cx="6667500" cy="4095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FF9CEF-B04E-481B-9CA5-3DCC1B6D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6667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solidFill>
              <a:srgbClr val="F06432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3E9908C8-42C1-49D8-A94C-1910CEEE7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666875"/>
            <a:ext cx="285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FLUJO PRINCIPAL</a:t>
            </a:r>
          </a:p>
        </p:txBody>
      </p:sp>
      <p:sp>
        <p:nvSpPr>
          <p:cNvPr id="9" name="bullet-0">
            <a:extLst xmlns:a="http://schemas.openxmlformats.org/drawingml/2006/main">
              <a:ext uri="{FF2B5EF4-FFF2-40B4-BE49-F238E27FC236}">
                <a16:creationId xmlns:a16="http://schemas.microsoft.com/office/drawing/2014/main" id="{F2C437E1-7C7E-4FBF-B272-4CFBD7FA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2669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A19263A-594F-4D26-8160-9A9BA5DE4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2190750"/>
            <a:ext cx="34004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Registro y acceso protegido con CAPTCHA configurable.</a:t>
            </a:r>
          </a:p>
        </p:txBody>
      </p:sp>
      <p:sp>
        <p:nvSpPr>
          <p:cNvPr id="11" name="bullet-1">
            <a:extLst xmlns:a="http://schemas.openxmlformats.org/drawingml/2006/main">
              <a:ext uri="{FF2B5EF4-FFF2-40B4-BE49-F238E27FC236}">
                <a16:creationId xmlns:a16="http://schemas.microsoft.com/office/drawing/2014/main" id="{AC5236AD-5520-4C69-89B9-9B584537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48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D61800E-6E70-4219-A08B-23960077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2971800"/>
            <a:ext cx="34004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Wizard que recoge producto, objetivo, datos, IA y despliegue.</a:t>
            </a:r>
          </a:p>
        </p:txBody>
      </p:sp>
      <p:sp>
        <p:nvSpPr>
          <p:cNvPr id="13" name="bullet-2">
            <a:extLst xmlns:a="http://schemas.openxmlformats.org/drawingml/2006/main">
              <a:ext uri="{FF2B5EF4-FFF2-40B4-BE49-F238E27FC236}">
                <a16:creationId xmlns:a16="http://schemas.microsoft.com/office/drawing/2014/main" id="{119F87A4-C533-4BA8-810F-F9CF7B92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829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78F1300-2A31-4EAD-9ABB-4B81703D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3752850"/>
            <a:ext cx="34004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Resultados progresivos con estados de carga y validación.</a:t>
            </a:r>
          </a:p>
        </p:txBody>
      </p:sp>
      <p:sp>
        <p:nvSpPr>
          <p:cNvPr id="15" name="bullet-3">
            <a:extLst xmlns:a="http://schemas.openxmlformats.org/drawingml/2006/main">
              <a:ext uri="{FF2B5EF4-FFF2-40B4-BE49-F238E27FC236}">
                <a16:creationId xmlns:a16="http://schemas.microsoft.com/office/drawing/2014/main" id="{A5845ACF-75ED-4257-8B20-07196915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610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80406EFA-6183-4EC9-98CB-CCA51ACD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533900"/>
            <a:ext cx="34004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Exportación PDF, Markdown, ZIP y publicación en GitHub.</a:t>
            </a:r>
          </a:p>
        </p:txBody>
      </p:sp>
    </p:spTree>
    <p:extLst>
      <p:ext uri="{BB962C8B-B14F-4D97-AF65-F5344CB8AC3E}">
        <p14:creationId xmlns:p14="http://schemas.microsoft.com/office/powerpoint/2010/main" val="1066489880"/>
      </p:ext>
    </p:extLst>
  </p:cSld>
</p:sld>
</file>

<file path=ppt\slides\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B710CCDF-8CF9-459C-8744-0585250F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INTELIGENCIA ARTIFICIAL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F791554F-D9CE-4ABC-B550-39E7CB20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IA intercambiable, explicable y resiliente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31AC58-9EA5-4BBD-9057-5D54ADD68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542AE110-D8FF-4BAD-89B6-9A01D26B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95A63C9-FB86-441B-BE9F-E8064D0A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07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EA0EC66-D485-41A6-A402-9141710A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81125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Cada tarea usa una estrategia de proveedor y conserva un fallback determinista.</a:t>
            </a:r>
          </a:p>
        </p:txBody>
      </p:sp>
      <p:sp>
        <p:nvSpPr>
          <p:cNvPr id="7" name="panel">
            <a:extLst xmlns:a="http://schemas.openxmlformats.org/drawingml/2006/main">
              <a:ext uri="{FF2B5EF4-FFF2-40B4-BE49-F238E27FC236}">
                <a16:creationId xmlns:a16="http://schemas.microsoft.com/office/drawing/2014/main" id="{FFB975B8-668A-40CC-9048-92FF7471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571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48F22DC-7617-4943-8DA7-77CF1F0C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06432"/>
                </a:solidFill>
              </a:defRPr>
            </a:pPr>
            <a:r>
              <a:rPr sz="1575" b="1">
                <a:solidFill>
                  <a:srgbClr val="F06432"/>
                </a:solidFill>
              </a:rPr>
              <a:t>01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E2357964-28BB-46F0-8FB9-C8D989BE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GROQ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09EB38E-39CB-4682-8DDE-B772C6046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Razonamiento rápido</a:t>
            </a:r>
          </a:p>
        </p:txBody>
      </p:sp>
      <p:sp>
        <p:nvSpPr>
          <p:cNvPr id="11" name="panel">
            <a:extLst xmlns:a="http://schemas.openxmlformats.org/drawingml/2006/main">
              <a:ext uri="{FF2B5EF4-FFF2-40B4-BE49-F238E27FC236}">
                <a16:creationId xmlns:a16="http://schemas.microsoft.com/office/drawing/2014/main" id="{3C8A4710-1E83-4D16-9C96-6FE68031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2238375"/>
            <a:ext cx="2571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D42DE8D6-A202-4F59-B12A-487C97373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4288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06432"/>
                </a:solidFill>
              </a:defRPr>
            </a:pPr>
            <a:r>
              <a:rPr sz="1575" b="1">
                <a:solidFill>
                  <a:srgbClr val="F06432"/>
                </a:solidFill>
              </a:rPr>
              <a:t>02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D6E477BB-BDB1-487A-AC22-1A6348EA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0003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OPENAI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EE514C91-D6A6-469B-A9DA-2E8BC3E0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524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Razonamiento de alta calidad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CF1F6852-1E1D-4759-AFCC-E3FB916A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38375"/>
            <a:ext cx="2571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A053FA2B-56DD-435B-96B9-018FDE6E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288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06432"/>
                </a:solidFill>
              </a:defRPr>
            </a:pPr>
            <a:r>
              <a:rPr sz="1575" b="1">
                <a:solidFill>
                  <a:srgbClr val="F06432"/>
                </a:solidFill>
              </a:rPr>
              <a:t>03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43F5BD65-D0D6-45EB-8561-32D1A0637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003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GEMINI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C784C7DD-7384-481C-B931-BFED04A7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24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Fallback cloud</a:t>
            </a:r>
          </a:p>
        </p:txBody>
      </p:sp>
      <p:sp>
        <p:nvSpPr>
          <p:cNvPr id="19" name="panel">
            <a:extLst xmlns:a="http://schemas.openxmlformats.org/drawingml/2006/main">
              <a:ext uri="{FF2B5EF4-FFF2-40B4-BE49-F238E27FC236}">
                <a16:creationId xmlns:a16="http://schemas.microsoft.com/office/drawing/2014/main" id="{BBC24F95-B7B9-48F6-AC9D-0CD6B10E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238375"/>
            <a:ext cx="25717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6935BB62-85AF-4E87-AD9A-A25341E5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4288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06432"/>
                </a:solidFill>
              </a:defRPr>
            </a:pPr>
            <a:r>
              <a:rPr sz="1575" b="1">
                <a:solidFill>
                  <a:srgbClr val="F06432"/>
                </a:solidFill>
              </a:rPr>
              <a:t>04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20AEA3C6-1F04-47AF-9F1B-654BB998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00037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OLLAMA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C432376D-7BB4-487F-8A0D-8E8C749D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5242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5D5D5"/>
                </a:solidFill>
              </a:defRPr>
            </a:pPr>
            <a:r>
              <a:rPr sz="1275" b="0">
                <a:solidFill>
                  <a:srgbClr val="D5D5D5"/>
                </a:solidFill>
              </a:rPr>
              <a:t>Código local y privacidad</a:t>
            </a:r>
          </a:p>
        </p:txBody>
      </p:sp>
      <p:sp>
        <p:nvSpPr>
          <p:cNvPr id="23" name="panel">
            <a:extLst xmlns:a="http://schemas.openxmlformats.org/drawingml/2006/main">
              <a:ext uri="{FF2B5EF4-FFF2-40B4-BE49-F238E27FC236}">
                <a16:creationId xmlns:a16="http://schemas.microsoft.com/office/drawing/2014/main" id="{6C3030DE-C415-4DD7-9054-4B25884A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113919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26CBF4A0-3919-45E6-B815-B2D26D68B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Fallback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F7533FE5-0CDA-4198-B56F-59A8C24B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90537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Proveedor configurado  →  cadena cloud/local  →  generación determinista</a:t>
            </a:r>
          </a:p>
        </p:txBody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C7A63A77-C405-4E94-8860-E7519DD6F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81625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El sistema sigue produciendo una entrega útil incluso cuando un proveedor externo no está disponible.</a:t>
            </a:r>
          </a:p>
        </p:txBody>
      </p:sp>
    </p:spTree>
    <p:extLst>
      <p:ext uri="{BB962C8B-B14F-4D97-AF65-F5344CB8AC3E}">
        <p14:creationId xmlns:p14="http://schemas.microsoft.com/office/powerpoint/2010/main" val="798721209"/>
      </p:ext>
    </p:extLst>
  </p:cSld>
</p:sld>
</file>

<file path=ppt\slides\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0364D799-B27B-4608-944E-AC9EDBA2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ENTREGA GENERADA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BA2772F9-6E80-41C4-AFED-E5AB6C2D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El resultado es un proyecto que puede continuar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36210A-334C-4FDF-AE1B-45C61FEBC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7B258FAA-B593-4792-A050-E32A79F8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2B131376-E58C-4EA0-A298-87C1F21B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08</a:t>
            </a:r>
          </a:p>
        </p:txBody>
      </p:sp>
      <p:sp>
        <p:nvSpPr>
          <p:cNvPr id="6" name="panel">
            <a:extLst xmlns:a="http://schemas.openxmlformats.org/drawingml/2006/main">
              <a:ext uri="{FF2B5EF4-FFF2-40B4-BE49-F238E27FC236}">
                <a16:creationId xmlns:a16="http://schemas.microsoft.com/office/drawing/2014/main" id="{DC4C0301-B61A-429B-8414-8FDD1D88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34290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F7E942D0-E54D-4677-BCBB-BBD7F001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478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README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74778BA-4EC0-45F6-91C9-E9C32239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90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Resumen, stack y puesta en marcha</a:t>
            </a:r>
          </a:p>
        </p:txBody>
      </p:sp>
      <p:sp>
        <p:nvSpPr>
          <p:cNvPr id="9" name="panel">
            <a:extLst xmlns:a="http://schemas.openxmlformats.org/drawingml/2006/main">
              <a:ext uri="{FF2B5EF4-FFF2-40B4-BE49-F238E27FC236}">
                <a16:creationId xmlns:a16="http://schemas.microsoft.com/office/drawing/2014/main" id="{8CDB31AD-7708-4366-9467-4BE52508D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1809750"/>
            <a:ext cx="34290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30E926D9-E4BE-4BFA-86D0-AA450B4E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478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docs/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59E7B9E5-C547-471F-A19F-C4B24555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590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Producto, API, arquitectura, IA y despliegue</a:t>
            </a:r>
          </a:p>
        </p:txBody>
      </p:sp>
      <p:sp>
        <p:nvSpPr>
          <p:cNvPr id="12" name="panel">
            <a:extLst xmlns:a="http://schemas.openxmlformats.org/drawingml/2006/main">
              <a:ext uri="{FF2B5EF4-FFF2-40B4-BE49-F238E27FC236}">
                <a16:creationId xmlns:a16="http://schemas.microsoft.com/office/drawing/2014/main" id="{D6F6869E-B2BF-4D2A-BE5A-660C713F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09750"/>
            <a:ext cx="34290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5B6C3F2-8351-4E75-B5CF-2D7FE0DC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478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sdd/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711B8E26-46E8-417C-BBF1-B8E31CD5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90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OpenSpec, decisiones, planes, tareas y prompts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CDE7777E-6F69-413F-AC92-D59E398A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62375"/>
            <a:ext cx="34290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E23C1C68-7CF2-4A2A-BE5B-C38B7DF8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Código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21AD6F4-A4F2-4945-8C85-76401212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4342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Scaffold ejecutable adaptado al stack</a:t>
            </a:r>
          </a:p>
        </p:txBody>
      </p:sp>
      <p:sp>
        <p:nvSpPr>
          <p:cNvPr id="18" name="panel">
            <a:extLst xmlns:a="http://schemas.openxmlformats.org/drawingml/2006/main">
              <a:ext uri="{FF2B5EF4-FFF2-40B4-BE49-F238E27FC236}">
                <a16:creationId xmlns:a16="http://schemas.microsoft.com/office/drawing/2014/main" id="{777D7BB9-173C-4463-B5C4-2880F75A8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762375"/>
            <a:ext cx="34290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63AE90F0-C0AB-4F37-97C2-0A36CE43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0005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Infra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081AA53D-0CE9-4C7C-B23C-F94AB9AD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54342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Docker, nginx, scripts y GitHub Actions</a:t>
            </a:r>
          </a:p>
        </p:txBody>
      </p:sp>
      <p:sp>
        <p:nvSpPr>
          <p:cNvPr id="21" name="panel">
            <a:extLst xmlns:a="http://schemas.openxmlformats.org/drawingml/2006/main">
              <a:ext uri="{FF2B5EF4-FFF2-40B4-BE49-F238E27FC236}">
                <a16:creationId xmlns:a16="http://schemas.microsoft.com/office/drawing/2014/main" id="{E49A2322-76BF-434F-AB6C-9F2C4B4B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62375"/>
            <a:ext cx="342900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FF65F611-F8D3-4BC6-9B3E-F5B1703B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005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Validación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A33A4FA2-1E3E-4B1B-848E-EFEF2A03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43425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Coherencia, secretos y descarga segura</a:t>
            </a:r>
          </a:p>
        </p:txBody>
      </p:sp>
    </p:spTree>
    <p:extLst>
      <p:ext uri="{BB962C8B-B14F-4D97-AF65-F5344CB8AC3E}">
        <p14:creationId xmlns:p14="http://schemas.microsoft.com/office/powerpoint/2010/main" val="875221063"/>
      </p:ext>
    </p:extLst>
  </p:cSld>
</p:sld>
</file>

<file path=ppt\slides\slide9.xml><?xml version="1.0" encoding="utf-8"?>
<p:sld xmlns:p="http://schemas.openxmlformats.org/presentationml/2006/main">
  <p:cSld>
    <p:bg>
      <p:bgPr>
        <a:solidFill xmlns:a="http://schemas.openxmlformats.org/drawingml/2006/main">
          <a:srgbClr val="2020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6A04A8E8-E66C-4D40-9BE8-A1BAB0F2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381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SEGURIDAD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4FC6955-E5EF-475F-927D-A5AEECD7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14375"/>
            <a:ext cx="1009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La confianza también forma parte del producto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7E329-1E51-4530-928A-2B267FF29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6432"/>
          </a:solidFill>
          <a:ln xmlns:a="http://schemas.openxmlformats.org/drawingml/2006/main" w="0">
            <a:solidFill>
              <a:srgbClr val="F06432"/>
            </a:solidFill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EEE79525-853B-438D-B748-AEBFF1D8A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Autenticación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FB414288-A898-4AFA-A13B-5AEABA39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0002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JWT + refresh token rotativo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50FE86-8F6C-439D-ABB8-A198BF1E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09750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solidFill>
              <a:srgbClr val="555555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7199C25-7B2D-4309-84B4-BBCA46A2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Autorización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EB539E1-9B27-40BA-87FE-28B221C3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002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Ownership, roles y admin aislado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692FBA-77D1-48AC-9E86-B4D39103E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0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solidFill>
              <a:srgbClr val="555555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9F7B7D3-308F-4F2F-9572-97C12B5E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Entrada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1F6D91E3-44F5-46BF-87DE-9DA654D6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23850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DTOs, CAPTCHA y rate limiting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B78884-8B31-4E8B-A3F8-A009401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48000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solidFill>
              <a:srgbClr val="555555"/>
            </a:solidFill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86D6FFFB-AA28-4D70-98F1-0CA47C11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3850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Entrega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ACC4BF89-69EB-4F9A-865B-C8CB6567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3850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Escaneo de secretos antes del ZIP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5623C2-A797-43E6-949E-7B0BD919B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86250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solidFill>
              <a:srgbClr val="555555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F77239DC-7240-4540-B410-6FE1A4CA3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767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Repositorio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23359704-C061-465A-A608-D986F7494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4767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CI, Dependabot y revisión de dependencias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ED116F-E23D-4B93-B441-9FAB54AD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86250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5555"/>
          </a:solidFill>
          <a:ln xmlns:a="http://schemas.openxmlformats.org/drawingml/2006/main" w="0">
            <a:solidFill>
              <a:srgbClr val="555555"/>
            </a:solidFill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C4BDE2FC-5AEC-4EFD-92C8-EE4747B9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767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Configuración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2EDA53C2-181F-40E0-A1AA-619DB163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76750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5D5D5"/>
                </a:solidFill>
              </a:defRPr>
            </a:pPr>
            <a:r>
              <a:rPr sz="1350" b="0">
                <a:solidFill>
                  <a:srgbClr val="D5D5D5"/>
                </a:solidFill>
              </a:rPr>
              <a:t>Claves fuera del código y modelos validados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2F15E0-8AFE-465C-B31D-0D3FA1B1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4B3709BD-4D02-4880-B962-2E14DB10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SEGURIDAD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C944406F-D6D5-4836-BBED-594D23FD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84603662"/>
      </p:ext>
    </p:extLst>
  </p:cSld>
</p:sld>
</file>

<file path=ppt\slides\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33435C28-7518-4311-811B-5F8F9737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CALIDAD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0659952-0899-4706-88C9-6D95C7069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Evidencias de una base funcional y verificable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9A98BB-1BC4-4E56-A107-7DA17D597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329289DA-EF59-4B65-8A95-063746E5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0261EBF-D728-4BBE-ADE1-C5E95964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10</a:t>
            </a:r>
          </a:p>
        </p:txBody>
      </p:sp>
      <p:sp>
        <p:nvSpPr>
          <p:cNvPr id="6" name="panel">
            <a:extLst xmlns:a="http://schemas.openxmlformats.org/drawingml/2006/main">
              <a:ext uri="{FF2B5EF4-FFF2-40B4-BE49-F238E27FC236}">
                <a16:creationId xmlns:a16="http://schemas.microsoft.com/office/drawing/2014/main" id="{185CEBB0-64F2-4BD1-BB4E-4C8538C0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25717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AFCB3CC-ECCD-41C4-A4F4-878DE86B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21431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06432"/>
                </a:solidFill>
              </a:defRPr>
            </a:pPr>
            <a:r>
              <a:rPr sz="4350" b="1">
                <a:solidFill>
                  <a:srgbClr val="F06432"/>
                </a:solidFill>
              </a:rPr>
              <a:t>195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68F4C30-4B65-46F2-B711-F328A1773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pruebas aprobadas</a:t>
            </a:r>
          </a:p>
        </p:txBody>
      </p:sp>
      <p:sp>
        <p:nvSpPr>
          <p:cNvPr id="9" name="panel">
            <a:extLst xmlns:a="http://schemas.openxmlformats.org/drawingml/2006/main">
              <a:ext uri="{FF2B5EF4-FFF2-40B4-BE49-F238E27FC236}">
                <a16:creationId xmlns:a16="http://schemas.microsoft.com/office/drawing/2014/main" id="{52E7353D-6F8F-47A4-9C48-950C83A7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1809750"/>
            <a:ext cx="25717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C1D0251-7EB3-4B99-BA9F-7C1DF029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095500"/>
            <a:ext cx="21431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19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D7FE42D-F0F1-47C4-B8CF-5B8521EED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190875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55555"/>
                </a:solidFill>
              </a:defRPr>
            </a:pPr>
            <a:r>
              <a:rPr sz="1425" b="1">
                <a:solidFill>
                  <a:srgbClr val="555555"/>
                </a:solidFill>
              </a:rPr>
              <a:t>scaffolds por stack</a:t>
            </a:r>
          </a:p>
        </p:txBody>
      </p:sp>
      <p:sp>
        <p:nvSpPr>
          <p:cNvPr id="12" name="panel">
            <a:extLst xmlns:a="http://schemas.openxmlformats.org/drawingml/2006/main">
              <a:ext uri="{FF2B5EF4-FFF2-40B4-BE49-F238E27FC236}">
                <a16:creationId xmlns:a16="http://schemas.microsoft.com/office/drawing/2014/main" id="{AD9497E8-DA81-4E94-9366-32F2EE7D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5717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E7F06F2-79FF-4979-9721-746F1D72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95500"/>
            <a:ext cx="21431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4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7068052F-8389-4D10-B29F-E24510006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90875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55555"/>
                </a:solidFill>
              </a:defRPr>
            </a:pPr>
            <a:r>
              <a:rPr sz="1425" b="1">
                <a:solidFill>
                  <a:srgbClr val="555555"/>
                </a:solidFill>
              </a:rPr>
              <a:t>proveedores LLM</a:t>
            </a:r>
          </a:p>
        </p:txBody>
      </p:sp>
      <p:sp>
        <p:nvSpPr>
          <p:cNvPr id="15" name="panel">
            <a:extLst xmlns:a="http://schemas.openxmlformats.org/drawingml/2006/main">
              <a:ext uri="{FF2B5EF4-FFF2-40B4-BE49-F238E27FC236}">
                <a16:creationId xmlns:a16="http://schemas.microsoft.com/office/drawing/2014/main" id="{C800B98F-35E3-4313-9AF7-50AE7E97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1809750"/>
            <a:ext cx="25717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E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92ED8A45-B367-43B8-BDFE-97C6514E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095500"/>
            <a:ext cx="2143125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111"/>
                </a:solidFill>
              </a:defRPr>
            </a:pPr>
            <a:r>
              <a:rPr sz="4350" b="1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E2DFF065-74B6-48C5-9BE4-3A0D2A83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190875"/>
            <a:ext cx="2143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55555"/>
                </a:solidFill>
              </a:defRPr>
            </a:pPr>
            <a:r>
              <a:rPr sz="1425" b="1">
                <a:solidFill>
                  <a:srgbClr val="555555"/>
                </a:solidFill>
              </a:rPr>
              <a:t>aplicaciones principales</a:t>
            </a:r>
          </a:p>
        </p:txBody>
      </p:sp>
      <p:sp>
        <p:nvSpPr>
          <p:cNvPr id="18" name="panel">
            <a:extLst xmlns:a="http://schemas.openxmlformats.org/drawingml/2006/main">
              <a:ext uri="{FF2B5EF4-FFF2-40B4-BE49-F238E27FC236}">
                <a16:creationId xmlns:a16="http://schemas.microsoft.com/office/drawing/2014/main" id="{29068908-F14F-4C0C-819D-347D4E3E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24375"/>
            <a:ext cx="113919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E463CDAF-8A8A-4469-873F-136DA46AC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57750"/>
            <a:ext cx="171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8864B"/>
                </a:solidFill>
              </a:defRPr>
            </a:pPr>
            <a:r>
              <a:rPr sz="1800" b="1">
                <a:solidFill>
                  <a:srgbClr val="18864B"/>
                </a:solidFill>
              </a:rPr>
              <a:t>CI VERDE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4EB96B7D-462A-44B7-A35A-A3BFD7ED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10125"/>
            <a:ext cx="657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</a:defRPr>
            </a:pPr>
            <a:r>
              <a:rPr sz="1950" b="1">
                <a:solidFill>
                  <a:srgbClr val="111111"/>
                </a:solidFill>
              </a:rPr>
              <a:t>Lint · OpenSpec · tipos · tests · build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7E4DC2DB-271E-493B-A0F6-603E37D5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86375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Validado en Linux mediante GitHub Actions y comprobado localmente en Windows.</a:t>
            </a:r>
          </a:p>
        </p:txBody>
      </p:sp>
    </p:spTree>
    <p:extLst>
      <p:ext uri="{BB962C8B-B14F-4D97-AF65-F5344CB8AC3E}">
        <p14:creationId xmlns:p14="http://schemas.microsoft.com/office/powerpoint/2010/main" val="477527657"/>
      </p:ext>
    </p:extLst>
  </p:cSld>
</p:sld>
</file>

<file path=ppt\slides\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7078AA95-58D0-4347-9DF3-A8A8AB23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4476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GUION DE DEFENSA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5E530A36-B60E-447F-9CD6-778F4343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8175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</a:defRPr>
            </a:pPr>
            <a:r>
              <a:rPr sz="3150" b="1">
                <a:solidFill>
                  <a:srgbClr val="111111"/>
                </a:solidFill>
              </a:rPr>
              <a:t>Demostración: de una idea a una entrega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168262-6492-459C-97D4-35B16A127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67C059F8-EAE9-4818-9E23-48616FE3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57950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55555"/>
                </a:solidFill>
              </a:defRPr>
            </a:pPr>
            <a:r>
              <a:rPr sz="900" b="1">
                <a:solidFill>
                  <a:srgbClr val="555555"/>
                </a:solidFill>
              </a:rPr>
              <a:t>PROGRESIA STUDIO · TFM 2026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E7453A7F-C752-4748-914A-0C112D494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438900"/>
            <a:ext cx="600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55555"/>
                </a:solidFill>
              </a:defRPr>
            </a:pPr>
            <a:r>
              <a:rPr sz="975" b="1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F4069A9-FD1D-41FC-9A82-29E25BD5B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01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D343EA21-91FD-44CD-AD9B-90BB8F91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716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Crear proyecto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6914227E-90CF-4923-AD45-0A88DA26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59067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Definir producto, usuarios y objetivo.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249C14-9C4A-4175-AC4E-277E5E16B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669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D5797A20-B9C7-4256-8A68-A80BE291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145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02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FBD4F647-5EAF-48B7-853C-7158882E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145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Elegir propuesta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F86E60A4-2125-4BE5-9F63-0891D414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3362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Comparar stacks y dificultad.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305835-6954-43E9-8C27-1EA0E3A5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0987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4F655F2-2541-48F1-9EA4-7D88763F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5752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03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32637745-090B-4426-8BF1-D5150F60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0575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Generar OpenSpec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C5BA00A2-B01D-4B2F-8D9B-E0F1AFCDC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7657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Revisar requisitos, datos y API.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CDFB6F-9CB4-457A-BA91-A96191FDE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528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AF7F6FA6-D11C-4CFA-B572-EDBC700F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004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04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1A679DA6-3E8E-4299-8131-F6116ADE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004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Ejecutar pipeline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1306E038-C283-446D-87D6-FD88EBB0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1952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Issues, tutorial y código.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C85822-12CD-4166-B921-CB3DC8CA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9577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211CB782-34C2-4156-9AD8-6E3E8FCE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4342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05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6DD4A259-C62D-476A-98BE-09A94F16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434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Validar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9F5AE4AB-01F0-4E34-B4A9-B6EEC67D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56247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Comprobar coherencia y secretos.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E9C5D3-18DB-4194-8FE8-1EA3E009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38725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85EE672D-F173-432A-A491-5521E578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86375"/>
            <a:ext cx="5238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06432"/>
                </a:solidFill>
              </a:defRPr>
            </a:pPr>
            <a:r>
              <a:rPr sz="1500" b="1">
                <a:solidFill>
                  <a:srgbClr val="F06432"/>
                </a:solidFill>
              </a:rPr>
              <a:t>06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E8757BC1-222B-4381-969A-939E0E01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863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</a:defRPr>
            </a:pPr>
            <a:r>
              <a:rPr sz="1725" b="1">
                <a:solidFill>
                  <a:srgbClr val="111111"/>
                </a:solidFill>
              </a:rPr>
              <a:t>Descargar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AA39DE6F-9007-400A-9BF0-A135263F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05425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55555"/>
                </a:solidFill>
              </a:defRPr>
            </a:pPr>
            <a:r>
              <a:rPr sz="1425" b="0">
                <a:solidFill>
                  <a:srgbClr val="555555"/>
                </a:solidFill>
              </a:rPr>
              <a:t>PDF, Markdown y ZIP final.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77EC6A8F-2F35-4E7D-AFB1-EC1D769EF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53125"/>
            <a:ext cx="904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Objetivo de la demo: demostrar coherencia del proceso, no solo cantidad de archivos.</a:t>
            </a:r>
          </a:p>
        </p:txBody>
      </p:sp>
    </p:spTree>
    <p:extLst>
      <p:ext uri="{BB962C8B-B14F-4D97-AF65-F5344CB8AC3E}">
        <p14:creationId xmlns:p14="http://schemas.microsoft.com/office/powerpoint/2010/main" val="404213552"/>
      </p:ext>
    </p:extLst>
  </p:cSld>
</p:sld>
</file>

<file path=ppt\slides\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278E832B-C168-4EA2-A41B-D38851D7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333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CONCLUSIÓN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EDDA4197-82FF-4633-8455-672F98C1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43000"/>
            <a:ext cx="7810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La IA aporta más valor</a:t>
            </a:r>
          </a:p>
          <a:p xmlns:a="http://schemas.openxmlformats.org/drawingml/2006/main">
            <a:pPr algn="l"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cuando trabaja con contexto.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8380E85A-C2AD-4C33-9957-2A94AA73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0"/>
            <a:ext cx="7239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55555"/>
                </a:solidFill>
              </a:defRPr>
            </a:pPr>
            <a:r>
              <a:rPr sz="2100" b="0">
                <a:solidFill>
                  <a:srgbClr val="555555"/>
                </a:solidFill>
              </a:rPr>
              <a:t>ProgresIA Studio convierte ese contexto en un proceso repetible, educativo y verificable.</a:t>
            </a:r>
          </a:p>
        </p:txBody>
      </p:sp>
      <p:sp>
        <p:nvSpPr>
          <p:cNvPr id="4" name="panel">
            <a:extLst xmlns:a="http://schemas.openxmlformats.org/drawingml/2006/main">
              <a:ext uri="{FF2B5EF4-FFF2-40B4-BE49-F238E27FC236}">
                <a16:creationId xmlns:a16="http://schemas.microsoft.com/office/drawing/2014/main" id="{4D7FB23D-C10D-493A-A35E-41E7ECAC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0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DF2A5E83-930B-4904-AAD2-52FB5274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809625"/>
            <a:ext cx="266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06432"/>
                </a:solidFill>
              </a:defRPr>
            </a:pPr>
            <a:r>
              <a:rPr sz="1050" b="1">
                <a:solidFill>
                  <a:srgbClr val="F06432"/>
                </a:solidFill>
              </a:rPr>
              <a:t>APRENDIZAJE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A1D3BC2-48B9-444A-8D03-E01BD4C3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138112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Arquitectura</a:t>
            </a:r>
          </a:p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multi-servicio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1514990-26C0-4CAE-A069-908BD7121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61937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Agentes y</a:t>
            </a:r>
          </a:p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LLM routing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EE8620D-CAF1-4D41-8962-227372BF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857625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Seguridad y</a:t>
            </a:r>
          </a:p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calidad continua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9346E867-39AB-4041-B870-7547C111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3810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06432"/>
                </a:solidFill>
              </a:defRPr>
            </a:pPr>
            <a:r>
              <a:rPr sz="2925" b="1">
                <a:solidFill>
                  <a:srgbClr val="F06432"/>
                </a:solidFill>
              </a:rPr>
              <a:t>¿Preguntas?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8778F33-0BCC-4511-A297-0EF002EB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0"/>
            <a:ext cx="495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55555"/>
                </a:solidFill>
              </a:defRPr>
            </a:pPr>
            <a:r>
              <a:rPr sz="1200" b="0">
                <a:solidFill>
                  <a:srgbClr val="555555"/>
                </a:solidFill>
              </a:rPr>
              <a:t>github.com/seurob/progresia</a:t>
            </a:r>
          </a:p>
        </p:txBody>
      </p:sp>
    </p:spTree>
    <p:extLst>
      <p:ext uri="{BB962C8B-B14F-4D97-AF65-F5344CB8AC3E}">
        <p14:creationId xmlns:p14="http://schemas.microsoft.com/office/powerpoint/2010/main" val="1064794741"/>
      </p:ext>
    </p:extLst>
  </p:cSld>
</p:sld>
</file>

<file path=ppt\tableStyles.xml><?xml version="1.0" encoding="utf-8"?>
<a:tblStyleLst xmlns:a="http://schemas.openxmlformats.org/drawingml/2006/main" def="{5C22544A-7EE6-4342-B048-85BDC9FD1C3A}"/>
</file>

<file path=ppt\theme\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