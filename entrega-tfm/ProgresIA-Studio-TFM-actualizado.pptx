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743f6b47af4db5" /><Relationship Type="http://schemas.openxmlformats.org/officeDocument/2006/relationships/extended-properties" Target="/docProps/app.xml" Id="R0424a9f5e8754067" /><Relationship Type="http://schemas.openxmlformats.org/officeDocument/2006/relationships/officeDocument" Target="/ppt/presentation.xml" Id="R6a5de929a62943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0468e0b4994d01"/>
  </p:sldMasterIdLst>
  <p:notesMasterIdLst>
    <p:notesMasterId xmlns:r="http://schemas.openxmlformats.org/officeDocument/2006/relationships" r:id="R17bfd007513847b5"/>
  </p:notesMasterIdLst>
  <p:sldIdLst>
    <p:sldId xmlns:r="http://schemas.openxmlformats.org/officeDocument/2006/relationships" id="256" r:id="Ra17af36370fd4b75"/>
    <p:sldId xmlns:r="http://schemas.openxmlformats.org/officeDocument/2006/relationships" id="257" r:id="Rb7fe4f3c94c94776"/>
    <p:sldId xmlns:r="http://schemas.openxmlformats.org/officeDocument/2006/relationships" id="258" r:id="R64f52b6085104efd"/>
    <p:sldId xmlns:r="http://schemas.openxmlformats.org/officeDocument/2006/relationships" id="259" r:id="Rdc23c63a1cb146fb"/>
    <p:sldId xmlns:r="http://schemas.openxmlformats.org/officeDocument/2006/relationships" id="260" r:id="R9f6f81d574fe4818"/>
    <p:sldId xmlns:r="http://schemas.openxmlformats.org/officeDocument/2006/relationships" id="261" r:id="R0c00b7bfaeaf4cd6"/>
    <p:sldId xmlns:r="http://schemas.openxmlformats.org/officeDocument/2006/relationships" id="262" r:id="R85137100e0e34479"/>
    <p:sldId xmlns:r="http://schemas.openxmlformats.org/officeDocument/2006/relationships" id="263" r:id="R3faa488b112244b3"/>
    <p:sldId xmlns:r="http://schemas.openxmlformats.org/officeDocument/2006/relationships" id="264" r:id="R1d9b138d0c784984"/>
    <p:sldId xmlns:r="http://schemas.openxmlformats.org/officeDocument/2006/relationships" id="265" r:id="Rc37be84712b9451a"/>
    <p:sldId xmlns:r="http://schemas.openxmlformats.org/officeDocument/2006/relationships" id="266" r:id="R7a696271b8ea4c60"/>
    <p:sldId xmlns:r="http://schemas.openxmlformats.org/officeDocument/2006/relationships" id="267" r:id="R4678ba33473f45b4"/>
    <p:sldId xmlns:r="http://schemas.openxmlformats.org/officeDocument/2006/relationships" id="268" r:id="R81a2bf9aafc2413a"/>
    <p:sldId xmlns:r="http://schemas.openxmlformats.org/officeDocument/2006/relationships" id="269" r:id="R498fb4dff22a4ba5"/>
    <p:sldId xmlns:r="http://schemas.openxmlformats.org/officeDocument/2006/relationships" id="270" r:id="R2b4c70cf86ed417d"/>
    <p:sldId xmlns:r="http://schemas.openxmlformats.org/officeDocument/2006/relationships" id="271" r:id="R36c2c44ead83471e"/>
    <p:sldId xmlns:r="http://schemas.openxmlformats.org/officeDocument/2006/relationships" id="272" r:id="Rf03f98c7b811435e"/>
    <p:sldId xmlns:r="http://schemas.openxmlformats.org/officeDocument/2006/relationships" id="273" r:id="Rc2fa10266c3a40b7"/>
    <p:sldId xmlns:r="http://schemas.openxmlformats.org/officeDocument/2006/relationships" id="274" r:id="Rf849ed99a6cc443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7f071fcd12488b" /><Relationship Type="http://schemas.openxmlformats.org/officeDocument/2006/relationships/slideMaster" Target="/ppt/slideMasters/slideMaster1.xml" Id="R970468e0b4994d01" /><Relationship Type="http://schemas.openxmlformats.org/officeDocument/2006/relationships/notesMaster" Target="/ppt/notesMasters/notesMaster1.xml" Id="R17bfd007513847b5" /><Relationship Type="http://schemas.openxmlformats.org/officeDocument/2006/relationships/presProps" Target="/ppt/presProps.xml" Id="Rd71f7d2da7fb45db" /><Relationship Type="http://schemas.openxmlformats.org/officeDocument/2006/relationships/tableStyles" Target="/ppt/tableStyles.xml" Id="Ra2d7238372e741e4" /><Relationship Type="http://schemas.openxmlformats.org/officeDocument/2006/relationships/slide" Target="/ppt/slides/slide1.xml" Id="Ra17af36370fd4b75" /><Relationship Type="http://schemas.openxmlformats.org/officeDocument/2006/relationships/slide" Target="/ppt/slides/slide2.xml" Id="Rb7fe4f3c94c94776" /><Relationship Type="http://schemas.openxmlformats.org/officeDocument/2006/relationships/slide" Target="/ppt/slides/slide3.xml" Id="R64f52b6085104efd" /><Relationship Type="http://schemas.openxmlformats.org/officeDocument/2006/relationships/slide" Target="/ppt/slides/slide4.xml" Id="Rdc23c63a1cb146fb" /><Relationship Type="http://schemas.openxmlformats.org/officeDocument/2006/relationships/slide" Target="/ppt/slides/slide5.xml" Id="R9f6f81d574fe4818" /><Relationship Type="http://schemas.openxmlformats.org/officeDocument/2006/relationships/slide" Target="/ppt/slides/slide6.xml" Id="R0c00b7bfaeaf4cd6" /><Relationship Type="http://schemas.openxmlformats.org/officeDocument/2006/relationships/slide" Target="/ppt/slides/slide7.xml" Id="R85137100e0e34479" /><Relationship Type="http://schemas.openxmlformats.org/officeDocument/2006/relationships/slide" Target="/ppt/slides/slide8.xml" Id="R3faa488b112244b3" /><Relationship Type="http://schemas.openxmlformats.org/officeDocument/2006/relationships/slide" Target="/ppt/slides/slide9.xml" Id="R1d9b138d0c784984" /><Relationship Type="http://schemas.openxmlformats.org/officeDocument/2006/relationships/slide" Target="/ppt/slides/slide10.xml" Id="Rc37be84712b9451a" /><Relationship Type="http://schemas.openxmlformats.org/officeDocument/2006/relationships/slide" Target="/ppt/slides/slide11.xml" Id="R7a696271b8ea4c60" /><Relationship Type="http://schemas.openxmlformats.org/officeDocument/2006/relationships/slide" Target="/ppt/slides/slide12.xml" Id="R4678ba33473f45b4" /><Relationship Type="http://schemas.openxmlformats.org/officeDocument/2006/relationships/slide" Target="/ppt/slides/slide13.xml" Id="R81a2bf9aafc2413a" /><Relationship Type="http://schemas.openxmlformats.org/officeDocument/2006/relationships/slide" Target="/ppt/slides/slide14.xml" Id="R498fb4dff22a4ba5" /><Relationship Type="http://schemas.openxmlformats.org/officeDocument/2006/relationships/slide" Target="/ppt/slides/slide15.xml" Id="R2b4c70cf86ed417d" /><Relationship Type="http://schemas.openxmlformats.org/officeDocument/2006/relationships/slide" Target="/ppt/slides/slide16.xml" Id="R36c2c44ead83471e" /><Relationship Type="http://schemas.openxmlformats.org/officeDocument/2006/relationships/slide" Target="/ppt/slides/slide17.xml" Id="Rf03f98c7b811435e" /><Relationship Type="http://schemas.openxmlformats.org/officeDocument/2006/relationships/slide" Target="/ppt/slides/slide18.xml" Id="Rc2fa10266c3a40b7" /><Relationship Type="http://schemas.openxmlformats.org/officeDocument/2006/relationships/slide" Target="/ppt/slides/slide19.xml" Id="Rf849ed99a6cc44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a4712d64de45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bccd9b3a274a0e" /><Relationship Type="http://schemas.openxmlformats.org/officeDocument/2006/relationships/notesMaster" Target="/ppt/notesMasters/notesMaster1.xml" Id="Rbb76520c25c04f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c0346272954afe" /><Relationship Type="http://schemas.openxmlformats.org/officeDocument/2006/relationships/notesMaster" Target="/ppt/notesMasters/notesMaster1.xml" Id="Rc20891cd2a4c4c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ad6b9f6453a4d44" /><Relationship Type="http://schemas.openxmlformats.org/officeDocument/2006/relationships/notesMaster" Target="/ppt/notesMasters/notesMaster1.xml" Id="R85362b64c9f448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3bd83463f934cb7" /><Relationship Type="http://schemas.openxmlformats.org/officeDocument/2006/relationships/notesMaster" Target="/ppt/notesMasters/notesMaster1.xml" Id="Rc50774ae9fa246b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ee0105a8ce4618" /><Relationship Type="http://schemas.openxmlformats.org/officeDocument/2006/relationships/notesMaster" Target="/ppt/notesMasters/notesMaster1.xml" Id="Ra2ed6a62d69d4d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1580914d254d6a" /><Relationship Type="http://schemas.openxmlformats.org/officeDocument/2006/relationships/notesMaster" Target="/ppt/notesMasters/notesMaster1.xml" Id="Ree2aedc407434b0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fb6c206435a4114" /><Relationship Type="http://schemas.openxmlformats.org/officeDocument/2006/relationships/notesMaster" Target="/ppt/notesMasters/notesMaster1.xml" Id="R27c493898e5040f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2d00dc0f1674ba0" /><Relationship Type="http://schemas.openxmlformats.org/officeDocument/2006/relationships/notesMaster" Target="/ppt/notesMasters/notesMaster1.xml" Id="R18ca1e7e4d8d473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ac62e5d69fd42b3" /><Relationship Type="http://schemas.openxmlformats.org/officeDocument/2006/relationships/notesMaster" Target="/ppt/notesMasters/notesMaster1.xml" Id="Rcbbef6171564440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f563749c20e4631" /><Relationship Type="http://schemas.openxmlformats.org/officeDocument/2006/relationships/notesMaster" Target="/ppt/notesMasters/notesMaster1.xml" Id="R18348df0cf54400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2547c150651468a" /><Relationship Type="http://schemas.openxmlformats.org/officeDocument/2006/relationships/notesMaster" Target="/ppt/notesMasters/notesMaster1.xml" Id="R9af308eecd424cd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515d3fe8f7e4113" /><Relationship Type="http://schemas.openxmlformats.org/officeDocument/2006/relationships/notesMaster" Target="/ppt/notesMasters/notesMaster1.xml" Id="Rcaf64f713039445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e4112ed71b54ed6" /><Relationship Type="http://schemas.openxmlformats.org/officeDocument/2006/relationships/notesMaster" Target="/ppt/notesMasters/notesMaster1.xml" Id="R03407b85a9994bc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19d30752493485c" /><Relationship Type="http://schemas.openxmlformats.org/officeDocument/2006/relationships/notesMaster" Target="/ppt/notesMasters/notesMaster1.xml" Id="Rbb1e2d3e53cf424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47ecd72af2a46c5" /><Relationship Type="http://schemas.openxmlformats.org/officeDocument/2006/relationships/notesMaster" Target="/ppt/notesMasters/notesMaster1.xml" Id="R27e6135750074db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558fff36ee648f0" /><Relationship Type="http://schemas.openxmlformats.org/officeDocument/2006/relationships/notesMaster" Target="/ppt/notesMasters/notesMaster1.xml" Id="Rc5038b24317b4d2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883a2d0ae844a38" /><Relationship Type="http://schemas.openxmlformats.org/officeDocument/2006/relationships/notesMaster" Target="/ppt/notesMasters/notesMaster1.xml" Id="R3a1577409e5f47c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05d281b1cfd49e5" /><Relationship Type="http://schemas.openxmlformats.org/officeDocument/2006/relationships/notesMaster" Target="/ppt/notesMasters/notesMaster1.xml" Id="R90d91b07189541a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b44724f10874f5b" /><Relationship Type="http://schemas.openxmlformats.org/officeDocument/2006/relationships/notesMaster" Target="/ppt/notesMasters/notesMaster1.xml" Id="Rfa23e8487d1d41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b1d341cc2c45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f25ca9dc8a4e76" /><Relationship Type="http://schemas.openxmlformats.org/officeDocument/2006/relationships/slideLayout" Target="/ppt/slideLayouts/slideLayout1.xml" Id="R9c6b09c96ac143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6b09c96ac143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0ccac63e0d45ad" /><Relationship Type="http://schemas.openxmlformats.org/officeDocument/2006/relationships/notesSlide" Target="/ppt/notesSlides/notesSlide1.xml" Id="R1341cfeefd5243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e8d3ace4744396" /><Relationship Type="http://schemas.openxmlformats.org/officeDocument/2006/relationships/notesSlide" Target="/ppt/notesSlides/notesSlide2.xml" Id="R8a255839b7db4d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293ed10f0c4086" /><Relationship Type="http://schemas.openxmlformats.org/officeDocument/2006/relationships/notesSlide" Target="/ppt/notesSlides/notesSlide3.xml" Id="R680ab14edc2943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57cf099d734be4" /><Relationship Type="http://schemas.openxmlformats.org/officeDocument/2006/relationships/notesSlide" Target="/ppt/notesSlides/notesSlide4.xml" Id="R52387e3959344bc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fad2bc5f90447d" /><Relationship Type="http://schemas.openxmlformats.org/officeDocument/2006/relationships/notesSlide" Target="/ppt/notesSlides/notesSlide5.xml" Id="Rb9cb9d0cf15143a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9a6abf815640fc" /><Relationship Type="http://schemas.openxmlformats.org/officeDocument/2006/relationships/notesSlide" Target="/ppt/notesSlides/notesSlide6.xml" Id="R64a6ec9b17bb424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1e1baf909d442b" /><Relationship Type="http://schemas.openxmlformats.org/officeDocument/2006/relationships/notesSlide" Target="/ppt/notesSlides/notesSlide7.xml" Id="Refd7dbcfe0a2481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c051d746b54e9f" /><Relationship Type="http://schemas.openxmlformats.org/officeDocument/2006/relationships/notesSlide" Target="/ppt/notesSlides/notesSlide8.xml" Id="Rad26b4c89b314c1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b8e67575784d66" /><Relationship Type="http://schemas.openxmlformats.org/officeDocument/2006/relationships/notesSlide" Target="/ppt/notesSlides/notesSlide9.xml" Id="Re47dc0faee4a4bd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578dd776ad49bf" /><Relationship Type="http://schemas.openxmlformats.org/officeDocument/2006/relationships/image" Target="/ppt/media/image.jpeg" Id="R41d4c7b23f0b473e" /><Relationship Type="http://schemas.openxmlformats.org/officeDocument/2006/relationships/notesSlide" Target="/ppt/notesSlides/notesSlide10.xml" Id="R48f88c0c79114e5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a6642c0f18451b" /><Relationship Type="http://schemas.openxmlformats.org/officeDocument/2006/relationships/notesSlide" Target="/ppt/notesSlides/notesSlide11.xml" Id="Ra572c20982374ba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eb6b0b44474037" /><Relationship Type="http://schemas.openxmlformats.org/officeDocument/2006/relationships/notesSlide" Target="/ppt/notesSlides/notesSlide12.xml" Id="R0dad88bfab6c48d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70ddb0857a4ca7" /><Relationship Type="http://schemas.openxmlformats.org/officeDocument/2006/relationships/notesSlide" Target="/ppt/notesSlides/notesSlide13.xml" Id="R327fb8d04e0c46b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60c3ec7d9e40d8" /><Relationship Type="http://schemas.openxmlformats.org/officeDocument/2006/relationships/notesSlide" Target="/ppt/notesSlides/notesSlide14.xml" Id="R2ea41992136649d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d39626b686471c" /><Relationship Type="http://schemas.openxmlformats.org/officeDocument/2006/relationships/notesSlide" Target="/ppt/notesSlides/notesSlide15.xml" Id="Rbc432c29a83a408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da0931efbf43f6" /><Relationship Type="http://schemas.openxmlformats.org/officeDocument/2006/relationships/notesSlide" Target="/ppt/notesSlides/notesSlide16.xml" Id="R29566a3a467a48b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b68c5297244e33" /><Relationship Type="http://schemas.openxmlformats.org/officeDocument/2006/relationships/notesSlide" Target="/ppt/notesSlides/notesSlide17.xml" Id="R4f9eafe50972475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a64ab85c6040c4" /><Relationship Type="http://schemas.openxmlformats.org/officeDocument/2006/relationships/notesSlide" Target="/ppt/notesSlides/notesSlide18.xml" Id="Ra838a2fa67c14fa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24cc689a5b4faf" /><Relationship Type="http://schemas.openxmlformats.org/officeDocument/2006/relationships/notesSlide" Target="/ppt/notesSlides/notesSlide19.xml" Id="Rba7f44aeba014a3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cover-band">
            <a:extLst xmlns:a="http://schemas.openxmlformats.org/drawingml/2006/main">
              <a:ext uri="{FF2B5EF4-FFF2-40B4-BE49-F238E27FC236}">
                <a16:creationId xmlns:a16="http://schemas.microsoft.com/office/drawing/2014/main" id="{FDB7A3EF-49BE-4922-87DB-A846B7E38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0"/>
            <a:ext cx="3952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FC6DD9D-6215-4CCD-A156-EE72DAA3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06432"/>
                </a:solidFill>
              </a:defRPr>
            </a:pPr>
            <a:r>
              <a:rPr sz="1200" b="1">
                <a:solidFill>
                  <a:srgbClr val="F06432"/>
                </a:solidFill>
              </a:rPr>
              <a:t>PROYECTO FINAL DE MÁSTER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2CC0C4E-98BE-43B8-8A66-EC9311C57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6858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550" b="1">
                <a:solidFill>
                  <a:srgbClr val="111111"/>
                </a:solidFill>
              </a:defRPr>
            </a:pPr>
            <a:r>
              <a:rPr sz="5550" b="1">
                <a:solidFill>
                  <a:srgbClr val="111111"/>
                </a:solidFill>
              </a:rPr>
              <a:t>ProgresIA</a:t>
            </a:r>
          </a:p>
          <a:p xmlns:a="http://schemas.openxmlformats.org/drawingml/2006/main">
            <a:pPr algn="l">
              <a:buNone/>
              <a:defRPr sz="5550" b="1">
                <a:solidFill>
                  <a:srgbClr val="111111"/>
                </a:solidFill>
              </a:defRPr>
            </a:pPr>
            <a:r>
              <a:rPr sz="5550" b="1">
                <a:solidFill>
                  <a:srgbClr val="111111"/>
                </a:solidFill>
              </a:rPr>
              <a:t>Studio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238C48D-4542-4DE5-8B11-2950A543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657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55555"/>
                </a:solidFill>
              </a:defRPr>
            </a:pPr>
            <a:r>
              <a:rPr sz="2025" b="0">
                <a:solidFill>
                  <a:srgbClr val="555555"/>
                </a:solidFill>
              </a:rPr>
              <a:t>De una idea a un MVP mediante desarrollo guiado por especificaciones e inteligencia artificial.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C595459-D1CA-49DF-84A0-849D4781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Roberto Manca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8AEAF34-E011-4AB1-815D-685B6B64A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483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Máster en Desarrollo de Software con IA · 2026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DCEB020-CC84-424E-ACC0-005EF37E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95250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IDEA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F701D8B-4FA8-4CAA-AE67-7B856960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0"/>
            <a:ext cx="95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06432"/>
                </a:solidFill>
              </a:defRPr>
            </a:pPr>
            <a:r>
              <a:rPr sz="2550" b="1">
                <a:solidFill>
                  <a:srgbClr val="F06432"/>
                </a:solidFill>
              </a:rPr>
              <a:t>→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3659ACB-44EF-4459-9B15-1EB8FB2E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33625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ESPECIFICACIÓN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63768EB-16FB-49FC-8477-B933605E9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00375"/>
            <a:ext cx="95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06432"/>
                </a:solidFill>
              </a:defRPr>
            </a:pPr>
            <a:r>
              <a:rPr sz="2550" b="1">
                <a:solidFill>
                  <a:srgbClr val="F06432"/>
                </a:solidFill>
              </a:rPr>
              <a:t>→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6ADEEB8-F0F9-4858-A47B-08A1D39F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147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MVP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49C1AEC-7DAA-4969-8879-BC883E47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62500"/>
            <a:ext cx="2714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D5D5D5"/>
                </a:solidFill>
              </a:defRPr>
            </a:pPr>
            <a:r>
              <a:rPr sz="1425" b="0">
                <a:solidFill>
                  <a:srgbClr val="D5D5D5"/>
                </a:solidFill>
              </a:rPr>
              <a:t>Código · documentación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D5D5D5"/>
                </a:solidFill>
              </a:defRPr>
            </a:pPr>
            <a:r>
              <a:rPr sz="1425" b="0">
                <a:solidFill>
                  <a:srgbClr val="D5D5D5"/>
                </a:solidFill>
              </a:rPr>
              <a:t>issues · tutorial · ZIP</a:t>
            </a:r>
          </a:p>
        </p:txBody>
      </p:sp>
    </p:spTree>
    <p:extLst>
      <p:ext uri="{BB962C8B-B14F-4D97-AF65-F5344CB8AC3E}">
        <p14:creationId xmlns:p14="http://schemas.microsoft.com/office/powerpoint/2010/main" val="7498405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50903093-015B-47BE-B13F-C1FBDC77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06432"/>
                </a:solidFill>
              </a:defRPr>
            </a:pPr>
            <a:r>
              <a:rPr sz="1050" b="1">
                <a:solidFill>
                  <a:srgbClr val="F06432"/>
                </a:solidFill>
              </a:rPr>
              <a:t>MOTIVACIÓN EDUCATIVA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54814109-A734-40F3-8103-1768393D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Aprender software hoy exige algo más que aprender sintaxis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346B96D6-1AD4-4AE7-9AC1-06C98627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81B90C5-EE47-4938-B621-AE1AE028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PROGRESIA STUDIO · TFM 2026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63B694A-20CC-4D90-9FF3-0BDBD2554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600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02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94AA22D-D658-40D7-804E-923BDBCC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555555"/>
                </a:solidFill>
              </a:defRPr>
            </a:pPr>
            <a:r>
              <a:rPr sz="2175" b="0">
                <a:solidFill>
                  <a:srgbClr val="555555"/>
                </a:solidFill>
              </a:rPr>
              <a:t>La IA reduce el coste de escribir código, pero aumenta la importancia de saber formular, decidir y verificar.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C48DD6F3-C4EC-4C33-8416-CA96F1614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14625"/>
            <a:ext cx="34290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4B98C87-9439-4E76-870D-8015C8BD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527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06432"/>
                </a:solidFill>
              </a:defRPr>
            </a:pPr>
            <a:r>
              <a:rPr sz="1800" b="1">
                <a:solidFill>
                  <a:srgbClr val="F06432"/>
                </a:solidFill>
              </a:rPr>
              <a:t>01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5234433-F7BF-4A8E-80D8-C9380A26F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24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FORMULAR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768061F-9E59-4DBA-8A6A-F6FF9FCAF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43375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Transformar una necesidad ambigua en requisitos comprobables.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A22216A8-5C89-4539-89D9-D2C3B40F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714625"/>
            <a:ext cx="34290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5AB5EB3-3E78-4910-8D60-C92F658B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9527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06432"/>
                </a:solidFill>
              </a:defRPr>
            </a:pPr>
            <a:r>
              <a:rPr sz="1800" b="1">
                <a:solidFill>
                  <a:srgbClr val="F06432"/>
                </a:solidFill>
              </a:rPr>
              <a:t>02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9AAD711-2926-4219-BEE1-6C2FD331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24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DECIDIR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AD7B327-3A3D-40FE-8DA4-2DACE760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143375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5D5D5"/>
                </a:solidFill>
              </a:defRPr>
            </a:pPr>
            <a:r>
              <a:rPr sz="1350" b="0">
                <a:solidFill>
                  <a:srgbClr val="D5D5D5"/>
                </a:solidFill>
              </a:rPr>
              <a:t>Elegir arquitectura y tecnología entendiendo sus compromisos.</a:t>
            </a:r>
          </a:p>
        </p:txBody>
      </p:sp>
      <p:sp>
        <p:nvSpPr>
          <p:cNvPr id="15" name="panel">
            <a:extLst xmlns:a="http://schemas.openxmlformats.org/drawingml/2006/main">
              <a:ext uri="{FF2B5EF4-FFF2-40B4-BE49-F238E27FC236}">
                <a16:creationId xmlns:a16="http://schemas.microsoft.com/office/drawing/2014/main" id="{6C08C030-EE19-4374-A0E1-CB95CA52A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14625"/>
            <a:ext cx="34290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52A20AF-CA98-4330-936A-39F873F8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527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06432"/>
                </a:solidFill>
              </a:defRPr>
            </a:pPr>
            <a:r>
              <a:rPr sz="1800" b="1">
                <a:solidFill>
                  <a:srgbClr val="F06432"/>
                </a:solidFill>
              </a:rPr>
              <a:t>03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3C93A79A-3B42-40AE-92B6-CEB5EA96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24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VERIFICAR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80AE2FB-8083-4E95-9DA6-D1421F2E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43375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Revisar seguridad, pruebas, coherencia y mantenibilidad.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37D7471-AF1A-43E5-BBBE-41029C76C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72125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La competencia del futuro no será «pedir código», sino dirigir un proceso de ingeniería asistido por IA.</a:t>
            </a:r>
          </a:p>
        </p:txBody>
      </p:sp>
    </p:spTree>
    <p:extLst>
      <p:ext uri="{BB962C8B-B14F-4D97-AF65-F5344CB8AC3E}">
        <p14:creationId xmlns:p14="http://schemas.microsoft.com/office/powerpoint/2010/main" val="8062071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02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FEA2206-006C-4237-9B8C-8E7429EB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06432"/>
                </a:solidFill>
              </a:defRPr>
            </a:pPr>
            <a:r>
              <a:rPr sz="1050" b="1">
                <a:solidFill>
                  <a:srgbClr val="F06432"/>
                </a:solidFill>
              </a:rPr>
              <a:t>EL FUTURO DEL DESARROLLO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23AA524-95A4-4F2F-BA5F-95C089F8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009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De escribir cada línea a diseñar sistemas con agentes</a:t>
            </a:r>
          </a:p>
        </p:txBody>
      </p:sp>
      <p:sp>
        <p:nvSpPr>
          <p:cNvPr id="3" name="panel">
            <a:extLst xmlns:a="http://schemas.openxmlformats.org/drawingml/2006/main">
              <a:ext uri="{FF2B5EF4-FFF2-40B4-BE49-F238E27FC236}">
                <a16:creationId xmlns:a16="http://schemas.microsoft.com/office/drawing/2014/main" id="{A1E4EB9D-269B-49E9-89D9-CA2C1ED6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43125"/>
            <a:ext cx="342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1A27B72-0591-4DB7-AF1D-09502416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06432"/>
                </a:solidFill>
              </a:defRPr>
            </a:pPr>
            <a:r>
              <a:rPr sz="1125" b="1">
                <a:solidFill>
                  <a:srgbClr val="F06432"/>
                </a:solidFill>
              </a:rPr>
              <a:t>AYER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84A7E43-6A63-4248-81D5-9E00E24C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0037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Código manual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5959EFA-DDE4-4DD3-8E82-F84D00E0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62375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5D5D5"/>
                </a:solidFill>
              </a:defRPr>
            </a:pPr>
            <a:r>
              <a:rPr sz="1350" b="0">
                <a:solidFill>
                  <a:srgbClr val="D5D5D5"/>
                </a:solidFill>
              </a:rPr>
              <a:t>La productividad dependía principalmente de dominar herramientas y sintaxis.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8E5D6D1B-AF51-4D46-9E8C-1AF9ED50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143125"/>
            <a:ext cx="342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C4CCFA2-F6EF-4292-8FE9-942DBE02F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06432"/>
                </a:solidFill>
              </a:defRPr>
            </a:pPr>
            <a:r>
              <a:rPr sz="1125" b="1">
                <a:solidFill>
                  <a:srgbClr val="F06432"/>
                </a:solidFill>
              </a:rPr>
              <a:t>HOY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2B8A147-62B0-496F-B6DA-DEAD47BD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0037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Copilotos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DB67D7F-3031-4D71-844C-CA2E10A24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762375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5D5D5"/>
                </a:solidFill>
              </a:defRPr>
            </a:pPr>
            <a:r>
              <a:rPr sz="1350" b="0">
                <a:solidFill>
                  <a:srgbClr val="D5D5D5"/>
                </a:solidFill>
              </a:rPr>
              <a:t>La IA sugiere fragmentos, explica errores y acelera tareas concretas.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1DCAF2D4-BB62-41E1-9306-B6252172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43125"/>
            <a:ext cx="342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FEBEF1C-E84D-4644-8231-BC0D1718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812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06432"/>
                </a:solidFill>
              </a:defRPr>
            </a:pPr>
            <a:r>
              <a:rPr sz="1125" b="1">
                <a:solidFill>
                  <a:srgbClr val="F06432"/>
                </a:solidFill>
              </a:rPr>
              <a:t>MAÑANA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E7773DB-1823-4803-9102-5229BA30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037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</a:defRPr>
            </a:pPr>
            <a:r>
              <a:rPr sz="2175" b="1">
                <a:solidFill>
                  <a:srgbClr val="111111"/>
                </a:solidFill>
              </a:rPr>
              <a:t>Agentes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56CD1C8-AB69-4315-9191-1137D1739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62375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Equipos humano-IA ejecutarán planes completos bajo especificaciones y controles.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4111665-0E33-43B1-94D4-DDF26C097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72125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La especificación será el lenguaje común entre personas, modelos y herramientas.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439E24E1-DF19-4B9E-91A1-71193224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04529C7E-6AE3-44C1-962B-49D410DB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PROGRESIA STUDIO · FUTURO DE LA IA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3F7F813-F5E1-4A6E-A8DB-EC21B78A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600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476227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A82C1238-7988-4912-881F-5F205D66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06432"/>
                </a:solidFill>
              </a:defRPr>
            </a:pPr>
            <a:r>
              <a:rPr sz="1050" b="1">
                <a:solidFill>
                  <a:srgbClr val="F06432"/>
                </a:solidFill>
              </a:rPr>
              <a:t>MODELO PEDAGÓGICO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F00DBC4-C562-447B-BB3D-A15A21E9F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La IA como tutor de proceso, no como caja negra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457F1BA9-92A0-497D-AE2C-172D164FD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D9CE765-9295-4605-BAF2-81C93113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PROGRESIA STUDIO · TFM 2026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7E79EE3-A5CF-4EDE-82E9-D59C437B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600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04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635FCD1-ECB1-4E5B-9230-864A9FB48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55555"/>
                </a:solidFill>
              </a:defRPr>
            </a:pPr>
            <a:r>
              <a:rPr sz="2025" b="0">
                <a:solidFill>
                  <a:srgbClr val="555555"/>
                </a:solidFill>
              </a:rPr>
              <a:t>ProgresIA convierte cada decisión técnica en una oportunidad de aprendizaje transferible.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884E49AE-3606-4378-A485-979A6742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A525C60-A683-4329-BB98-F74F6E47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33625"/>
            <a:ext cx="552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555555"/>
                </a:solidFill>
              </a:defRPr>
            </a:pPr>
            <a:r>
              <a:rPr sz="1650" b="1">
                <a:solidFill>
                  <a:srgbClr val="555555"/>
                </a:solidFill>
              </a:rPr>
              <a:t>1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1BC6473-BB5E-43D9-AFDD-55D88278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764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Preguntar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DC6D994-3153-47FD-9779-BEA07467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76475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El wizard obliga a concretar problema, usuarios, alcance y restricciones.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3D6F51D3-E685-469C-8893-6A7B35D6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575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4760207-1A91-4A46-BD57-35353D11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52775"/>
            <a:ext cx="552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555555"/>
                </a:solidFill>
              </a:defRPr>
            </a:pPr>
            <a:r>
              <a:rPr sz="1650" b="1">
                <a:solidFill>
                  <a:srgbClr val="555555"/>
                </a:solidFill>
              </a:rPr>
              <a:t>2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0DF89A9-A607-4A26-B1CB-716618CC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956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Explicar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0612223-D121-4156-884E-03E521D1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95625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Cada propuesta tecnológica muestra ventajas, límites y nivel de dificultad.</a:t>
            </a:r>
          </a:p>
        </p:txBody>
      </p:sp>
      <p:sp>
        <p:nvSpPr>
          <p:cNvPr id="15" name="panel">
            <a:extLst xmlns:a="http://schemas.openxmlformats.org/drawingml/2006/main">
              <a:ext uri="{FF2B5EF4-FFF2-40B4-BE49-F238E27FC236}">
                <a16:creationId xmlns:a16="http://schemas.microsoft.com/office/drawing/2014/main" id="{5C64020F-58FC-4D83-9FAF-03D63D154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766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2CCD68B-9C5F-42FB-96D6-C73CF118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71925"/>
            <a:ext cx="552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06432"/>
                </a:solidFill>
              </a:defRPr>
            </a:pPr>
            <a:r>
              <a:rPr sz="1650" b="1">
                <a:solidFill>
                  <a:srgbClr val="F06432"/>
                </a:solidFill>
              </a:rPr>
              <a:t>3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6DBB69F4-3915-4A05-A4A1-879D0B28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147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Practicar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DAF522D-0569-4313-9954-EE1CC23FB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14775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El tutorial y el código base permiten ejecutar lo especificado.</a:t>
            </a:r>
          </a:p>
        </p:txBody>
      </p:sp>
      <p:sp>
        <p:nvSpPr>
          <p:cNvPr id="19" name="panel">
            <a:extLst xmlns:a="http://schemas.openxmlformats.org/drawingml/2006/main">
              <a:ext uri="{FF2B5EF4-FFF2-40B4-BE49-F238E27FC236}">
                <a16:creationId xmlns:a16="http://schemas.microsoft.com/office/drawing/2014/main" id="{C38BD3A2-8BB1-4497-9782-440EDEEC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95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AFF3B5C4-18A8-4EBA-9C2D-ABD2BEF99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91075"/>
            <a:ext cx="552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555555"/>
                </a:solidFill>
              </a:defRPr>
            </a:pPr>
            <a:r>
              <a:rPr sz="1650" b="1">
                <a:solidFill>
                  <a:srgbClr val="555555"/>
                </a:solidFill>
              </a:rPr>
              <a:t>4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DAE837EF-8B57-4123-963A-6B5C88DED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339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Reflexionar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540964C2-6B36-4354-A178-A6A6FFAE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33925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OpenSpec, ADR y criterios de aceptación dejan trazabilidad de las decisiones.</a:t>
            </a:r>
          </a:p>
        </p:txBody>
      </p:sp>
      <p:sp>
        <p:nvSpPr>
          <p:cNvPr id="23" name="panel">
            <a:extLst xmlns:a="http://schemas.openxmlformats.org/drawingml/2006/main">
              <a:ext uri="{FF2B5EF4-FFF2-40B4-BE49-F238E27FC236}">
                <a16:creationId xmlns:a16="http://schemas.microsoft.com/office/drawing/2014/main" id="{1F2720D3-1236-4256-B9F8-144963C8D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11391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C8AE6BF3-584E-4DB4-8682-FED129C48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912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8864B"/>
                </a:solidFill>
              </a:defRPr>
            </a:pPr>
            <a:r>
              <a:rPr sz="1425" b="1">
                <a:solidFill>
                  <a:srgbClr val="18864B"/>
                </a:solidFill>
              </a:rPr>
              <a:t>Resultado: el estudiante no solo obtiene un MVP; aprende una secuencia que puede reutilizar.</a:t>
            </a:r>
          </a:p>
        </p:txBody>
      </p:sp>
    </p:spTree>
    <p:extLst>
      <p:ext uri="{BB962C8B-B14F-4D97-AF65-F5344CB8AC3E}">
        <p14:creationId xmlns:p14="http://schemas.microsoft.com/office/powerpoint/2010/main" val="13694403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619DBFB-27FE-4F7F-8BD8-0959BE69E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06432"/>
                </a:solidFill>
              </a:defRPr>
            </a:pPr>
            <a:r>
              <a:rPr sz="1050" b="1">
                <a:solidFill>
                  <a:srgbClr val="F06432"/>
                </a:solidFill>
              </a:rPr>
              <a:t>CONTEXTO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87114AB-9A11-4B53-AAE5-FD7F1C499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El problema no es generar código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3135A7AD-2C5E-4863-9C96-195A2A013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A00E174-2E8F-41BB-9FFD-FA955D8C6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PROGRESIA STUDIO · TFM 2026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9C07D24-0EEE-47CD-8D2A-B8020209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600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05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220AC05-53FA-4A45-940C-E5AC3EFF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009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555555"/>
                </a:solidFill>
              </a:defRPr>
            </a:pPr>
            <a:r>
              <a:rPr sz="2175" b="0">
                <a:solidFill>
                  <a:srgbClr val="555555"/>
                </a:solidFill>
              </a:rPr>
              <a:t>Es generar código sin contexto, sin decisiones explícitas y sin una forma fiable de continuar.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2C4E0671-6A3B-464A-A653-A9D3E4B14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19375"/>
            <a:ext cx="3524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15C951D-83F6-44FA-83D9-5A297039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06432"/>
                </a:solidFill>
              </a:defRPr>
            </a:pPr>
            <a:r>
              <a:rPr sz="2250" b="1">
                <a:solidFill>
                  <a:srgbClr val="F06432"/>
                </a:solidFill>
              </a:rPr>
              <a:t>01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5EB0EEE-78AA-4497-A0B3-5C721C303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766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Especificación débil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245CE31-5A79-48B5-86B6-0B77B701D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48125"/>
            <a:ext cx="285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Los requisitos quedan en conversaciones dispersas y el alcance cambia mientras se programa.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E79BD237-14E9-4B83-A5B3-E0C692692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619375"/>
            <a:ext cx="3524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A808944-4C2D-48D9-86C3-C569D1914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85750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06432"/>
                </a:solidFill>
              </a:defRPr>
            </a:pPr>
            <a:r>
              <a:rPr sz="2250" b="1">
                <a:solidFill>
                  <a:srgbClr val="F06432"/>
                </a:solidFill>
              </a:rPr>
              <a:t>02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F3A37C0-A44B-4D61-9077-F24416172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4766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IA sin memoria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BAD06BE-5690-421F-B407-41C66CCC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048125"/>
            <a:ext cx="285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D5D5D5"/>
                </a:solidFill>
              </a:defRPr>
            </a:pPr>
            <a:r>
              <a:rPr sz="1425" b="0">
                <a:solidFill>
                  <a:srgbClr val="D5D5D5"/>
                </a:solidFill>
              </a:rPr>
              <a:t>Cada sesión vuelve a interpretar el proyecto y produce decisiones incompatibles.</a:t>
            </a:r>
          </a:p>
        </p:txBody>
      </p:sp>
      <p:sp>
        <p:nvSpPr>
          <p:cNvPr id="15" name="panel">
            <a:extLst xmlns:a="http://schemas.openxmlformats.org/drawingml/2006/main">
              <a:ext uri="{FF2B5EF4-FFF2-40B4-BE49-F238E27FC236}">
                <a16:creationId xmlns:a16="http://schemas.microsoft.com/office/drawing/2014/main" id="{A6CDB55A-F9CF-44BE-A1EF-25567883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19375"/>
            <a:ext cx="3524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30B348B-B4AF-40F2-9384-DB0CBAF5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5750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06432"/>
                </a:solidFill>
              </a:defRPr>
            </a:pPr>
            <a:r>
              <a:rPr sz="2250" b="1">
                <a:solidFill>
                  <a:srgbClr val="F06432"/>
                </a:solidFill>
              </a:rPr>
              <a:t>03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A4C0DD58-8557-42B4-A010-6F1124BD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4766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Aprendizaje invisible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A8B429A-DAED-426D-9F1D-690578B2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048125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El alumno recibe una respuesta, pero no una metodología reutilizable para construir el siguiente proyecto.</a:t>
            </a:r>
          </a:p>
        </p:txBody>
      </p:sp>
    </p:spTree>
    <p:extLst>
      <p:ext uri="{BB962C8B-B14F-4D97-AF65-F5344CB8AC3E}">
        <p14:creationId xmlns:p14="http://schemas.microsoft.com/office/powerpoint/2010/main" val="2956675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1AA2205-FE83-4E10-9E8E-408914942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06432"/>
                </a:solidFill>
              </a:defRPr>
            </a:pPr>
            <a:r>
              <a:rPr sz="1050" b="1">
                <a:solidFill>
                  <a:srgbClr val="F06432"/>
                </a:solidFill>
              </a:rPr>
              <a:t>PROPUESTA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ACF2E0E-6CB6-412C-878D-5BF52FC6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La solución: especificar antes de generar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12C2F95E-E384-4C5F-9EE8-AA3C9D62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E2AC4D0-37BC-434A-9864-D80153339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PROGRESIA STUDIO · TFM 2026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44F3147-C1C1-4F04-897B-33BB2F39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600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06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154227B-8F0D-434A-8CAF-B2E9E74D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55555"/>
                </a:solidFill>
              </a:defRPr>
            </a:pPr>
            <a:r>
              <a:rPr sz="2025" b="0">
                <a:solidFill>
                  <a:srgbClr val="555555"/>
                </a:solidFill>
              </a:rPr>
              <a:t>ProgresIA Studio convierte la conversación inicial en una cadena de artefactos coherentes.</a:t>
            </a:r>
          </a:p>
        </p:txBody>
      </p:sp>
      <p:sp>
        <p:nvSpPr>
          <p:cNvPr id="7" name="bullet-0">
            <a:extLst xmlns:a="http://schemas.openxmlformats.org/drawingml/2006/main">
              <a:ext uri="{FF2B5EF4-FFF2-40B4-BE49-F238E27FC236}">
                <a16:creationId xmlns:a16="http://schemas.microsoft.com/office/drawing/2014/main" id="{12211F78-B198-4D2C-8317-FE71A95A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09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CBCFDEB-86EE-4485-8339-18B1F14F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333625"/>
            <a:ext cx="6591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Guía al usuario mediante un wizard conversacional adaptado a su nivel técnico.</a:t>
            </a:r>
          </a:p>
        </p:txBody>
      </p:sp>
      <p:sp>
        <p:nvSpPr>
          <p:cNvPr id="9" name="bullet-1">
            <a:extLst xmlns:a="http://schemas.openxmlformats.org/drawingml/2006/main">
              <a:ext uri="{FF2B5EF4-FFF2-40B4-BE49-F238E27FC236}">
                <a16:creationId xmlns:a16="http://schemas.microsoft.com/office/drawing/2014/main" id="{484DB382-0C0E-47BC-9C0E-9AC08621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71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E2022E4-A8C5-42CF-AADB-90BF83AFE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095625"/>
            <a:ext cx="6591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Convierte la idea en requisitos, arquitectura y un OpenSpec reutilizable.</a:t>
            </a:r>
          </a:p>
        </p:txBody>
      </p:sp>
      <p:sp>
        <p:nvSpPr>
          <p:cNvPr id="11" name="bullet-2">
            <a:extLst xmlns:a="http://schemas.openxmlformats.org/drawingml/2006/main">
              <a:ext uri="{FF2B5EF4-FFF2-40B4-BE49-F238E27FC236}">
                <a16:creationId xmlns:a16="http://schemas.microsoft.com/office/drawing/2014/main" id="{5D0F783F-AFF4-4D8E-98C2-8C043394C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33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A4A1173-DB98-45F6-835C-3D2B8CB24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857625"/>
            <a:ext cx="6591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Genera issues, tutorial, código base, documentación y un ZIP validado.</a:t>
            </a:r>
          </a:p>
        </p:txBody>
      </p:sp>
      <p:sp>
        <p:nvSpPr>
          <p:cNvPr id="13" name="bullet-3">
            <a:extLst xmlns:a="http://schemas.openxmlformats.org/drawingml/2006/main">
              <a:ext uri="{FF2B5EF4-FFF2-40B4-BE49-F238E27FC236}">
                <a16:creationId xmlns:a16="http://schemas.microsoft.com/office/drawing/2014/main" id="{0AF73F6E-8A72-477B-A909-313B33949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95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E0FD428-45C6-495D-8F3D-7D4F3573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619625"/>
            <a:ext cx="6591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Permite continuar el desarrollo con personas o asistentes de IA sin perder contexto.</a:t>
            </a:r>
          </a:p>
        </p:txBody>
      </p:sp>
      <p:sp>
        <p:nvSpPr>
          <p:cNvPr id="15" name="panel">
            <a:extLst xmlns:a="http://schemas.openxmlformats.org/drawingml/2006/main">
              <a:ext uri="{FF2B5EF4-FFF2-40B4-BE49-F238E27FC236}">
                <a16:creationId xmlns:a16="http://schemas.microsoft.com/office/drawing/2014/main" id="{E3B7525A-71A4-4714-9FBE-6F77506D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3143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A4A674E-1E82-4998-9541-FD4053CF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0030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06432"/>
                </a:solidFill>
              </a:defRPr>
            </a:pPr>
            <a:r>
              <a:rPr sz="1050" b="1">
                <a:solidFill>
                  <a:srgbClr val="F06432"/>
                </a:solidFill>
              </a:rPr>
              <a:t>DIFERENCIADOR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ACA40AEA-BD0E-4BAD-89E0-3A06EEAA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00375"/>
            <a:ext cx="2571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No es solo</a:t>
            </a:r>
          </a:p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un generador.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D25A5B8-DB15-46F5-B611-F3AF2691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33875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D5D5D5"/>
                </a:solidFill>
              </a:defRPr>
            </a:pPr>
            <a:r>
              <a:rPr sz="1500" b="0">
                <a:solidFill>
                  <a:srgbClr val="D5D5D5"/>
                </a:solidFill>
              </a:rPr>
              <a:t>Es una metodología educativa convertida en producto software.</a:t>
            </a:r>
          </a:p>
        </p:txBody>
      </p:sp>
    </p:spTree>
    <p:extLst>
      <p:ext uri="{BB962C8B-B14F-4D97-AF65-F5344CB8AC3E}">
        <p14:creationId xmlns:p14="http://schemas.microsoft.com/office/powerpoint/2010/main" val="6539450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EBE3CA39-6C1B-4A1D-BDC6-9A49CF943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06432"/>
                </a:solidFill>
              </a:defRPr>
            </a:pPr>
            <a:r>
              <a:rPr sz="1050" b="1">
                <a:solidFill>
                  <a:srgbClr val="F06432"/>
                </a:solidFill>
              </a:rPr>
              <a:t>METODOLOGÍA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0038640-30D9-43D6-A640-050584D2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Un pipeline SDD con una única fuente de verdad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5984738D-D381-496F-AB7F-46EE43FA2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62926D4-06C2-4E21-BC27-49645C99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PROGRESIA STUDIO · TFM 2026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8AED41F-B593-4B03-8B8C-71AA04FB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600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07</a:t>
            </a:r>
          </a:p>
        </p:txBody>
      </p:sp>
      <p:sp>
        <p:nvSpPr>
          <p:cNvPr id="6" name="stage-1">
            <a:extLst xmlns:a="http://schemas.openxmlformats.org/drawingml/2006/main">
              <a:ext uri="{FF2B5EF4-FFF2-40B4-BE49-F238E27FC236}">
                <a16:creationId xmlns:a16="http://schemas.microsoft.com/office/drawing/2014/main" id="{1A3DC7BB-8599-416C-833D-8A6FAD47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4287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6E4E08A-663E-4FDF-9A5D-1EF056DC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3837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555555"/>
                </a:solidFill>
              </a:defRPr>
            </a:pPr>
            <a:r>
              <a:rPr sz="1875" b="1">
                <a:solidFill>
                  <a:srgbClr val="555555"/>
                </a:solidFill>
              </a:rPr>
              <a:t>1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09DDBD4-C528-478A-9905-3CD295D0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14625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Idea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665B781-637C-408A-BA6A-690AE418C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71825"/>
            <a:ext cx="10858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Conversación guiada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95B785D-2541-4352-933F-C2D4809A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43250"/>
            <a:ext cx="238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06432"/>
                </a:solidFill>
              </a:defRPr>
            </a:pPr>
            <a:r>
              <a:rPr sz="1875" b="1">
                <a:solidFill>
                  <a:srgbClr val="F06432"/>
                </a:solidFill>
              </a:rPr>
              <a:t>→</a:t>
            </a:r>
          </a:p>
        </p:txBody>
      </p:sp>
      <p:sp>
        <p:nvSpPr>
          <p:cNvPr id="11" name="stage-2">
            <a:extLst xmlns:a="http://schemas.openxmlformats.org/drawingml/2006/main">
              <a:ext uri="{FF2B5EF4-FFF2-40B4-BE49-F238E27FC236}">
                <a16:creationId xmlns:a16="http://schemas.microsoft.com/office/drawing/2014/main" id="{1EE12B65-50D3-4815-990D-B91AC5AC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2095500"/>
            <a:ext cx="14287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41CC085-F9AC-492D-A4B0-BBBFA61E4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23837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555555"/>
                </a:solidFill>
              </a:defRPr>
            </a:pPr>
            <a:r>
              <a:rPr sz="1875" b="1">
                <a:solidFill>
                  <a:srgbClr val="555555"/>
                </a:solidFill>
              </a:rPr>
              <a:t>2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6700AA9-AFD9-4E8D-B0CC-D659FAFB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714625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Requisitos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A5FBDCF-7ADC-4A1A-AAA4-61FFEAB6C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171825"/>
            <a:ext cx="10858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RF, RNF y stories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F21E986-0824-42CC-9506-7D68CB98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143250"/>
            <a:ext cx="238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06432"/>
                </a:solidFill>
              </a:defRPr>
            </a:pPr>
            <a:r>
              <a:rPr sz="1875" b="1">
                <a:solidFill>
                  <a:srgbClr val="F06432"/>
                </a:solidFill>
              </a:rPr>
              <a:t>→</a:t>
            </a:r>
          </a:p>
        </p:txBody>
      </p:sp>
      <p:sp>
        <p:nvSpPr>
          <p:cNvPr id="16" name="stage-3">
            <a:extLst xmlns:a="http://schemas.openxmlformats.org/drawingml/2006/main">
              <a:ext uri="{FF2B5EF4-FFF2-40B4-BE49-F238E27FC236}">
                <a16:creationId xmlns:a16="http://schemas.microsoft.com/office/drawing/2014/main" id="{18E97914-B42D-4A06-B168-CF5E3D58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095500"/>
            <a:ext cx="14287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764F0147-6543-46BF-A830-E6F58B0B8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23837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555555"/>
                </a:solidFill>
              </a:defRPr>
            </a:pPr>
            <a:r>
              <a:rPr sz="1875" b="1">
                <a:solidFill>
                  <a:srgbClr val="555555"/>
                </a:solidFill>
              </a:rPr>
              <a:t>3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E89FA51-76B0-46A6-9606-F18326BC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14625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Arquitectura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51293DF-1216-4C49-914B-38C75FCC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171825"/>
            <a:ext cx="10858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Stack y decisiones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211FF7B7-9BC0-41E1-81C4-943DC9FD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143250"/>
            <a:ext cx="238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06432"/>
                </a:solidFill>
              </a:defRPr>
            </a:pPr>
            <a:r>
              <a:rPr sz="1875" b="1">
                <a:solidFill>
                  <a:srgbClr val="F06432"/>
                </a:solidFill>
              </a:rPr>
              <a:t>→</a:t>
            </a:r>
          </a:p>
        </p:txBody>
      </p:sp>
      <p:sp>
        <p:nvSpPr>
          <p:cNvPr id="21" name="stage-4">
            <a:extLst xmlns:a="http://schemas.openxmlformats.org/drawingml/2006/main">
              <a:ext uri="{FF2B5EF4-FFF2-40B4-BE49-F238E27FC236}">
                <a16:creationId xmlns:a16="http://schemas.microsoft.com/office/drawing/2014/main" id="{3E546E80-F4C6-4EA9-9FC7-618FBFBB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095500"/>
            <a:ext cx="14287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AD9E3889-ABD7-4924-BABC-28918ED7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23837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06432"/>
                </a:solidFill>
              </a:defRPr>
            </a:pPr>
            <a:r>
              <a:rPr sz="1875" b="1">
                <a:solidFill>
                  <a:srgbClr val="F06432"/>
                </a:solidFill>
              </a:rPr>
              <a:t>4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DA41B5B6-9652-481E-A1A2-8AFA47852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714625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OpenSpec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EAB830D1-A461-4997-9403-AACF95C36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3171825"/>
            <a:ext cx="10858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Contrato central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9084175B-6A21-40A8-901B-873F22A7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143250"/>
            <a:ext cx="238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06432"/>
                </a:solidFill>
              </a:defRPr>
            </a:pPr>
            <a:r>
              <a:rPr sz="1875" b="1">
                <a:solidFill>
                  <a:srgbClr val="F06432"/>
                </a:solidFill>
              </a:rPr>
              <a:t>→</a:t>
            </a:r>
          </a:p>
        </p:txBody>
      </p:sp>
      <p:sp>
        <p:nvSpPr>
          <p:cNvPr id="26" name="stage-5">
            <a:extLst xmlns:a="http://schemas.openxmlformats.org/drawingml/2006/main">
              <a:ext uri="{FF2B5EF4-FFF2-40B4-BE49-F238E27FC236}">
                <a16:creationId xmlns:a16="http://schemas.microsoft.com/office/drawing/2014/main" id="{9E3B3D2C-0CB7-40E0-B0DF-FD8E6642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095500"/>
            <a:ext cx="14287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19435026-FC77-43A1-99E7-A88F2D68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3837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555555"/>
                </a:solidFill>
              </a:defRPr>
            </a:pPr>
            <a:r>
              <a:rPr sz="1875" b="1">
                <a:solidFill>
                  <a:srgbClr val="555555"/>
                </a:solidFill>
              </a:rPr>
              <a:t>5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755A9B55-05F1-4398-9492-8B2DC26D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714625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Issues + tutorial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F443033A-F38B-4C3D-B84E-6EB73010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171825"/>
            <a:ext cx="10858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Plan ejecutable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3902B3E1-6ACA-440C-B511-6E68D4A8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43250"/>
            <a:ext cx="238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06432"/>
                </a:solidFill>
              </a:defRPr>
            </a:pPr>
            <a:r>
              <a:rPr sz="1875" b="1">
                <a:solidFill>
                  <a:srgbClr val="F06432"/>
                </a:solidFill>
              </a:rPr>
              <a:t>→</a:t>
            </a:r>
          </a:p>
        </p:txBody>
      </p:sp>
      <p:sp>
        <p:nvSpPr>
          <p:cNvPr id="31" name="stage-6">
            <a:extLst xmlns:a="http://schemas.openxmlformats.org/drawingml/2006/main">
              <a:ext uri="{FF2B5EF4-FFF2-40B4-BE49-F238E27FC236}">
                <a16:creationId xmlns:a16="http://schemas.microsoft.com/office/drawing/2014/main" id="{3F1C52F2-7043-4289-92F4-E3425268D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095500"/>
            <a:ext cx="14287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D986943C-1A6F-4B83-87FF-1533C53E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23837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555555"/>
                </a:solidFill>
              </a:defRPr>
            </a:pPr>
            <a:r>
              <a:rPr sz="1875" b="1">
                <a:solidFill>
                  <a:srgbClr val="555555"/>
                </a:solidFill>
              </a:rPr>
              <a:t>6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F26557E7-8A74-48B0-864A-5AEDB0EE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714625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Código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9FEDF36F-DCB3-4396-8790-0FF1BF0EF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171825"/>
            <a:ext cx="10858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Scaffold por stack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161D0884-F911-4965-9BA1-419C024F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143250"/>
            <a:ext cx="238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06432"/>
                </a:solidFill>
              </a:defRPr>
            </a:pPr>
            <a:r>
              <a:rPr sz="1875" b="1">
                <a:solidFill>
                  <a:srgbClr val="F06432"/>
                </a:solidFill>
              </a:rPr>
              <a:t>→</a:t>
            </a:r>
          </a:p>
        </p:txBody>
      </p:sp>
      <p:sp>
        <p:nvSpPr>
          <p:cNvPr id="36" name="stage-7">
            <a:extLst xmlns:a="http://schemas.openxmlformats.org/drawingml/2006/main">
              <a:ext uri="{FF2B5EF4-FFF2-40B4-BE49-F238E27FC236}">
                <a16:creationId xmlns:a16="http://schemas.microsoft.com/office/drawing/2014/main" id="{B2F46849-18A5-4E2E-B0E0-773A80DD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095500"/>
            <a:ext cx="14287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B0E1DE20-3634-4F1F-9193-5EA5F018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23837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555555"/>
                </a:solidFill>
              </a:defRPr>
            </a:pPr>
            <a:r>
              <a:rPr sz="1875" b="1">
                <a:solidFill>
                  <a:srgbClr val="555555"/>
                </a:solidFill>
              </a:rPr>
              <a:t>7</a:t>
            </a:r>
          </a:p>
        </p:txBody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599F2408-2AE9-45A1-8889-B444EDCB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714625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ZIP</a:t>
            </a:r>
          </a:p>
        </p:txBody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E3BF1460-15FC-4A5F-8577-5A499175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171825"/>
            <a:ext cx="10858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Entrega validada</a:t>
            </a:r>
          </a:p>
        </p:txBody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EE426389-9368-4CC2-B17D-F3977D5B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334000"/>
            <a:ext cx="866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Todos los agentes posteriores consumen OpenSpec: si mejora la especificación, mejora todo el resultado.</a:t>
            </a:r>
          </a:p>
        </p:txBody>
      </p:sp>
    </p:spTree>
    <p:extLst>
      <p:ext uri="{BB962C8B-B14F-4D97-AF65-F5344CB8AC3E}">
        <p14:creationId xmlns:p14="http://schemas.microsoft.com/office/powerpoint/2010/main" val="581461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702CD34-516B-40B9-A4AF-968B912E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06432"/>
                </a:solidFill>
              </a:defRPr>
            </a:pPr>
            <a:r>
              <a:rPr sz="1050" b="1">
                <a:solidFill>
                  <a:srgbClr val="F06432"/>
                </a:solidFill>
              </a:rPr>
              <a:t>FUENTE DE VERDAD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C87A386-1B3E-48CF-B791-1571F55E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OpenSpec convierte el contexto en un contrato reutilizable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9132C8BC-0FA2-48AC-94F4-87BD7FCD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6E78EFA-D395-436C-8801-6D984202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PROGRESIA STUDIO · TFM 2026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4BC0A60-4FD7-4575-A7B6-9F1CB5025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600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08</a:t>
            </a:r>
          </a:p>
        </p:txBody>
      </p:sp>
      <p:sp>
        <p:nvSpPr>
          <p:cNvPr id="6" name="panel">
            <a:extLst xmlns:a="http://schemas.openxmlformats.org/drawingml/2006/main">
              <a:ext uri="{FF2B5EF4-FFF2-40B4-BE49-F238E27FC236}">
                <a16:creationId xmlns:a16="http://schemas.microsoft.com/office/drawing/2014/main" id="{9686E548-BA56-4076-8259-CC426FC5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44767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5C6C5F6-0B76-4348-B80D-F1ACF239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06432"/>
                </a:solidFill>
              </a:defRPr>
            </a:pPr>
            <a:r>
              <a:rPr sz="1125" b="1">
                <a:solidFill>
                  <a:srgbClr val="F06432"/>
                </a:solidFill>
              </a:rPr>
              <a:t>OPENSPEC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6024BA3-FBA9-400F-AD5D-4CE5584E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333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{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  proyecto,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  requisitos,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  arquitectura,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  datos,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  API,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  reglas,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  criterios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}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CFDEBD2-2BF6-4658-B5E7-59D3A8C3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14500"/>
            <a:ext cx="581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Una estructura legible por personas y por modelos.</a:t>
            </a:r>
          </a:p>
        </p:txBody>
      </p:sp>
      <p:sp>
        <p:nvSpPr>
          <p:cNvPr id="10" name="bullet-0">
            <a:extLst xmlns:a="http://schemas.openxmlformats.org/drawingml/2006/main">
              <a:ext uri="{FF2B5EF4-FFF2-40B4-BE49-F238E27FC236}">
                <a16:creationId xmlns:a16="http://schemas.microsoft.com/office/drawing/2014/main" id="{A572C211-DBC6-41C6-8470-8D5CB6CA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47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DF55D10-9C19-48F8-9C50-804FC6CF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571750"/>
            <a:ext cx="5543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Evita que cada agente vuelva a interpretar la idea desde cero.</a:t>
            </a:r>
          </a:p>
        </p:txBody>
      </p:sp>
      <p:sp>
        <p:nvSpPr>
          <p:cNvPr id="12" name="bullet-1">
            <a:extLst xmlns:a="http://schemas.openxmlformats.org/drawingml/2006/main">
              <a:ext uri="{FF2B5EF4-FFF2-40B4-BE49-F238E27FC236}">
                <a16:creationId xmlns:a16="http://schemas.microsoft.com/office/drawing/2014/main" id="{A22BB60C-D730-4BE2-A18A-D2F2B36E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71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449D01D-8FC3-43DA-8CD2-60D6CDE5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95650"/>
            <a:ext cx="5543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Permite auditar por qué se eligió una arquitectura o una entidad.</a:t>
            </a:r>
          </a:p>
        </p:txBody>
      </p:sp>
      <p:sp>
        <p:nvSpPr>
          <p:cNvPr id="14" name="bullet-2">
            <a:extLst xmlns:a="http://schemas.openxmlformats.org/drawingml/2006/main">
              <a:ext uri="{FF2B5EF4-FFF2-40B4-BE49-F238E27FC236}">
                <a16:creationId xmlns:a16="http://schemas.microsoft.com/office/drawing/2014/main" id="{92E5BBBB-B774-498F-A42B-BAA6F1C5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95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0B49C0E-DECE-49E7-84C9-C2DC025AF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019550"/>
            <a:ext cx="5543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Conecta requisitos, issues, tutorial, código y pruebas.</a:t>
            </a:r>
          </a:p>
        </p:txBody>
      </p:sp>
      <p:sp>
        <p:nvSpPr>
          <p:cNvPr id="16" name="bullet-3">
            <a:extLst xmlns:a="http://schemas.openxmlformats.org/drawingml/2006/main">
              <a:ext uri="{FF2B5EF4-FFF2-40B4-BE49-F238E27FC236}">
                <a16:creationId xmlns:a16="http://schemas.microsoft.com/office/drawing/2014/main" id="{C4913713-43AF-4B25-9524-CCC2ECEC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819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8C134E98-3FD6-44E5-AF12-209FB09A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743450"/>
            <a:ext cx="5543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Hace posible retomar el proyecto en otra sesión o con otra IA.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D56EE24-E5CD-49EE-96D7-3624B6A5B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572125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06432"/>
                </a:solidFill>
              </a:defRPr>
            </a:pPr>
            <a:r>
              <a:rPr sz="1500" b="1">
                <a:solidFill>
                  <a:srgbClr val="F06432"/>
                </a:solidFill>
              </a:rPr>
              <a:t>El valor no está en un prompt perfecto, sino en conservar decisiones verificables.</a:t>
            </a:r>
          </a:p>
        </p:txBody>
      </p:sp>
    </p:spTree>
    <p:extLst>
      <p:ext uri="{BB962C8B-B14F-4D97-AF65-F5344CB8AC3E}">
        <p14:creationId xmlns:p14="http://schemas.microsoft.com/office/powerpoint/2010/main" val="16284873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A94B3D21-93C8-4775-9229-B4EBCAAE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06432"/>
                </a:solidFill>
              </a:defRPr>
            </a:pPr>
            <a:r>
              <a:rPr sz="1050" b="1">
                <a:solidFill>
                  <a:srgbClr val="F06432"/>
                </a:solidFill>
              </a:rPr>
              <a:t>ARQUITECTURA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8578AF9-F6E7-4655-BC1C-C20B5337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Monorepo modular, tres aplicaciones especializadas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5FD4BF62-6199-46E6-A8FA-80FDB890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9FCC1F1-A72D-40F7-9946-0ABF3DEC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PROGRESIA STUDIO · TFM 2026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0F8B6D5-6DC9-4455-9ECE-E2C6C049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600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09</a:t>
            </a:r>
          </a:p>
        </p:txBody>
      </p:sp>
      <p:sp>
        <p:nvSpPr>
          <p:cNvPr id="6" name="panel">
            <a:extLst xmlns:a="http://schemas.openxmlformats.org/drawingml/2006/main">
              <a:ext uri="{FF2B5EF4-FFF2-40B4-BE49-F238E27FC236}">
                <a16:creationId xmlns:a16="http://schemas.microsoft.com/office/drawing/2014/main" id="{786D0D1B-EFF2-4327-82F5-56A23BED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323850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190AE84-39C2-4FE2-B133-A2EF6396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06432"/>
                </a:solidFill>
              </a:defRPr>
            </a:pPr>
            <a:r>
              <a:rPr sz="1200" b="1">
                <a:solidFill>
                  <a:srgbClr val="F06432"/>
                </a:solidFill>
              </a:rPr>
              <a:t>WEB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C758F79-3A82-4AFA-B386-757DD62F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React 19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96DF252-5E6D-4354-B7EC-A3CF880B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90875"/>
            <a:ext cx="2571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Wizard, dashboard, revisión de resultados y descarga.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E6F31DD-D6CB-4BDB-9DD9-D3FCDA21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96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:5173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100FDBC8-416D-42E3-ACD6-C8464F49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14500"/>
            <a:ext cx="323850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B62B5B0-F00A-4FD5-8987-0B7216AB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95262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06432"/>
                </a:solidFill>
              </a:defRPr>
            </a:pPr>
            <a:r>
              <a:rPr sz="1200" b="1">
                <a:solidFill>
                  <a:srgbClr val="F06432"/>
                </a:solidFill>
              </a:rPr>
              <a:t>API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5E51501-53A9-474E-9553-5119442D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47650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NestJS 11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CC139282-5B5C-4BF0-9B14-B13379E2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190875"/>
            <a:ext cx="2571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D5D5D5"/>
                </a:solidFill>
              </a:defRPr>
            </a:pPr>
            <a:r>
              <a:rPr sz="1500" b="0">
                <a:solidFill>
                  <a:srgbClr val="D5D5D5"/>
                </a:solidFill>
              </a:rPr>
              <a:t>Usuarios, proyectos, jobs, artefactos, GitHub y seguridad.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EF2EE34-493D-4D36-AB23-C86C5F9E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6196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:3000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4A9D2295-1AF1-4221-B72A-F574ABCE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14500"/>
            <a:ext cx="323850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9E30DB80-6538-48E1-B83E-3128BB90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95262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06432"/>
                </a:solidFill>
              </a:defRPr>
            </a:pPr>
            <a:r>
              <a:rPr sz="1200" b="1">
                <a:solidFill>
                  <a:srgbClr val="F06432"/>
                </a:solidFill>
              </a:rPr>
              <a:t>AI SERVICE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5AFE45B-D2C0-439E-B714-2FE84C35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7650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FastAPI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4F1F56C-A55B-45C5-B91D-DDE4990A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90875"/>
            <a:ext cx="2571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Agentes, LLM routing, RAG y generación determinista.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4E54729E-9E7E-49CE-9453-D2898A304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6196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:8003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4AC48CB-0399-4265-B13F-E4EBCC63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PostgreSQL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A8DE0EFE-EA6D-4119-8102-636B639D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6197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Redis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72999711-C3AC-4B91-920B-37B3877D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6197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Qdrant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8843307A-A478-4457-BD70-14BE8E83E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6197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MinIO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DBB31621-D118-47BF-8F15-10F7956B9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6197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Mailpit</a:t>
            </a:r>
          </a:p>
        </p:txBody>
      </p:sp>
    </p:spTree>
    <p:extLst>
      <p:ext uri="{BB962C8B-B14F-4D97-AF65-F5344CB8AC3E}">
        <p14:creationId xmlns:p14="http://schemas.microsoft.com/office/powerpoint/2010/main" val="15068793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37E0054-036F-4C14-A31C-AFB85933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06432"/>
                </a:solidFill>
              </a:defRPr>
            </a:pPr>
            <a:r>
              <a:rPr sz="1050" b="1">
                <a:solidFill>
                  <a:srgbClr val="F06432"/>
                </a:solidFill>
              </a:rPr>
              <a:t>PRODUCTO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C7DB2DE-FE58-4F62-9FFC-BB55D575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Una experiencia guiada desde el primer minuto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AA1BACDD-E9FF-4382-832A-2BAD4DCC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75A8AF7-74A5-456A-B44C-5E2BC176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PROGRESIA STUDIO · TFM 2026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436552B-108A-420F-AD3E-660DBD26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600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10</a:t>
            </a:r>
          </a:p>
        </p:txBody>
      </p:sp>
      <p:pic>
        <p:nvPicPr>
          <p:cNvPr id="23" name="Imagen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d4c7b23f0b473e"/>
          <a:srcRect xmlns:a="http://schemas.openxmlformats.org/drawingml/2006/main" l="4215" t="0" r="42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619250"/>
            <a:ext cx="6667500" cy="4095750"/>
          </a:xfrm>
          <a:prstGeom xmlns:a="http://schemas.openxmlformats.org/drawingml/2006/main" prst="rect">
            <a:avLst/>
          </a:prstGeom>
        </p:spPr>
      </p:pic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62E893E4-133C-4476-BBFE-8272A7E6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666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32"/>
          </a:solidFill>
          <a:ln xmlns:a="http://schemas.openxmlformats.org/drawingml/2006/main" w="0">
            <a:solidFill>
              <a:srgbClr val="F0643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DFC7456-3365-4942-926E-05463337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66687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06432"/>
                </a:solidFill>
              </a:defRPr>
            </a:pPr>
            <a:r>
              <a:rPr sz="1050" b="1">
                <a:solidFill>
                  <a:srgbClr val="F06432"/>
                </a:solidFill>
              </a:rPr>
              <a:t>FLUJO PRINCIPAL</a:t>
            </a:r>
          </a:p>
        </p:txBody>
      </p:sp>
      <p:sp>
        <p:nvSpPr>
          <p:cNvPr id="9" name="bullet-0">
            <a:extLst xmlns:a="http://schemas.openxmlformats.org/drawingml/2006/main">
              <a:ext uri="{FF2B5EF4-FFF2-40B4-BE49-F238E27FC236}">
                <a16:creationId xmlns:a16="http://schemas.microsoft.com/office/drawing/2014/main" id="{14B5CE71-D56A-4503-AF0F-F9DF7EC7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66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F21BBDE-4230-4BD7-B7A4-04369997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190750"/>
            <a:ext cx="34004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Registro y acceso protegido con CAPTCHA configurable.</a:t>
            </a:r>
          </a:p>
        </p:txBody>
      </p:sp>
      <p:sp>
        <p:nvSpPr>
          <p:cNvPr id="11" name="bullet-1">
            <a:extLst xmlns:a="http://schemas.openxmlformats.org/drawingml/2006/main">
              <a:ext uri="{FF2B5EF4-FFF2-40B4-BE49-F238E27FC236}">
                <a16:creationId xmlns:a16="http://schemas.microsoft.com/office/drawing/2014/main" id="{A9794CA7-4E81-4602-AA28-B49B888F9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048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5810EF4-D638-4CE8-B4F1-2262DA41C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971800"/>
            <a:ext cx="34004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Wizard que recoge producto, objetivo, datos, IA y despliegue.</a:t>
            </a:r>
          </a:p>
        </p:txBody>
      </p:sp>
      <p:sp>
        <p:nvSpPr>
          <p:cNvPr id="13" name="bullet-2">
            <a:extLst xmlns:a="http://schemas.openxmlformats.org/drawingml/2006/main">
              <a:ext uri="{FF2B5EF4-FFF2-40B4-BE49-F238E27FC236}">
                <a16:creationId xmlns:a16="http://schemas.microsoft.com/office/drawing/2014/main" id="{DD14B93B-9870-4BA7-A856-96AA78C3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829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583DA5D-F88B-4EA6-B6C2-D8648947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752850"/>
            <a:ext cx="34004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Resultados progresivos con estados de carga y validación.</a:t>
            </a:r>
          </a:p>
        </p:txBody>
      </p:sp>
      <p:sp>
        <p:nvSpPr>
          <p:cNvPr id="15" name="bullet-3">
            <a:extLst xmlns:a="http://schemas.openxmlformats.org/drawingml/2006/main">
              <a:ext uri="{FF2B5EF4-FFF2-40B4-BE49-F238E27FC236}">
                <a16:creationId xmlns:a16="http://schemas.microsoft.com/office/drawing/2014/main" id="{63131998-338E-4649-B7FB-43DF8547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610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590DCF8-EEF9-4904-947D-4941478B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533900"/>
            <a:ext cx="34004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Exportación PDF, Markdown, ZIP y publicación en GitHub.</a:t>
            </a:r>
          </a:p>
        </p:txBody>
      </p:sp>
    </p:spTree>
    <p:extLst>
      <p:ext uri="{BB962C8B-B14F-4D97-AF65-F5344CB8AC3E}">
        <p14:creationId xmlns:p14="http://schemas.microsoft.com/office/powerpoint/2010/main" val="101181415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873965CB-BC97-489E-A111-F6E3EFC9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06432"/>
                </a:solidFill>
              </a:defRPr>
            </a:pPr>
            <a:r>
              <a:rPr sz="1050" b="1">
                <a:solidFill>
                  <a:srgbClr val="F06432"/>
                </a:solidFill>
              </a:rPr>
              <a:t>DISEÑO MULTIAGENTE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C797C93-5242-4361-B74C-A9C1AE06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Diez agentes, una responsabilidad por etapa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17A9809D-A783-418B-9DF3-2EAEFD92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765330B-03D9-476E-939F-5FB389B5F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PROGRESIA STUDIO · TFM 2026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E575FA0-E2A7-4EC1-A23E-1B2E0CE10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600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11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F2A3D7E-4BA3-41B9-8C70-9B528C5A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55555"/>
                </a:solidFill>
              </a:defRPr>
            </a:pPr>
            <a:r>
              <a:rPr sz="1950" b="0">
                <a:solidFill>
                  <a:srgbClr val="555555"/>
                </a:solidFill>
              </a:rPr>
              <a:t>La especialización reduce prompts gigantes y permite validar cada resultado antes de continuar.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0FB33050-ABC4-41AA-9119-95D2B3F1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43125"/>
            <a:ext cx="2000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9D45651-1E7B-4CC6-BA2D-03D72E1D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52675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PRODUCT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9B12374-5744-4E82-8609-41ABCC02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1666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Entiende la idea</a:t>
            </a:r>
          </a:p>
        </p:txBody>
      </p:sp>
      <p:sp>
        <p:nvSpPr>
          <p:cNvPr id="10" name="panel">
            <a:extLst xmlns:a="http://schemas.openxmlformats.org/drawingml/2006/main">
              <a:ext uri="{FF2B5EF4-FFF2-40B4-BE49-F238E27FC236}">
                <a16:creationId xmlns:a16="http://schemas.microsoft.com/office/drawing/2014/main" id="{692D2014-214A-4BCB-BF06-C3E5E880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143125"/>
            <a:ext cx="2000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61E79FC-F4BB-433A-BBF7-3F0C2261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352675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REQUIREMENTS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E3E1CF9-85A8-4594-91A9-1FB55C2F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857500"/>
            <a:ext cx="1666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Define alcance</a:t>
            </a:r>
          </a:p>
        </p:txBody>
      </p:sp>
      <p:sp>
        <p:nvSpPr>
          <p:cNvPr id="13" name="panel">
            <a:extLst xmlns:a="http://schemas.openxmlformats.org/drawingml/2006/main">
              <a:ext uri="{FF2B5EF4-FFF2-40B4-BE49-F238E27FC236}">
                <a16:creationId xmlns:a16="http://schemas.microsoft.com/office/drawing/2014/main" id="{7C0BBCB2-4EF7-4BE3-AE20-BEDD7DEE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43125"/>
            <a:ext cx="2000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126709F-C959-49FE-8200-EA87D1820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52675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ARCHITECTURE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B6BEA2C-63BF-46B6-AD27-967D55B1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857500"/>
            <a:ext cx="1666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Elige stack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41546382-CCF7-422D-8A52-21B0663E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143125"/>
            <a:ext cx="2000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DB5E56E5-81D0-4826-943A-8024C1D96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352675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SUPERVISOR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175AAEA-DA4A-4F41-B60C-6DCB88C16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857500"/>
            <a:ext cx="1666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Controla el flujo</a:t>
            </a:r>
          </a:p>
        </p:txBody>
      </p:sp>
      <p:sp>
        <p:nvSpPr>
          <p:cNvPr id="19" name="panel">
            <a:extLst xmlns:a="http://schemas.openxmlformats.org/drawingml/2006/main">
              <a:ext uri="{FF2B5EF4-FFF2-40B4-BE49-F238E27FC236}">
                <a16:creationId xmlns:a16="http://schemas.microsoft.com/office/drawing/2014/main" id="{7AC53420-9C47-4C98-89AF-3767B9987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143125"/>
            <a:ext cx="2000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A401B5F9-2C56-4DE3-BA21-44BC7103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352675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06432"/>
                </a:solidFill>
              </a:defRPr>
            </a:pPr>
            <a:r>
              <a:rPr sz="1200" b="1">
                <a:solidFill>
                  <a:srgbClr val="F06432"/>
                </a:solidFill>
              </a:rPr>
              <a:t>OPENSPEC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DC4991D-CC8C-4C07-8214-DD8C5027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857500"/>
            <a:ext cx="1666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Crea el contrato</a:t>
            </a:r>
          </a:p>
        </p:txBody>
      </p:sp>
      <p:sp>
        <p:nvSpPr>
          <p:cNvPr id="22" name="panel">
            <a:extLst xmlns:a="http://schemas.openxmlformats.org/drawingml/2006/main">
              <a:ext uri="{FF2B5EF4-FFF2-40B4-BE49-F238E27FC236}">
                <a16:creationId xmlns:a16="http://schemas.microsoft.com/office/drawing/2014/main" id="{F729AEA9-EF45-48B8-8E80-6B6A0BED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57625"/>
            <a:ext cx="2000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CC36470D-67B7-4E8C-831F-5BD8D587B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67175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ISSUES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83CFB66D-0010-46E6-970E-D00ED489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1666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Planifica trabajo</a:t>
            </a:r>
          </a:p>
        </p:txBody>
      </p:sp>
      <p:sp>
        <p:nvSpPr>
          <p:cNvPr id="25" name="panel">
            <a:extLst xmlns:a="http://schemas.openxmlformats.org/drawingml/2006/main">
              <a:ext uri="{FF2B5EF4-FFF2-40B4-BE49-F238E27FC236}">
                <a16:creationId xmlns:a16="http://schemas.microsoft.com/office/drawing/2014/main" id="{ED222490-C1A3-48DB-84F9-09D80383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857625"/>
            <a:ext cx="2000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6EAB06C2-20F5-48A0-869A-0C42F4AB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067175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TUTORIAL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527C7319-1403-4890-BDD0-E13D99A78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572000"/>
            <a:ext cx="1666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Enseña el camino</a:t>
            </a:r>
          </a:p>
        </p:txBody>
      </p:sp>
      <p:sp>
        <p:nvSpPr>
          <p:cNvPr id="28" name="panel">
            <a:extLst xmlns:a="http://schemas.openxmlformats.org/drawingml/2006/main">
              <a:ext uri="{FF2B5EF4-FFF2-40B4-BE49-F238E27FC236}">
                <a16:creationId xmlns:a16="http://schemas.microsoft.com/office/drawing/2014/main" id="{CAD3A959-BE2B-43C9-8116-970D7228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57625"/>
            <a:ext cx="2000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8C3BB24A-AED4-4FB0-9A71-4E1AAB24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067175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CODEGEN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43086D06-7C91-41BA-8631-D2A1AF7B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572000"/>
            <a:ext cx="1666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Genera scaffold</a:t>
            </a:r>
          </a:p>
        </p:txBody>
      </p:sp>
      <p:sp>
        <p:nvSpPr>
          <p:cNvPr id="31" name="panel">
            <a:extLst xmlns:a="http://schemas.openxmlformats.org/drawingml/2006/main">
              <a:ext uri="{FF2B5EF4-FFF2-40B4-BE49-F238E27FC236}">
                <a16:creationId xmlns:a16="http://schemas.microsoft.com/office/drawing/2014/main" id="{6A592468-7E7E-4356-9527-B8A528EAC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857625"/>
            <a:ext cx="2000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EEA05BF4-BDA7-469F-ACF1-6A879CB7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067175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TECH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937936C2-9CF2-47AE-8D1F-4382FDAEA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572000"/>
            <a:ext cx="1666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Compara opciones</a:t>
            </a:r>
          </a:p>
        </p:txBody>
      </p:sp>
      <p:sp>
        <p:nvSpPr>
          <p:cNvPr id="34" name="panel">
            <a:extLst xmlns:a="http://schemas.openxmlformats.org/drawingml/2006/main">
              <a:ext uri="{FF2B5EF4-FFF2-40B4-BE49-F238E27FC236}">
                <a16:creationId xmlns:a16="http://schemas.microsoft.com/office/drawing/2014/main" id="{A48C390C-FE03-440B-B86A-D80E625D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857625"/>
            <a:ext cx="2000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175FDF19-A955-47ED-815B-DE7444B3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067175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RAG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67E9AE55-CC55-4795-A80E-2EF799044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572000"/>
            <a:ext cx="1666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Aporta contexto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F435FE44-8F99-4202-8D5E-16BD195B7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67375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Supervisor + esquemas Pydantic = salidas estructuradas, comprobables y persistibles.</a:t>
            </a:r>
          </a:p>
        </p:txBody>
      </p:sp>
    </p:spTree>
    <p:extLst>
      <p:ext uri="{BB962C8B-B14F-4D97-AF65-F5344CB8AC3E}">
        <p14:creationId xmlns:p14="http://schemas.microsoft.com/office/powerpoint/2010/main" val="4344657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AD776D2D-2C0D-4940-95C6-4EABD94DE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06432"/>
                </a:solidFill>
              </a:defRPr>
            </a:pPr>
            <a:r>
              <a:rPr sz="1050" b="1">
                <a:solidFill>
                  <a:srgbClr val="F06432"/>
                </a:solidFill>
              </a:rPr>
              <a:t>INTELIGENCIA ARTIFICIAL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95A578A-4A9C-4250-B4D3-80A6350D9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IA intercambiable, explicable y resiliente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0D8AF458-1519-4DAF-B1E0-3717A55E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13593A0-03E9-412B-84AF-E1A6BABFE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PROGRESIA STUDIO · TFM 2026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A851DEA-E56D-4ED0-AE67-5C62FE24F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600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12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1A4A0C4-AC7C-4A4F-A927-38B48A8C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55555"/>
                </a:solidFill>
              </a:defRPr>
            </a:pPr>
            <a:r>
              <a:rPr sz="1950" b="0">
                <a:solidFill>
                  <a:srgbClr val="555555"/>
                </a:solidFill>
              </a:rPr>
              <a:t>Cada tarea usa una estrategia de proveedor y conserva un fallback determinista.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C3F0CDD3-1D9E-48BA-AC05-227D0BDE1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25717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479E9D7-2DD4-47E8-A7D4-114B4026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06432"/>
                </a:solidFill>
              </a:defRPr>
            </a:pPr>
            <a:r>
              <a:rPr sz="1575" b="1">
                <a:solidFill>
                  <a:srgbClr val="F06432"/>
                </a:solidFill>
              </a:rPr>
              <a:t>01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37D3244-B558-4A96-850D-D313A8AE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GROQ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0889E6D-9FDA-46F3-82E8-7D9DB88E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Razonamiento rápido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EDA81C9B-978B-423B-B2BA-8A45BC097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238375"/>
            <a:ext cx="25717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A993125-F4F9-4904-AACC-4F577C67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42887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06432"/>
                </a:solidFill>
              </a:defRPr>
            </a:pPr>
            <a:r>
              <a:rPr sz="1575" b="1">
                <a:solidFill>
                  <a:srgbClr val="F06432"/>
                </a:solidFill>
              </a:rPr>
              <a:t>02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6A4B24F-97FE-4BFA-961B-C4D005EA7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0003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OPENAI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01962EA-E3D4-4E53-82EB-A88E4FF1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5242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Especificación estructurada</a:t>
            </a:r>
          </a:p>
        </p:txBody>
      </p:sp>
      <p:sp>
        <p:nvSpPr>
          <p:cNvPr id="15" name="panel">
            <a:extLst xmlns:a="http://schemas.openxmlformats.org/drawingml/2006/main">
              <a:ext uri="{FF2B5EF4-FFF2-40B4-BE49-F238E27FC236}">
                <a16:creationId xmlns:a16="http://schemas.microsoft.com/office/drawing/2014/main" id="{EE8524C6-5C4B-4BEE-9C92-FFBC7EB5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38375"/>
            <a:ext cx="25717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A4A5C7D-35A2-4EF8-96FC-94F8C641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2887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06432"/>
                </a:solidFill>
              </a:defRPr>
            </a:pPr>
            <a:r>
              <a:rPr sz="1575" b="1">
                <a:solidFill>
                  <a:srgbClr val="F06432"/>
                </a:solidFill>
              </a:rPr>
              <a:t>03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DD15D9D-B735-479F-8DD5-D0CAF9702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003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GEMINI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10648CE-54F7-41CF-AEC6-0D16C1BF5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242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Fallback cloud</a:t>
            </a:r>
          </a:p>
        </p:txBody>
      </p:sp>
      <p:sp>
        <p:nvSpPr>
          <p:cNvPr id="19" name="panel">
            <a:extLst xmlns:a="http://schemas.openxmlformats.org/drawingml/2006/main">
              <a:ext uri="{FF2B5EF4-FFF2-40B4-BE49-F238E27FC236}">
                <a16:creationId xmlns:a16="http://schemas.microsoft.com/office/drawing/2014/main" id="{D809DB94-3A88-472B-B6F9-F51C5BF2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238375"/>
            <a:ext cx="25717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4F0DDEF3-C14E-43EE-9DA5-8AD055B89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42887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06432"/>
                </a:solidFill>
              </a:defRPr>
            </a:pPr>
            <a:r>
              <a:rPr sz="1575" b="1">
                <a:solidFill>
                  <a:srgbClr val="F06432"/>
                </a:solidFill>
              </a:rPr>
              <a:t>04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AF61F218-35EB-4C7A-8429-A03B88D1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0003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OLLAMA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77F69B63-F7A9-4FAA-8280-E4F880BA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5242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5D5D5"/>
                </a:solidFill>
              </a:defRPr>
            </a:pPr>
            <a:r>
              <a:rPr sz="1275" b="0">
                <a:solidFill>
                  <a:srgbClr val="D5D5D5"/>
                </a:solidFill>
              </a:rPr>
              <a:t>Código local y privacidad</a:t>
            </a:r>
          </a:p>
        </p:txBody>
      </p:sp>
      <p:sp>
        <p:nvSpPr>
          <p:cNvPr id="23" name="panel">
            <a:extLst xmlns:a="http://schemas.openxmlformats.org/drawingml/2006/main">
              <a:ext uri="{FF2B5EF4-FFF2-40B4-BE49-F238E27FC236}">
                <a16:creationId xmlns:a16="http://schemas.microsoft.com/office/drawing/2014/main" id="{375CC565-F176-4FBA-AF6F-5BFCD178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67250"/>
            <a:ext cx="113919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8CEEF212-BB84-4214-A74A-2EB6C984F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06432"/>
                </a:solidFill>
              </a:defRPr>
            </a:pPr>
            <a:r>
              <a:rPr sz="1500" b="1">
                <a:solidFill>
                  <a:srgbClr val="F06432"/>
                </a:solidFill>
              </a:rPr>
              <a:t>Fallback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16285A35-8D9D-4979-A82D-6051F209A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905375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Proveedor configurado  →  cadena cloud/local  →  generación determinista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0B14978B-E110-44C4-8983-28AD5352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381625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El sistema sigue produciendo una entrega útil incluso cuando un proveedor externo no está disponible.</a:t>
            </a:r>
          </a:p>
        </p:txBody>
      </p:sp>
    </p:spTree>
    <p:extLst>
      <p:ext uri="{BB962C8B-B14F-4D97-AF65-F5344CB8AC3E}">
        <p14:creationId xmlns:p14="http://schemas.microsoft.com/office/powerpoint/2010/main" val="103945220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202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F3F3D869-745B-4EF7-86ED-89EE6F73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06432"/>
                </a:solidFill>
              </a:defRPr>
            </a:pPr>
            <a:r>
              <a:rPr sz="1050" b="1">
                <a:solidFill>
                  <a:srgbClr val="F06432"/>
                </a:solidFill>
              </a:rPr>
              <a:t>RAG Y CONOCIMIENTO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F7DDF41-47E5-4EB1-82D4-9B699DEAE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La IA responde mejor cuando puede consultar evidencia</a:t>
            </a:r>
          </a:p>
        </p:txBody>
      </p:sp>
      <p:sp>
        <p:nvSpPr>
          <p:cNvPr id="3" name="panel">
            <a:extLst xmlns:a="http://schemas.openxmlformats.org/drawingml/2006/main">
              <a:ext uri="{FF2B5EF4-FFF2-40B4-BE49-F238E27FC236}">
                <a16:creationId xmlns:a16="http://schemas.microsoft.com/office/drawing/2014/main" id="{AF7BE36B-A0C5-4CB9-A9D9-E08BB84BB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43125"/>
            <a:ext cx="25717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D31B473-5975-492C-A15D-1BD44B6F4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06432"/>
                </a:solidFill>
              </a:defRPr>
            </a:pPr>
            <a:r>
              <a:rPr sz="1650" b="1">
                <a:solidFill>
                  <a:srgbClr val="F06432"/>
                </a:solidFill>
              </a:rPr>
              <a:t>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32DC238-6DBE-4FFC-950B-EA29A431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Documentos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D0A63E1-9FC0-43D3-9DAB-F525486F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5D5D5"/>
                </a:solidFill>
              </a:defRPr>
            </a:pPr>
            <a:r>
              <a:rPr sz="1275" b="0">
                <a:solidFill>
                  <a:srgbClr val="D5D5D5"/>
                </a:solidFill>
              </a:rPr>
              <a:t>Guías, decisiones y especificaciones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6F33FEBB-52E2-4848-B22F-3533AC951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143125"/>
            <a:ext cx="25717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D929E75-B1B6-491A-BD77-5AB33B10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33362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06432"/>
                </a:solidFill>
              </a:defRPr>
            </a:pPr>
            <a:r>
              <a:rPr sz="1650" b="1">
                <a:solidFill>
                  <a:srgbClr val="F06432"/>
                </a:solidFill>
              </a:rPr>
              <a:t>2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BE0D034-A9AC-48A6-8982-FE5E8B1F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952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Embeddings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91A9982-2237-4419-B1AB-0D4005FE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6195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5D5D5"/>
                </a:solidFill>
              </a:defRPr>
            </a:pPr>
            <a:r>
              <a:rPr sz="1275" b="0">
                <a:solidFill>
                  <a:srgbClr val="D5D5D5"/>
                </a:solidFill>
              </a:rPr>
              <a:t>Representación semántica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CD155A4A-4304-4748-9DA7-BF3EAFE8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43125"/>
            <a:ext cx="25717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BA65BE6-3637-45DA-9A08-7AEA2F83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3362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06432"/>
                </a:solidFill>
              </a:defRPr>
            </a:pPr>
            <a:r>
              <a:rPr sz="1650" b="1">
                <a:solidFill>
                  <a:srgbClr val="F06432"/>
                </a:solidFill>
              </a:rPr>
              <a:t>3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7EB9092-7F56-4F99-8611-428D4097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52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Qdrant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C40672B-60D1-4419-946E-4F693353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195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Recuperación de fragmentos relevantes</a:t>
            </a:r>
          </a:p>
        </p:txBody>
      </p:sp>
      <p:sp>
        <p:nvSpPr>
          <p:cNvPr id="15" name="panel">
            <a:extLst xmlns:a="http://schemas.openxmlformats.org/drawingml/2006/main">
              <a:ext uri="{FF2B5EF4-FFF2-40B4-BE49-F238E27FC236}">
                <a16:creationId xmlns:a16="http://schemas.microsoft.com/office/drawing/2014/main" id="{ADE97149-7B66-4A6A-9634-ED889E30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143125"/>
            <a:ext cx="25717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3FFE866-2B55-4695-9D8E-D428AB96B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33362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06432"/>
                </a:solidFill>
              </a:defRPr>
            </a:pPr>
            <a:r>
              <a:rPr sz="1650" b="1">
                <a:solidFill>
                  <a:srgbClr val="F06432"/>
                </a:solidFill>
              </a:rPr>
              <a:t>4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45A66F65-9EB2-4304-A18C-F99D76F3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952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Respuesta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647B8CE6-E573-4798-8742-B4C184FE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6195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5D5D5"/>
                </a:solidFill>
              </a:defRPr>
            </a:pPr>
            <a:r>
              <a:rPr sz="1275" b="0">
                <a:solidFill>
                  <a:srgbClr val="D5D5D5"/>
                </a:solidFill>
              </a:rPr>
              <a:t>Contenido fundamentado con citas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5E11176-3854-40B4-A24F-A29C15C3F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91125"/>
            <a:ext cx="10191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Uso educativo: recuperar decisiones previas, comparar proyectos y explicar con fuentes, no solo con memoria del modelo.</a:t>
            </a:r>
          </a:p>
        </p:txBody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F10B02A0-DC92-4DBF-8621-91ECB933D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2654DB4-4258-4DDA-BA98-EFA12690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PROGRESIA STUDIO · RAG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79E02762-B11E-42D5-AF87-B3F5A271F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600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9232829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472A1AC3-6C5D-4A7E-9A44-9B5E8872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06432"/>
                </a:solidFill>
              </a:defRPr>
            </a:pPr>
            <a:r>
              <a:rPr sz="1050" b="1">
                <a:solidFill>
                  <a:srgbClr val="F06432"/>
                </a:solidFill>
              </a:rPr>
              <a:t>ENTREGA GENERADA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0DB09C5-A9C7-4E92-9949-9230E4DB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El resultado es un proyecto que puede continuar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8425B4E1-01B1-4A94-97F0-2A62C415C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7066D1C-0364-4BAB-B855-E3AA7782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PROGRESIA STUDIO · TFM 2026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3A6ABF7-68CA-4051-9A64-FD575F0C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600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14</a:t>
            </a:r>
          </a:p>
        </p:txBody>
      </p:sp>
      <p:sp>
        <p:nvSpPr>
          <p:cNvPr id="6" name="panel">
            <a:extLst xmlns:a="http://schemas.openxmlformats.org/drawingml/2006/main">
              <a:ext uri="{FF2B5EF4-FFF2-40B4-BE49-F238E27FC236}">
                <a16:creationId xmlns:a16="http://schemas.microsoft.com/office/drawing/2014/main" id="{E87809F7-6377-48C1-B980-D968206FF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34290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E67C4AF-EA00-4A7B-A05B-5388887F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478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README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FBAD85B-A8E6-4BAE-908A-C02AAF95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908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Resumen, stack y puesta en marcha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D8E9226F-68DE-46A6-8ADE-EE8449CA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809750"/>
            <a:ext cx="34290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D5D9495-171F-4877-9498-6A8853AF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478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docs/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39D6E3D-CD85-4DB7-A21B-75A049AF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5908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Producto, API, arquitectura, IA y despliegue</a:t>
            </a:r>
          </a:p>
        </p:txBody>
      </p:sp>
      <p:sp>
        <p:nvSpPr>
          <p:cNvPr id="12" name="panel">
            <a:extLst xmlns:a="http://schemas.openxmlformats.org/drawingml/2006/main">
              <a:ext uri="{FF2B5EF4-FFF2-40B4-BE49-F238E27FC236}">
                <a16:creationId xmlns:a16="http://schemas.microsoft.com/office/drawing/2014/main" id="{2417B080-091F-4B7D-834F-B673215D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34290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36CD8FD-4E82-47D6-998F-6AFB1D79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478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sdd/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D9194AB-10DE-46AB-B271-C32EF935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908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5D5D5"/>
                </a:solidFill>
              </a:defRPr>
            </a:pPr>
            <a:r>
              <a:rPr sz="1350" b="0">
                <a:solidFill>
                  <a:srgbClr val="D5D5D5"/>
                </a:solidFill>
              </a:rPr>
              <a:t>OpenSpec, decisiones, planes, tareas y prompts</a:t>
            </a:r>
          </a:p>
        </p:txBody>
      </p:sp>
      <p:sp>
        <p:nvSpPr>
          <p:cNvPr id="15" name="panel">
            <a:extLst xmlns:a="http://schemas.openxmlformats.org/drawingml/2006/main">
              <a:ext uri="{FF2B5EF4-FFF2-40B4-BE49-F238E27FC236}">
                <a16:creationId xmlns:a16="http://schemas.microsoft.com/office/drawing/2014/main" id="{B61BF7BF-512F-41B9-A756-880D0733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62375"/>
            <a:ext cx="34290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6517EEE-D030-4766-8C02-F5A61DE43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Código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80CC305A-8656-4F07-AD8A-94EA6F82D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4342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Scaffold ejecutable adaptado al stack</a:t>
            </a:r>
          </a:p>
        </p:txBody>
      </p:sp>
      <p:sp>
        <p:nvSpPr>
          <p:cNvPr id="18" name="panel">
            <a:extLst xmlns:a="http://schemas.openxmlformats.org/drawingml/2006/main">
              <a:ext uri="{FF2B5EF4-FFF2-40B4-BE49-F238E27FC236}">
                <a16:creationId xmlns:a16="http://schemas.microsoft.com/office/drawing/2014/main" id="{691F188A-EB5A-405E-9293-0345FCD8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762375"/>
            <a:ext cx="34290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E167EA8-D4CB-4C20-A4DF-70E1B939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0050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Infra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1C9CE180-BDB1-49B1-AEDB-2E11AAD0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54342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Docker, nginx, scripts y GitHub Actions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0A91CBF2-44B8-4E77-8EC8-CEDE98C70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62375"/>
            <a:ext cx="34290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DDFB25AF-8653-4564-94EE-BDC7B45B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0050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Validación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8C27DF65-E3AB-4BE0-9E17-B65BC8FB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54342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Coherencia, secretos y descarga segura</a:t>
            </a:r>
          </a:p>
        </p:txBody>
      </p:sp>
    </p:spTree>
    <p:extLst>
      <p:ext uri="{BB962C8B-B14F-4D97-AF65-F5344CB8AC3E}">
        <p14:creationId xmlns:p14="http://schemas.microsoft.com/office/powerpoint/2010/main" val="66702389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202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5153732D-902B-4889-8941-C8F9C61E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06432"/>
                </a:solidFill>
              </a:defRPr>
            </a:pPr>
            <a:r>
              <a:rPr sz="1050" b="1">
                <a:solidFill>
                  <a:srgbClr val="F06432"/>
                </a:solidFill>
              </a:rPr>
              <a:t>SEGURIDAD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507EDD50-8BCA-43F4-A3F0-0AFA7F4F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14375"/>
            <a:ext cx="1009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La confianza también forma parte del producto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A723D386-8507-460D-894D-E86B8590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523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32"/>
          </a:solidFill>
          <a:ln xmlns:a="http://schemas.openxmlformats.org/drawingml/2006/main" w="0">
            <a:solidFill>
              <a:srgbClr val="F0643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4929C7C-E24B-4DD4-95A9-15A743759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Autenticación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886F2B3-3EEE-4A37-A078-777AA4496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00025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5D5D5"/>
                </a:solidFill>
              </a:defRPr>
            </a:pPr>
            <a:r>
              <a:rPr sz="1350" b="0">
                <a:solidFill>
                  <a:srgbClr val="D5D5D5"/>
                </a:solidFill>
              </a:rPr>
              <a:t>JWT + refresh token rotativo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9FE818AE-C0CE-4151-8C34-E33EE4469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09750"/>
            <a:ext cx="523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solidFill>
              <a:srgbClr val="555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98A6359-6CB1-4CFF-A445-1F9EB972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002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Autorización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1A83F84-AE17-4E5C-9907-1D6C71E5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0025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5D5D5"/>
                </a:solidFill>
              </a:defRPr>
            </a:pPr>
            <a:r>
              <a:rPr sz="1350" b="0">
                <a:solidFill>
                  <a:srgbClr val="D5D5D5"/>
                </a:solidFill>
              </a:rPr>
              <a:t>Ownership, roles y admin aislado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25A33FAC-7C14-4CB4-8F07-2A2DE09A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0"/>
            <a:ext cx="523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solidFill>
              <a:srgbClr val="555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806B557-8BA9-44B4-8E49-B3D7EDB99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Entrada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AB3A562-2C3B-419C-8E92-820B90128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23850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5D5D5"/>
                </a:solidFill>
              </a:defRPr>
            </a:pPr>
            <a:r>
              <a:rPr sz="1350" b="0">
                <a:solidFill>
                  <a:srgbClr val="D5D5D5"/>
                </a:solidFill>
              </a:rPr>
              <a:t>DTOs, CAPTCHA y rate limiting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4B0A129A-524D-4712-8160-5D55F518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48000"/>
            <a:ext cx="523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solidFill>
              <a:srgbClr val="555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03BDFB8-4931-4E72-8C96-503FF3CB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385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Entrega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BC686D2-DB6F-4A76-8D9D-8912A7FA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3850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5D5D5"/>
                </a:solidFill>
              </a:defRPr>
            </a:pPr>
            <a:r>
              <a:rPr sz="1350" b="0">
                <a:solidFill>
                  <a:srgbClr val="D5D5D5"/>
                </a:solidFill>
              </a:rPr>
              <a:t>Escaneo de secretos antes del ZIP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C8E66035-C720-466B-9987-D321410C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0"/>
            <a:ext cx="523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solidFill>
              <a:srgbClr val="555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C5EC8F2-66D3-42FF-9E99-9EA27AD3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Repositorio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2C88D586-292E-49D2-9E5C-392B388B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47675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5D5D5"/>
                </a:solidFill>
              </a:defRPr>
            </a:pPr>
            <a:r>
              <a:rPr sz="1350" b="0">
                <a:solidFill>
                  <a:srgbClr val="D5D5D5"/>
                </a:solidFill>
              </a:rPr>
              <a:t>CI, Dependabot y revisión de dependencias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633AA3C4-14F8-4777-B7C4-1D927CFA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86250"/>
            <a:ext cx="523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solidFill>
              <a:srgbClr val="555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EB50A58-9493-43C5-BD4D-49B744F2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767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Configuración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125D5FF5-2864-4818-AB62-DAFCE5E3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7675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5D5D5"/>
                </a:solidFill>
              </a:defRPr>
            </a:pPr>
            <a:r>
              <a:rPr sz="1350" b="0">
                <a:solidFill>
                  <a:srgbClr val="D5D5D5"/>
                </a:solidFill>
              </a:rPr>
              <a:t>Claves fuera del código y modelos validados</a:t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CCBE5D97-79A6-42BC-ADDE-22A5C10E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02819D85-3DC6-47AB-B9ED-6C3A3D2A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PROGRESIA STUDIO · SEGURIDAD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DF7EDDC1-58FD-4DEA-B019-C8DA1E54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600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8902472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981D9686-786A-4634-9CB5-F768CF37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06432"/>
                </a:solidFill>
              </a:defRPr>
            </a:pPr>
            <a:r>
              <a:rPr sz="1050" b="1">
                <a:solidFill>
                  <a:srgbClr val="F06432"/>
                </a:solidFill>
              </a:rPr>
              <a:t>CALIDAD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AF8E103-F8E9-4EB6-8C24-0F4D392B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Evidencias de una base funcional y verificable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EFFE5DD2-ADA1-46D6-8551-F4209753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94C7864-7382-4BC1-9BB1-B37A65B4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PROGRESIA STUDIO · TFM 2026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7477915-C527-4FE1-977A-7B5CFF11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600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16</a:t>
            </a:r>
          </a:p>
        </p:txBody>
      </p:sp>
      <p:sp>
        <p:nvSpPr>
          <p:cNvPr id="6" name="panel">
            <a:extLst xmlns:a="http://schemas.openxmlformats.org/drawingml/2006/main">
              <a:ext uri="{FF2B5EF4-FFF2-40B4-BE49-F238E27FC236}">
                <a16:creationId xmlns:a16="http://schemas.microsoft.com/office/drawing/2014/main" id="{5D980B51-64A5-4308-859C-00E86688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5717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47B6ECF-6002-4B83-BBD1-469261C5C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1431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F06432"/>
                </a:solidFill>
              </a:defRPr>
            </a:pPr>
            <a:r>
              <a:rPr sz="4350" b="1">
                <a:solidFill>
                  <a:srgbClr val="F06432"/>
                </a:solidFill>
              </a:rPr>
              <a:t>195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FF6A6F8-C4F2-40A0-833E-94A3EBE3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2143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pruebas aprobadas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835FB635-D4D3-4441-BA35-30765280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809750"/>
            <a:ext cx="25717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1DC55F3-36BA-4BB7-BC81-3155C94C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095500"/>
            <a:ext cx="21431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19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3D91A31-2820-49F2-9C17-AC377162D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190875"/>
            <a:ext cx="2143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555555"/>
                </a:solidFill>
              </a:defRPr>
            </a:pPr>
            <a:r>
              <a:rPr sz="1425" b="1">
                <a:solidFill>
                  <a:srgbClr val="555555"/>
                </a:solidFill>
              </a:rPr>
              <a:t>scaffolds por stack</a:t>
            </a:r>
          </a:p>
        </p:txBody>
      </p:sp>
      <p:sp>
        <p:nvSpPr>
          <p:cNvPr id="12" name="panel">
            <a:extLst xmlns:a="http://schemas.openxmlformats.org/drawingml/2006/main">
              <a:ext uri="{FF2B5EF4-FFF2-40B4-BE49-F238E27FC236}">
                <a16:creationId xmlns:a16="http://schemas.microsoft.com/office/drawing/2014/main" id="{DFCFBF93-03F5-448A-8814-265611ED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25717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802C71B-C815-4246-AF27-EDE13BD0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95500"/>
            <a:ext cx="21431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4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7995E08-13F6-48E6-BC8F-5A4E1777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90875"/>
            <a:ext cx="2143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555555"/>
                </a:solidFill>
              </a:defRPr>
            </a:pPr>
            <a:r>
              <a:rPr sz="1425" b="1">
                <a:solidFill>
                  <a:srgbClr val="555555"/>
                </a:solidFill>
              </a:rPr>
              <a:t>proveedores LLM</a:t>
            </a:r>
          </a:p>
        </p:txBody>
      </p:sp>
      <p:sp>
        <p:nvSpPr>
          <p:cNvPr id="15" name="panel">
            <a:extLst xmlns:a="http://schemas.openxmlformats.org/drawingml/2006/main">
              <a:ext uri="{FF2B5EF4-FFF2-40B4-BE49-F238E27FC236}">
                <a16:creationId xmlns:a16="http://schemas.microsoft.com/office/drawing/2014/main" id="{0CE0766A-4A83-41FC-8C98-20475486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1809750"/>
            <a:ext cx="25717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1A91E20-093A-4259-9103-922CF08E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095500"/>
            <a:ext cx="21431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3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752A2E23-86F9-4F87-90FC-93511ACF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190875"/>
            <a:ext cx="2143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555555"/>
                </a:solidFill>
              </a:defRPr>
            </a:pPr>
            <a:r>
              <a:rPr sz="1425" b="1">
                <a:solidFill>
                  <a:srgbClr val="555555"/>
                </a:solidFill>
              </a:rPr>
              <a:t>aplicaciones principales</a:t>
            </a:r>
          </a:p>
        </p:txBody>
      </p:sp>
      <p:sp>
        <p:nvSpPr>
          <p:cNvPr id="18" name="panel">
            <a:extLst xmlns:a="http://schemas.openxmlformats.org/drawingml/2006/main">
              <a:ext uri="{FF2B5EF4-FFF2-40B4-BE49-F238E27FC236}">
                <a16:creationId xmlns:a16="http://schemas.microsoft.com/office/drawing/2014/main" id="{9BCE2A9B-395E-48FA-9B70-87D2E74F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24375"/>
            <a:ext cx="113919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3AC52CD-0E1D-4BBF-8751-614815D81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8864B"/>
                </a:solidFill>
              </a:defRPr>
            </a:pPr>
            <a:r>
              <a:rPr sz="1800" b="1">
                <a:solidFill>
                  <a:srgbClr val="18864B"/>
                </a:solidFill>
              </a:rPr>
              <a:t>CI VERDE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F93BA7DD-74DC-4AAD-92F0-69080474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810125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Lint · OpenSpec · tipos · tests · build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F303A604-B639-4996-B700-F203DB7F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86375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Validado en Linux mediante GitHub Actions y comprobado localmente en Windows.</a:t>
            </a:r>
          </a:p>
        </p:txBody>
      </p:sp>
    </p:spTree>
    <p:extLst>
      <p:ext uri="{BB962C8B-B14F-4D97-AF65-F5344CB8AC3E}">
        <p14:creationId xmlns:p14="http://schemas.microsoft.com/office/powerpoint/2010/main" val="17115727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D50174E2-2363-4E07-987F-7FEA59A9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06432"/>
                </a:solidFill>
              </a:defRPr>
            </a:pPr>
            <a:r>
              <a:rPr sz="1050" b="1">
                <a:solidFill>
                  <a:srgbClr val="F06432"/>
                </a:solidFill>
              </a:rPr>
              <a:t>GUION DE DEFENSA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0AF7E9F-31CD-4645-8302-FBBD38DD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Demostración: de una idea a una entrega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040CE0E2-B268-434B-A4E6-9078D54C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8CDB037-F610-45DD-93D2-F1EDC593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PROGRESIA STUDIO · TFM 2026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03B898B-0EFB-49B8-81C2-B4D9D66B7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600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17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79AACD4-08D4-4B0D-82BE-FCBE6704B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06432"/>
                </a:solidFill>
              </a:defRPr>
            </a:pPr>
            <a:r>
              <a:rPr sz="1500" b="1">
                <a:solidFill>
                  <a:srgbClr val="F06432"/>
                </a:solidFill>
              </a:rPr>
              <a:t>01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4A5C834-5D48-48BF-9382-DFC7F77E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7162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Crear proyecto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FF776B9-80A5-45CA-8474-341E052E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90675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Definir producto, usuarios y objetivo.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5A0F70FC-6AA8-4FDF-A29D-FEC4E659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66925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2ADD94E-C500-4A07-9F67-A84FCFDBD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1457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06432"/>
                </a:solidFill>
              </a:defRPr>
            </a:pPr>
            <a:r>
              <a:rPr sz="1500" b="1">
                <a:solidFill>
                  <a:srgbClr val="F06432"/>
                </a:solidFill>
              </a:rPr>
              <a:t>02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95852C8-62F5-4DD6-AF31-763C3D13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1457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Elegir propuesta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7F5905C-EFEF-4F8D-9C9B-2AAB8BCD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33625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Comparar stacks y dificultad.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FE622064-2BDD-45B2-8AF8-DEC17907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09875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9CAA486-D925-45F9-B179-CBB79F12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5752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06432"/>
                </a:solidFill>
              </a:defRPr>
            </a:pPr>
            <a:r>
              <a:rPr sz="1500" b="1">
                <a:solidFill>
                  <a:srgbClr val="F06432"/>
                </a:solidFill>
              </a:rPr>
              <a:t>03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9D24F11-86F9-49A8-AC69-C1FF03E2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5752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Generar OpenSpec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CC0326F-9D48-44C8-A2BB-09B6DF78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76575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Revisar requisitos, datos y API.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2DCC847F-E866-4FAF-BC76-00B1BA04C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52825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6241FA2-7D6C-45A8-B3E3-07CA1A08E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0047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06432"/>
                </a:solidFill>
              </a:defRPr>
            </a:pPr>
            <a:r>
              <a:rPr sz="1500" b="1">
                <a:solidFill>
                  <a:srgbClr val="F06432"/>
                </a:solidFill>
              </a:rPr>
              <a:t>04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CF0A9E6-0A3E-4273-BCFD-BE2BDA9ED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0047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Ejecutar pipeline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89BADC44-FBB9-49BF-9A84-B9AE2772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19525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Issues, tutorial y código.</a:t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B52842BA-31E3-4B41-8D8D-503D8082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95775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010F2821-DBAE-4199-9B80-7C4212FDF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4342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06432"/>
                </a:solidFill>
              </a:defRPr>
            </a:pPr>
            <a:r>
              <a:rPr sz="1500" b="1">
                <a:solidFill>
                  <a:srgbClr val="F06432"/>
                </a:solidFill>
              </a:rPr>
              <a:t>05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AADCC584-2927-41F8-B2E3-FE392BC7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4342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Validar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AFD666F7-6568-4189-832B-5F6C8EA5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62475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Comprobar coherencia y secretos.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F6E481D5-AFA7-40EE-91B2-BAA38545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38725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08A1C759-5763-4136-A2EA-3BEBB87E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8637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06432"/>
                </a:solidFill>
              </a:defRPr>
            </a:pPr>
            <a:r>
              <a:rPr sz="1500" b="1">
                <a:solidFill>
                  <a:srgbClr val="F06432"/>
                </a:solidFill>
              </a:rPr>
              <a:t>06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726B8C2F-2ECA-4718-938E-153526A3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8637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Descargar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4F8D0B9D-9603-4914-85BD-80E550A0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05425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PDF, Markdown y ZIP final.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56CF4E6E-27C9-44EB-87FA-9D9133BD6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53125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Objetivo de la demo: demostrar coherencia del proceso, no solo cantidad de archivos.</a:t>
            </a:r>
          </a:p>
        </p:txBody>
      </p:sp>
    </p:spTree>
    <p:extLst>
      <p:ext uri="{BB962C8B-B14F-4D97-AF65-F5344CB8AC3E}">
        <p14:creationId xmlns:p14="http://schemas.microsoft.com/office/powerpoint/2010/main" val="213318898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2B0237B0-51F7-4A2F-93EC-720CF3A1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06432"/>
                </a:solidFill>
              </a:defRPr>
            </a:pPr>
            <a:r>
              <a:rPr sz="1050" b="1">
                <a:solidFill>
                  <a:srgbClr val="F06432"/>
                </a:solidFill>
              </a:rPr>
              <a:t>LÍMITES Y FUTURO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5B37306B-1B4C-43A5-83DA-9EF45A88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Un MVP sólido con un camino claro de evolución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B59A1E57-26F6-467C-B3C3-7E7BB109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033D052-EB74-4A8D-9F39-7AC1F721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PROGRESIA STUDIO · TFM 2026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BCB581E-5A27-4AA2-8FC6-AF83FACD6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600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18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129BAFC-3078-437C-8D35-5558325F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06432"/>
                </a:solidFill>
              </a:defRPr>
            </a:pPr>
            <a:r>
              <a:rPr sz="1200" b="1">
                <a:solidFill>
                  <a:srgbClr val="F06432"/>
                </a:solidFill>
              </a:rPr>
              <a:t>HOY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9A515BB4-F78D-4882-B84F-A5D8EC25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bullet-0">
            <a:extLst xmlns:a="http://schemas.openxmlformats.org/drawingml/2006/main">
              <a:ext uri="{FF2B5EF4-FFF2-40B4-BE49-F238E27FC236}">
                <a16:creationId xmlns:a16="http://schemas.microsoft.com/office/drawing/2014/main" id="{9A215079-BA8F-47E8-9CD2-8C94D4B6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F4E0504-039A-426E-9817-8D569E6CA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42576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Pipeline SDD conectado de extremo a extremo</a:t>
            </a:r>
          </a:p>
        </p:txBody>
      </p:sp>
      <p:sp>
        <p:nvSpPr>
          <p:cNvPr id="10" name="bullet-1">
            <a:extLst xmlns:a="http://schemas.openxmlformats.org/drawingml/2006/main">
              <a:ext uri="{FF2B5EF4-FFF2-40B4-BE49-F238E27FC236}">
                <a16:creationId xmlns:a16="http://schemas.microsoft.com/office/drawing/2014/main" id="{7B0FDB05-5C91-4092-B31C-5237F45C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34EFCEF-4A20-4ECC-8772-1471493BF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86100"/>
            <a:ext cx="42576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Exportación PDF, Markdown, ZIP y GitHub</a:t>
            </a:r>
          </a:p>
        </p:txBody>
      </p:sp>
      <p:sp>
        <p:nvSpPr>
          <p:cNvPr id="12" name="bullet-2">
            <a:extLst xmlns:a="http://schemas.openxmlformats.org/drawingml/2006/main">
              <a:ext uri="{FF2B5EF4-FFF2-40B4-BE49-F238E27FC236}">
                <a16:creationId xmlns:a16="http://schemas.microsoft.com/office/drawing/2014/main" id="{84D2F2FD-54C0-4445-9C19-FB723C5E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3FBDB56-BB7E-48BD-8EEF-E38C46283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90950"/>
            <a:ext cx="42576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Fallback LLM y 19 scaffolds deterministas</a:t>
            </a:r>
          </a:p>
        </p:txBody>
      </p:sp>
      <p:sp>
        <p:nvSpPr>
          <p:cNvPr id="14" name="bullet-3">
            <a:extLst xmlns:a="http://schemas.openxmlformats.org/drawingml/2006/main">
              <a:ext uri="{FF2B5EF4-FFF2-40B4-BE49-F238E27FC236}">
                <a16:creationId xmlns:a16="http://schemas.microsoft.com/office/drawing/2014/main" id="{C4C9D34D-6B31-4805-BFAB-89B377B5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5F9AF8F-8C95-4936-8946-535218C48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95800"/>
            <a:ext cx="42576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Seguridad, validación y CI automatizada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20F6E46-8F87-4A50-B580-66899570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7162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06432"/>
                </a:solidFill>
              </a:defRPr>
            </a:pPr>
            <a:r>
              <a:rPr sz="1200" b="1">
                <a:solidFill>
                  <a:srgbClr val="F06432"/>
                </a:solidFill>
              </a:rPr>
              <a:t>SIGUIENTE ETAPA</a:t>
            </a:r>
          </a:p>
        </p:txBody>
      </p:sp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7B23001C-4572-4EDD-87E1-58D0A5AD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0250"/>
            <a:ext cx="550545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bullet-0">
            <a:extLst xmlns:a="http://schemas.openxmlformats.org/drawingml/2006/main">
              <a:ext uri="{FF2B5EF4-FFF2-40B4-BE49-F238E27FC236}">
                <a16:creationId xmlns:a16="http://schemas.microsoft.com/office/drawing/2014/main" id="{8EEF50DC-F80D-4CC0-93DA-7FEE061D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57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A83B714-83E0-4809-BB5B-0BFE1625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81250"/>
            <a:ext cx="4495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Integrar RAG en el wizard y la experiencia principal</a:t>
            </a:r>
          </a:p>
        </p:txBody>
      </p:sp>
      <p:sp>
        <p:nvSpPr>
          <p:cNvPr id="20" name="bullet-1">
            <a:extLst xmlns:a="http://schemas.openxmlformats.org/drawingml/2006/main">
              <a:ext uri="{FF2B5EF4-FFF2-40B4-BE49-F238E27FC236}">
                <a16:creationId xmlns:a16="http://schemas.microsoft.com/office/drawing/2014/main" id="{16BFA1E7-BDE4-4ED7-BBB8-93A1CB92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62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4A69EA70-68C5-4BF9-9976-938F2F82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86100"/>
            <a:ext cx="4495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Ampliar itinerarios formativos y evaluación del aprendizaje</a:t>
            </a:r>
          </a:p>
        </p:txBody>
      </p:sp>
      <p:sp>
        <p:nvSpPr>
          <p:cNvPr id="22" name="bullet-2">
            <a:extLst xmlns:a="http://schemas.openxmlformats.org/drawingml/2006/main">
              <a:ext uri="{FF2B5EF4-FFF2-40B4-BE49-F238E27FC236}">
                <a16:creationId xmlns:a16="http://schemas.microsoft.com/office/drawing/2014/main" id="{C5EE26A0-A5D9-44C6-99E8-B0694EE4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67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4C16C5B2-15F3-4D47-BA22-3735FAEB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790950"/>
            <a:ext cx="4495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Mejorar el PDF profesional y la edición visual de OpenSpec</a:t>
            </a:r>
          </a:p>
        </p:txBody>
      </p:sp>
      <p:sp>
        <p:nvSpPr>
          <p:cNvPr id="24" name="bullet-3">
            <a:extLst xmlns:a="http://schemas.openxmlformats.org/drawingml/2006/main">
              <a:ext uri="{FF2B5EF4-FFF2-40B4-BE49-F238E27FC236}">
                <a16:creationId xmlns:a16="http://schemas.microsoft.com/office/drawing/2014/main" id="{21BBF61B-E42E-4F98-BCD5-A3B7038F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72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7EC113F1-6279-488B-A5CE-EC69C643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95800"/>
            <a:ext cx="4495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Despliegue público reproducible y observabilidad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4DE1A992-C106-48BC-B0A9-A237E932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102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La prioridad es profundizar el valor educativo sin perder trazabilidad ni calidad técnica.</a:t>
            </a:r>
          </a:p>
        </p:txBody>
      </p:sp>
    </p:spTree>
    <p:extLst>
      <p:ext uri="{BB962C8B-B14F-4D97-AF65-F5344CB8AC3E}">
        <p14:creationId xmlns:p14="http://schemas.microsoft.com/office/powerpoint/2010/main" val="90038540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735544D-6F30-4D30-9838-65350698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06432"/>
                </a:solidFill>
              </a:defRPr>
            </a:pPr>
            <a:r>
              <a:rPr sz="1050" b="1">
                <a:solidFill>
                  <a:srgbClr val="F06432"/>
                </a:solidFill>
              </a:rPr>
              <a:t>CONCLUSIÓN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5F5C2625-E969-4BC8-9179-4F2099A6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7810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11111"/>
                </a:solidFill>
              </a:defRPr>
            </a:pPr>
            <a:r>
              <a:rPr sz="4050" b="1">
                <a:solidFill>
                  <a:srgbClr val="111111"/>
                </a:solidFill>
              </a:rPr>
              <a:t>La IA aporta más valor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111111"/>
                </a:solidFill>
              </a:defRPr>
            </a:pPr>
            <a:r>
              <a:rPr sz="4050" b="1">
                <a:solidFill>
                  <a:srgbClr val="111111"/>
                </a:solidFill>
              </a:rPr>
              <a:t>cuando trabaja con contexto.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B429303-C2DF-440A-80CE-8A2A5BC41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723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55555"/>
                </a:solidFill>
              </a:defRPr>
            </a:pPr>
            <a:r>
              <a:rPr sz="2100" b="0">
                <a:solidFill>
                  <a:srgbClr val="555555"/>
                </a:solidFill>
              </a:rPr>
              <a:t>ProgresIA Studio convierte ese contexto en un proceso repetible, educativo y verificable.</a:t>
            </a:r>
          </a:p>
        </p:txBody>
      </p:sp>
      <p:sp>
        <p:nvSpPr>
          <p:cNvPr id="4" name="panel">
            <a:extLst xmlns:a="http://schemas.openxmlformats.org/drawingml/2006/main">
              <a:ext uri="{FF2B5EF4-FFF2-40B4-BE49-F238E27FC236}">
                <a16:creationId xmlns:a16="http://schemas.microsoft.com/office/drawing/2014/main" id="{4F6E8BCA-7E24-4DE4-A826-4C5275F6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A90543B-E48D-40AB-A819-EED761E8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80962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06432"/>
                </a:solidFill>
              </a:defRPr>
            </a:pPr>
            <a:r>
              <a:rPr sz="1050" b="1">
                <a:solidFill>
                  <a:srgbClr val="F06432"/>
                </a:solidFill>
              </a:rPr>
              <a:t>APRENDIZAJE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D3BEB18-C4ED-45DE-A41D-40B34162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38112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Modelo de datos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profesional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86F42AD-D634-49BE-AE28-DE474E99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Agentes y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LLM routing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987C9C4-A1F0-425C-ABF7-1A7FA5691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85762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Seguridad y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observabilidad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512306A-CF8F-4C12-B2D1-C01A5C7B5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github.com/seurob/progresia</a:t>
            </a:r>
          </a:p>
        </p:txBody>
      </p:sp>
    </p:spTree>
    <p:extLst>
      <p:ext uri="{BB962C8B-B14F-4D97-AF65-F5344CB8AC3E}">
        <p14:creationId xmlns:p14="http://schemas.microsoft.com/office/powerpoint/2010/main" val="18273349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2026-06-25T14:22:39.8860000Z</dcterms:created>
  <dcterms:modified xsi:type="dcterms:W3CDTF">2026-06-25T14:22:39.8860000Z</dcterms:modified>
</coreProperties>
</file>